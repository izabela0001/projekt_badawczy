
<file path=[Content_Types].xml><?xml version="1.0" encoding="utf-8"?>
<Types xmlns="http://schemas.openxmlformats.org/package/2006/content-types">
  <Default Extension="jpeg" ContentType="image/jpeg"/>
  <Default Extension="jpg" ContentType="image/pn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37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663"/>
    <p:restoredTop sz="94678"/>
  </p:normalViewPr>
  <p:slideViewPr>
    <p:cSldViewPr snapToGrid="0">
      <p:cViewPr>
        <p:scale>
          <a:sx n="81" d="100"/>
          <a:sy n="81" d="100"/>
        </p:scale>
        <p:origin x="3088" y="13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592007E7-A1B4-3B23-F8F1-9D9611008C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A7B61129-0883-5886-A563-1E77C4861D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l-PL"/>
              <a:t>Kliknij, aby edytować styl wzorca podtytułu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4DA1C89D-7A77-A5BF-4C2C-9D0F9A14D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78709E-93D2-5347-AAE3-99222C270FD6}" type="datetimeFigureOut">
              <a:rPr lang="pl-PL" smtClean="0"/>
              <a:t>14.12.2025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75F6B518-0ACD-5D01-7870-0165069E21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79F4328B-38DB-0799-1FDD-D11A17327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4D76E7-049E-8F44-8FBB-BF555C96FA7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5032301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A0D59B2-F885-1FD9-9513-EC77CF27F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36708C9E-E495-6287-1A11-0870662674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A0C2247E-6513-FDDD-FEEE-1ED6A9837B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78709E-93D2-5347-AAE3-99222C270FD6}" type="datetimeFigureOut">
              <a:rPr lang="pl-PL" smtClean="0"/>
              <a:t>14.12.2025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3D0868F1-65AB-D1C4-5981-589A7AF77B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E9B3140F-2072-075F-E2F8-872C6C8E91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4D76E7-049E-8F44-8FBB-BF555C96FA7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5474258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58B49CD5-7199-1D02-3ABC-F2927E921C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A42AEBD8-C0DA-E994-A490-68805B7F4D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C83A8558-7016-5ABF-DBF0-FA22811A40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78709E-93D2-5347-AAE3-99222C270FD6}" type="datetimeFigureOut">
              <a:rPr lang="pl-PL" smtClean="0"/>
              <a:t>14.12.2025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C77E4DA6-BEAA-81EF-A7E1-AFC230C1A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3D2ED542-B552-E845-1F8F-C312032D4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4D76E7-049E-8F44-8FBB-BF555C96FA7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933216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0385C40-BB38-F5A3-B87B-EB21FC9221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411FFF40-1EE3-638E-5A57-A36F37AEF18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3F38DD40-052E-85F1-1AD2-230C520EDD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3A1C90AC-D2B3-8694-B83A-2F48F9FC29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78709E-93D2-5347-AAE3-99222C270FD6}" type="datetimeFigureOut">
              <a:rPr lang="pl-PL" smtClean="0"/>
              <a:t>14.12.2025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1E4F1A0B-D6C0-0E76-4187-AFC8F9F1D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D0E8B234-A68B-54AE-A9B9-B0AE8F0D00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4D76E7-049E-8F44-8FBB-BF555C96FA7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6439684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5A67C573-A71D-F9A2-F872-66D9D6EF5D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783ACC70-A20D-9F70-BB5A-6C91267A21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0EA5BE30-66F3-FA4F-12C8-3310532F8F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tekstu 4">
            <a:extLst>
              <a:ext uri="{FF2B5EF4-FFF2-40B4-BE49-F238E27FC236}">
                <a16:creationId xmlns:a16="http://schemas.microsoft.com/office/drawing/2014/main" id="{2AE4EF19-B890-4F11-B93E-9A65C6E5835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6" name="Symbol zastępczy zawartości 5">
            <a:extLst>
              <a:ext uri="{FF2B5EF4-FFF2-40B4-BE49-F238E27FC236}">
                <a16:creationId xmlns:a16="http://schemas.microsoft.com/office/drawing/2014/main" id="{765C2E39-B4A5-37C5-E469-8646583431A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7" name="Symbol zastępczy daty 6">
            <a:extLst>
              <a:ext uri="{FF2B5EF4-FFF2-40B4-BE49-F238E27FC236}">
                <a16:creationId xmlns:a16="http://schemas.microsoft.com/office/drawing/2014/main" id="{1F169457-55C4-A590-1F4D-26069E64D7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78709E-93D2-5347-AAE3-99222C270FD6}" type="datetimeFigureOut">
              <a:rPr lang="pl-PL" smtClean="0"/>
              <a:t>14.12.2025</a:t>
            </a:fld>
            <a:endParaRPr lang="pl-PL"/>
          </a:p>
        </p:txBody>
      </p:sp>
      <p:sp>
        <p:nvSpPr>
          <p:cNvPr id="8" name="Symbol zastępczy stopki 7">
            <a:extLst>
              <a:ext uri="{FF2B5EF4-FFF2-40B4-BE49-F238E27FC236}">
                <a16:creationId xmlns:a16="http://schemas.microsoft.com/office/drawing/2014/main" id="{314B4C83-C89E-964C-1743-277FA3D5A7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9" name="Symbol zastępczy numeru slajdu 8">
            <a:extLst>
              <a:ext uri="{FF2B5EF4-FFF2-40B4-BE49-F238E27FC236}">
                <a16:creationId xmlns:a16="http://schemas.microsoft.com/office/drawing/2014/main" id="{2ADE713B-A541-9D4C-944E-867E66C768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4D76E7-049E-8F44-8FBB-BF555C96FA7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0116590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36FB7058-BE9F-5421-0F51-797A1D093B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E1B894EA-79C6-B9CC-D267-19BDC14EA9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78709E-93D2-5347-AAE3-99222C270FD6}" type="datetimeFigureOut">
              <a:rPr lang="pl-PL" smtClean="0"/>
              <a:t>14.12.2025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6C51885B-9916-3457-DFBD-06298E9C6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9D532F1E-3F4D-627C-1024-A143ED1A92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4D76E7-049E-8F44-8FBB-BF555C96FA7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5526756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daty 1">
            <a:extLst>
              <a:ext uri="{FF2B5EF4-FFF2-40B4-BE49-F238E27FC236}">
                <a16:creationId xmlns:a16="http://schemas.microsoft.com/office/drawing/2014/main" id="{8E4FE211-ED9A-1A1D-F5A7-658F611E2D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78709E-93D2-5347-AAE3-99222C270FD6}" type="datetimeFigureOut">
              <a:rPr lang="pl-PL" smtClean="0"/>
              <a:t>14.12.2025</a:t>
            </a:fld>
            <a:endParaRPr lang="pl-PL"/>
          </a:p>
        </p:txBody>
      </p:sp>
      <p:sp>
        <p:nvSpPr>
          <p:cNvPr id="3" name="Symbol zastępczy stopki 2">
            <a:extLst>
              <a:ext uri="{FF2B5EF4-FFF2-40B4-BE49-F238E27FC236}">
                <a16:creationId xmlns:a16="http://schemas.microsoft.com/office/drawing/2014/main" id="{BA238233-1749-C2C2-9E46-A8A474C279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37C05793-9A9F-D703-F156-F98A37AE7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4D76E7-049E-8F44-8FBB-BF555C96FA7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0163926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17358D25-3598-0B7A-78F4-1A989F5465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0751FAB4-9AB9-2D8C-B3BC-4C12419DED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A740D6E0-B964-A95A-7237-406C1F87E2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518BF2FB-E259-A3FC-0EF5-E07BD27C2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78709E-93D2-5347-AAE3-99222C270FD6}" type="datetimeFigureOut">
              <a:rPr lang="pl-PL" smtClean="0"/>
              <a:t>14.12.2025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3C8B5416-9105-7653-E001-8AD32EC453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E51FD8C7-0C4F-8952-8184-CA15511800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4D76E7-049E-8F44-8FBB-BF555C96FA7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03746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AA7EDD8F-4DE8-2E36-B79A-F2DB3B7A26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obrazu 2">
            <a:extLst>
              <a:ext uri="{FF2B5EF4-FFF2-40B4-BE49-F238E27FC236}">
                <a16:creationId xmlns:a16="http://schemas.microsoft.com/office/drawing/2014/main" id="{DD7821CC-CA5B-9886-3C68-6252700FA3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l-PL"/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BBAFB1EE-DFFC-E5A1-4017-1995D86A90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44B94509-DE09-847D-38FF-81FE41A960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78709E-93D2-5347-AAE3-99222C270FD6}" type="datetimeFigureOut">
              <a:rPr lang="pl-PL" smtClean="0"/>
              <a:t>14.12.2025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CA876378-0ABF-5508-977B-CDEF959621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577A890B-1A67-9132-4E4B-4242FAA38F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4D76E7-049E-8F44-8FBB-BF555C96FA7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8092349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69907516-7A7B-E2D1-D79B-A0CDA552C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004BFF5C-C716-9487-14A5-5D967C1EE7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33335187-D36F-474A-E2A7-8FBDEB4B98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78709E-93D2-5347-AAE3-99222C270FD6}" type="datetimeFigureOut">
              <a:rPr lang="pl-PL" smtClean="0"/>
              <a:t>14.12.2025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5895F48C-F077-A218-97A6-6729D6296D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4F8BA35C-CF32-B4CC-3AE1-499EC66A7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4D76E7-049E-8F44-8FBB-BF555C96FA7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847116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pionowy 1">
            <a:extLst>
              <a:ext uri="{FF2B5EF4-FFF2-40B4-BE49-F238E27FC236}">
                <a16:creationId xmlns:a16="http://schemas.microsoft.com/office/drawing/2014/main" id="{FB5B74A0-EE03-7544-5DC7-4BDD20DF90F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E729256A-A14F-EFA3-EE21-080E9F13CB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A5251D1A-9145-F8D2-01AA-9B5D4C45DF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78709E-93D2-5347-AAE3-99222C270FD6}" type="datetimeFigureOut">
              <a:rPr lang="pl-PL" smtClean="0"/>
              <a:t>14.12.2025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73657809-DC03-15CB-7303-556FDADFF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548A6EE4-B574-71C2-247A-8550B0CE4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4D76E7-049E-8F44-8FBB-BF555C96FA7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5197405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ytułu 1">
            <a:extLst>
              <a:ext uri="{FF2B5EF4-FFF2-40B4-BE49-F238E27FC236}">
                <a16:creationId xmlns:a16="http://schemas.microsoft.com/office/drawing/2014/main" id="{B183D6C9-0565-80AF-A657-3CD415F216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8CA643FB-54A3-F542-6F0E-477206DE4B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8164B8AE-38BD-D3A8-8314-2E12962D209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78709E-93D2-5347-AAE3-99222C270FD6}" type="datetimeFigureOut">
              <a:rPr lang="pl-PL" smtClean="0"/>
              <a:t>14.12.2025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B39C4DB0-1BFF-18DB-721B-F69CC2DF9F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DB3BC3F4-E1AF-7035-CE9E-C8F37858DB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4D76E7-049E-8F44-8FBB-BF555C96FA7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2316359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l-P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7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0EBCB63-99FE-2993-3C7A-86D079CEB9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869925"/>
            <a:ext cx="9144000" cy="2387600"/>
          </a:xfrm>
        </p:spPr>
        <p:txBody>
          <a:bodyPr>
            <a:normAutofit/>
          </a:bodyPr>
          <a:lstStyle/>
          <a:p>
            <a:r>
              <a:rPr lang="pl-PL" sz="3200" b="1" dirty="0">
                <a:solidFill>
                  <a:schemeClr val="bg1"/>
                </a:solidFill>
              </a:rPr>
              <a:t>Zintegrowana analiza </a:t>
            </a:r>
            <a:r>
              <a:rPr lang="pl-PL" sz="3200" b="1" dirty="0" err="1">
                <a:solidFill>
                  <a:schemeClr val="bg1"/>
                </a:solidFill>
              </a:rPr>
              <a:t>multiomiczna</a:t>
            </a:r>
            <a:r>
              <a:rPr lang="pl-PL" sz="3200" b="1" dirty="0">
                <a:solidFill>
                  <a:schemeClr val="bg1"/>
                </a:solidFill>
              </a:rPr>
              <a:t> podtypów raka piersi: rola sieci regulacyjnych sterowanych przez </a:t>
            </a:r>
            <a:r>
              <a:rPr lang="pl-PL" sz="3200" b="1" dirty="0" err="1">
                <a:solidFill>
                  <a:schemeClr val="bg1"/>
                </a:solidFill>
              </a:rPr>
              <a:t>miRNA</a:t>
            </a:r>
            <a:r>
              <a:rPr lang="pl-PL" sz="3200" b="1" dirty="0">
                <a:solidFill>
                  <a:schemeClr val="bg1"/>
                </a:solidFill>
              </a:rPr>
              <a:t> w przeżyciu pacjentów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B1D97C36-7FAB-4A67-575C-51C78D4BFE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907756"/>
            <a:ext cx="9144000" cy="1655762"/>
          </a:xfrm>
        </p:spPr>
        <p:txBody>
          <a:bodyPr>
            <a:normAutofit/>
          </a:bodyPr>
          <a:lstStyle/>
          <a:p>
            <a:r>
              <a:rPr lang="pl-PL" sz="1800" dirty="0">
                <a:solidFill>
                  <a:schemeClr val="bg1"/>
                </a:solidFill>
              </a:rPr>
              <a:t>Izabela Reszka, Piotr Wiśniewski, Klaudia Woźniak</a:t>
            </a:r>
          </a:p>
          <a:p>
            <a:r>
              <a:rPr lang="pl-PL" sz="1800" dirty="0">
                <a:solidFill>
                  <a:schemeClr val="bg1"/>
                </a:solidFill>
              </a:rPr>
              <a:t>Kierownik projektu: Izabela Reszka</a:t>
            </a:r>
          </a:p>
          <a:p>
            <a:r>
              <a:rPr lang="pl-PL" sz="1800" dirty="0">
                <a:solidFill>
                  <a:schemeClr val="bg1"/>
                </a:solidFill>
              </a:rPr>
              <a:t>Opiekun naukowy: Karol </a:t>
            </a:r>
            <a:r>
              <a:rPr lang="pl-PL" sz="1800" dirty="0" err="1">
                <a:solidFill>
                  <a:schemeClr val="bg1"/>
                </a:solidFill>
              </a:rPr>
              <a:t>Flisikowski</a:t>
            </a:r>
            <a:endParaRPr lang="pl-PL" sz="1800" dirty="0">
              <a:solidFill>
                <a:schemeClr val="bg1"/>
              </a:solidFill>
            </a:endParaRPr>
          </a:p>
          <a:p>
            <a:r>
              <a:rPr lang="pl-PL" sz="1800" dirty="0">
                <a:solidFill>
                  <a:schemeClr val="bg1"/>
                </a:solidFill>
              </a:rPr>
              <a:t>Wydział Zarządzania i Ekonomii</a:t>
            </a:r>
          </a:p>
        </p:txBody>
      </p:sp>
      <p:pic>
        <p:nvPicPr>
          <p:cNvPr id="5" name="Obraz 4" descr="Obraz zawierający Czcionka, Grafika, zrzut ekranu, design&#10;&#10;Opis wygenerowany automatycznie">
            <a:extLst>
              <a:ext uri="{FF2B5EF4-FFF2-40B4-BE49-F238E27FC236}">
                <a16:creationId xmlns:a16="http://schemas.microsoft.com/office/drawing/2014/main" id="{18BFF0E7-60A7-0857-6E59-92D1E4B67A0F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70000" contrast="-70000"/>
          </a:blip>
          <a:stretch>
            <a:fillRect/>
          </a:stretch>
        </p:blipFill>
        <p:spPr>
          <a:xfrm>
            <a:off x="3932553" y="294482"/>
            <a:ext cx="4326893" cy="2449212"/>
          </a:xfrm>
          <a:prstGeom prst="rect">
            <a:avLst/>
          </a:prstGeom>
          <a:ln>
            <a:solidFill>
              <a:schemeClr val="bg1"/>
            </a:solidFill>
          </a:ln>
        </p:spPr>
      </p:pic>
    </p:spTree>
    <p:extLst>
      <p:ext uri="{BB962C8B-B14F-4D97-AF65-F5344CB8AC3E}">
        <p14:creationId xmlns:p14="http://schemas.microsoft.com/office/powerpoint/2010/main" val="32529095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9738B88-3C9E-334E-C76D-CF3A7D99DA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49917" y="420782"/>
            <a:ext cx="7178566" cy="1199821"/>
          </a:xfrm>
        </p:spPr>
        <p:txBody>
          <a:bodyPr>
            <a:normAutofit/>
          </a:bodyPr>
          <a:lstStyle/>
          <a:p>
            <a:r>
              <a:rPr lang="pl-PL" sz="2800" b="1" i="0" dirty="0">
                <a:solidFill>
                  <a:schemeClr val="accent1">
                    <a:lumMod val="50000"/>
                  </a:schemeClr>
                </a:solidFill>
                <a:effectLst/>
              </a:rPr>
              <a:t>Cztery twarze raka piersi – Dlaczego leki działają dla jednych, a nie dla innych?</a:t>
            </a:r>
            <a:endParaRPr lang="pl-PL" sz="2800" b="1" dirty="0">
              <a:solidFill>
                <a:schemeClr val="accent1">
                  <a:lumMod val="50000"/>
                </a:schemeClr>
              </a:solidFill>
            </a:endParaRPr>
          </a:p>
        </p:txBody>
      </p:sp>
      <p:pic>
        <p:nvPicPr>
          <p:cNvPr id="11" name="Symbol zastępczy zawartości 10" descr="Obraz zawierający zrzut ekranu, Czcionka, Grafika, tekst&#10;&#10;Opis wygenerowany automatycznie">
            <a:extLst>
              <a:ext uri="{FF2B5EF4-FFF2-40B4-BE49-F238E27FC236}">
                <a16:creationId xmlns:a16="http://schemas.microsoft.com/office/drawing/2014/main" id="{46D80C71-A10F-D7AA-EE52-6D9F4EDE7A5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-479626" y="-1154976"/>
            <a:ext cx="6150378" cy="4351338"/>
          </a:xfrm>
        </p:spPr>
      </p:pic>
      <p:cxnSp>
        <p:nvCxnSpPr>
          <p:cNvPr id="14" name="Łącznik prosty 13">
            <a:extLst>
              <a:ext uri="{FF2B5EF4-FFF2-40B4-BE49-F238E27FC236}">
                <a16:creationId xmlns:a16="http://schemas.microsoft.com/office/drawing/2014/main" id="{F4B14A33-E755-D357-DC4E-5CF0312101D4}"/>
              </a:ext>
            </a:extLst>
          </p:cNvPr>
          <p:cNvCxnSpPr/>
          <p:nvPr/>
        </p:nvCxnSpPr>
        <p:spPr>
          <a:xfrm>
            <a:off x="5249917" y="630621"/>
            <a:ext cx="0" cy="709448"/>
          </a:xfrm>
          <a:prstGeom prst="line">
            <a:avLst/>
          </a:prstGeom>
          <a:ln>
            <a:solidFill>
              <a:srgbClr val="003766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098486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9738B88-3C9E-334E-C76D-CF3A7D99DA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39105" y="420782"/>
            <a:ext cx="6952586" cy="1199821"/>
          </a:xfrm>
        </p:spPr>
        <p:txBody>
          <a:bodyPr>
            <a:noAutofit/>
          </a:bodyPr>
          <a:lstStyle/>
          <a:p>
            <a:r>
              <a:rPr lang="pl-PL" sz="2800" b="1" i="0" dirty="0">
                <a:solidFill>
                  <a:schemeClr val="accent1">
                    <a:lumMod val="50000"/>
                  </a:schemeClr>
                </a:solidFill>
                <a:effectLst/>
              </a:rPr>
              <a:t>Dlaczego musimy patrzeć poniżej </a:t>
            </a:r>
            <a:r>
              <a:rPr lang="pl-PL" sz="2800" b="1" i="0" dirty="0" err="1">
                <a:solidFill>
                  <a:schemeClr val="accent1">
                    <a:lumMod val="50000"/>
                  </a:schemeClr>
                </a:solidFill>
                <a:effectLst/>
              </a:rPr>
              <a:t>transkryptomu</a:t>
            </a:r>
            <a:r>
              <a:rPr lang="pl-PL" sz="2800" b="1" i="0" dirty="0">
                <a:solidFill>
                  <a:schemeClr val="accent1">
                    <a:lumMod val="50000"/>
                  </a:schemeClr>
                </a:solidFill>
                <a:effectLst/>
              </a:rPr>
              <a:t>? </a:t>
            </a:r>
            <a:br>
              <a:rPr lang="pl-PL" sz="2800" b="1" i="0" dirty="0">
                <a:solidFill>
                  <a:schemeClr val="accent1">
                    <a:lumMod val="50000"/>
                  </a:schemeClr>
                </a:solidFill>
                <a:effectLst/>
              </a:rPr>
            </a:br>
            <a:r>
              <a:rPr lang="pl-PL" sz="2800" b="1" i="0" dirty="0">
                <a:solidFill>
                  <a:schemeClr val="accent1">
                    <a:lumMod val="50000"/>
                  </a:schemeClr>
                </a:solidFill>
                <a:effectLst/>
              </a:rPr>
              <a:t>(DNA → RNA ≠ RNA → Białko)</a:t>
            </a:r>
            <a:endParaRPr lang="pl-PL" sz="2800" b="1" dirty="0">
              <a:solidFill>
                <a:schemeClr val="accent1">
                  <a:lumMod val="50000"/>
                </a:schemeClr>
              </a:solidFill>
            </a:endParaRPr>
          </a:p>
        </p:txBody>
      </p:sp>
      <p:pic>
        <p:nvPicPr>
          <p:cNvPr id="11" name="Symbol zastępczy zawartości 10" descr="Obraz zawierający zrzut ekranu, Czcionka, Grafika, tekst&#10;&#10;Opis wygenerowany automatycznie">
            <a:extLst>
              <a:ext uri="{FF2B5EF4-FFF2-40B4-BE49-F238E27FC236}">
                <a16:creationId xmlns:a16="http://schemas.microsoft.com/office/drawing/2014/main" id="{46D80C71-A10F-D7AA-EE52-6D9F4EDE7A5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-479626" y="-1154976"/>
            <a:ext cx="6150378" cy="4351338"/>
          </a:xfrm>
        </p:spPr>
      </p:pic>
      <p:cxnSp>
        <p:nvCxnSpPr>
          <p:cNvPr id="14" name="Łącznik prosty 13">
            <a:extLst>
              <a:ext uri="{FF2B5EF4-FFF2-40B4-BE49-F238E27FC236}">
                <a16:creationId xmlns:a16="http://schemas.microsoft.com/office/drawing/2014/main" id="{F4B14A33-E755-D357-DC4E-5CF0312101D4}"/>
              </a:ext>
            </a:extLst>
          </p:cNvPr>
          <p:cNvCxnSpPr/>
          <p:nvPr/>
        </p:nvCxnSpPr>
        <p:spPr>
          <a:xfrm>
            <a:off x="5249917" y="630621"/>
            <a:ext cx="0" cy="709448"/>
          </a:xfrm>
          <a:prstGeom prst="line">
            <a:avLst/>
          </a:prstGeom>
          <a:ln>
            <a:solidFill>
              <a:srgbClr val="003766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10938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9738B88-3C9E-334E-C76D-CF3A7D99DA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49917" y="420782"/>
            <a:ext cx="7178566" cy="1199821"/>
          </a:xfrm>
        </p:spPr>
        <p:txBody>
          <a:bodyPr>
            <a:normAutofit/>
          </a:bodyPr>
          <a:lstStyle/>
          <a:p>
            <a:r>
              <a:rPr lang="pl-PL" sz="2800" b="1" dirty="0" err="1">
                <a:solidFill>
                  <a:schemeClr val="accent1">
                    <a:lumMod val="50000"/>
                  </a:schemeClr>
                </a:solidFill>
              </a:rPr>
              <a:t>miRNA</a:t>
            </a:r>
            <a:r>
              <a:rPr lang="pl-PL" sz="2800" b="1" dirty="0">
                <a:solidFill>
                  <a:schemeClr val="accent1">
                    <a:lumMod val="50000"/>
                  </a:schemeClr>
                </a:solidFill>
              </a:rPr>
              <a:t>-zależna supresja osi FOXA1/ESR1 w TNBC</a:t>
            </a:r>
          </a:p>
        </p:txBody>
      </p:sp>
      <p:pic>
        <p:nvPicPr>
          <p:cNvPr id="11" name="Symbol zastępczy zawartości 10" descr="Obraz zawierający zrzut ekranu, Czcionka, Grafika, tekst&#10;&#10;Opis wygenerowany automatycznie">
            <a:extLst>
              <a:ext uri="{FF2B5EF4-FFF2-40B4-BE49-F238E27FC236}">
                <a16:creationId xmlns:a16="http://schemas.microsoft.com/office/drawing/2014/main" id="{46D80C71-A10F-D7AA-EE52-6D9F4EDE7A5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-479626" y="-1154976"/>
            <a:ext cx="6150378" cy="4351338"/>
          </a:xfrm>
        </p:spPr>
      </p:pic>
      <p:cxnSp>
        <p:nvCxnSpPr>
          <p:cNvPr id="14" name="Łącznik prosty 13">
            <a:extLst>
              <a:ext uri="{FF2B5EF4-FFF2-40B4-BE49-F238E27FC236}">
                <a16:creationId xmlns:a16="http://schemas.microsoft.com/office/drawing/2014/main" id="{F4B14A33-E755-D357-DC4E-5CF0312101D4}"/>
              </a:ext>
            </a:extLst>
          </p:cNvPr>
          <p:cNvCxnSpPr/>
          <p:nvPr/>
        </p:nvCxnSpPr>
        <p:spPr>
          <a:xfrm>
            <a:off x="5249917" y="630621"/>
            <a:ext cx="0" cy="709448"/>
          </a:xfrm>
          <a:prstGeom prst="line">
            <a:avLst/>
          </a:prstGeom>
          <a:ln>
            <a:solidFill>
              <a:srgbClr val="003766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873885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9738B88-3C9E-334E-C76D-CF3A7D99DA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49917" y="420782"/>
            <a:ext cx="7178566" cy="1199821"/>
          </a:xfrm>
        </p:spPr>
        <p:txBody>
          <a:bodyPr>
            <a:normAutofit/>
          </a:bodyPr>
          <a:lstStyle/>
          <a:p>
            <a:r>
              <a:rPr lang="pl-PL" sz="2800" b="1" dirty="0">
                <a:solidFill>
                  <a:schemeClr val="accent1">
                    <a:lumMod val="50000"/>
                  </a:schemeClr>
                </a:solidFill>
              </a:rPr>
              <a:t>Luminal B – podtyp o agresywniejszym przebiegu klinicznym</a:t>
            </a:r>
          </a:p>
        </p:txBody>
      </p:sp>
      <p:pic>
        <p:nvPicPr>
          <p:cNvPr id="11" name="Symbol zastępczy zawartości 10" descr="Obraz zawierający zrzut ekranu, Czcionka, Grafika, tekst&#10;&#10;Opis wygenerowany automatycznie">
            <a:extLst>
              <a:ext uri="{FF2B5EF4-FFF2-40B4-BE49-F238E27FC236}">
                <a16:creationId xmlns:a16="http://schemas.microsoft.com/office/drawing/2014/main" id="{46D80C71-A10F-D7AA-EE52-6D9F4EDE7A5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-479626" y="-1154976"/>
            <a:ext cx="6150378" cy="4351338"/>
          </a:xfrm>
        </p:spPr>
      </p:pic>
      <p:cxnSp>
        <p:nvCxnSpPr>
          <p:cNvPr id="14" name="Łącznik prosty 13">
            <a:extLst>
              <a:ext uri="{FF2B5EF4-FFF2-40B4-BE49-F238E27FC236}">
                <a16:creationId xmlns:a16="http://schemas.microsoft.com/office/drawing/2014/main" id="{F4B14A33-E755-D357-DC4E-5CF0312101D4}"/>
              </a:ext>
            </a:extLst>
          </p:cNvPr>
          <p:cNvCxnSpPr/>
          <p:nvPr/>
        </p:nvCxnSpPr>
        <p:spPr>
          <a:xfrm>
            <a:off x="5249917" y="630621"/>
            <a:ext cx="0" cy="709448"/>
          </a:xfrm>
          <a:prstGeom prst="line">
            <a:avLst/>
          </a:prstGeom>
          <a:ln>
            <a:solidFill>
              <a:srgbClr val="003766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84663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9738B88-3C9E-334E-C76D-CF3A7D99DA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49917" y="420782"/>
            <a:ext cx="7178566" cy="1199821"/>
          </a:xfrm>
        </p:spPr>
        <p:txBody>
          <a:bodyPr>
            <a:normAutofit/>
          </a:bodyPr>
          <a:lstStyle/>
          <a:p>
            <a:r>
              <a:rPr lang="pl-PL" sz="2800" b="1" i="0" dirty="0">
                <a:solidFill>
                  <a:schemeClr val="accent1">
                    <a:lumMod val="50000"/>
                  </a:schemeClr>
                </a:solidFill>
                <a:effectLst/>
              </a:rPr>
              <a:t>Stadium Wygrywa – Ale </a:t>
            </a:r>
            <a:r>
              <a:rPr lang="pl-PL" sz="2800" b="1" i="0" dirty="0" err="1">
                <a:solidFill>
                  <a:schemeClr val="accent1">
                    <a:lumMod val="50000"/>
                  </a:schemeClr>
                </a:solidFill>
                <a:effectLst/>
              </a:rPr>
              <a:t>miRNA</a:t>
            </a:r>
            <a:r>
              <a:rPr lang="pl-PL" sz="2800" b="1" i="0" dirty="0">
                <a:solidFill>
                  <a:schemeClr val="accent1">
                    <a:lumMod val="50000"/>
                  </a:schemeClr>
                </a:solidFill>
                <a:effectLst/>
              </a:rPr>
              <a:t> Dają Wskazówkę</a:t>
            </a:r>
            <a:endParaRPr lang="pl-PL" sz="2800" b="1" dirty="0">
              <a:solidFill>
                <a:schemeClr val="accent1">
                  <a:lumMod val="50000"/>
                </a:schemeClr>
              </a:solidFill>
            </a:endParaRPr>
          </a:p>
        </p:txBody>
      </p:sp>
      <p:pic>
        <p:nvPicPr>
          <p:cNvPr id="11" name="Symbol zastępczy zawartości 10" descr="Obraz zawierający zrzut ekranu, Czcionka, Grafika, tekst&#10;&#10;Opis wygenerowany automatycznie">
            <a:extLst>
              <a:ext uri="{FF2B5EF4-FFF2-40B4-BE49-F238E27FC236}">
                <a16:creationId xmlns:a16="http://schemas.microsoft.com/office/drawing/2014/main" id="{46D80C71-A10F-D7AA-EE52-6D9F4EDE7A5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-479626" y="-1154976"/>
            <a:ext cx="6150378" cy="4351338"/>
          </a:xfrm>
        </p:spPr>
      </p:pic>
      <p:cxnSp>
        <p:nvCxnSpPr>
          <p:cNvPr id="14" name="Łącznik prosty 13">
            <a:extLst>
              <a:ext uri="{FF2B5EF4-FFF2-40B4-BE49-F238E27FC236}">
                <a16:creationId xmlns:a16="http://schemas.microsoft.com/office/drawing/2014/main" id="{F4B14A33-E755-D357-DC4E-5CF0312101D4}"/>
              </a:ext>
            </a:extLst>
          </p:cNvPr>
          <p:cNvCxnSpPr/>
          <p:nvPr/>
        </p:nvCxnSpPr>
        <p:spPr>
          <a:xfrm>
            <a:off x="5249917" y="630621"/>
            <a:ext cx="0" cy="709448"/>
          </a:xfrm>
          <a:prstGeom prst="line">
            <a:avLst/>
          </a:prstGeom>
          <a:ln>
            <a:solidFill>
              <a:srgbClr val="003766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53965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9738B88-3C9E-334E-C76D-CF3A7D99DA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49917" y="420782"/>
            <a:ext cx="7178566" cy="1199821"/>
          </a:xfrm>
        </p:spPr>
        <p:txBody>
          <a:bodyPr>
            <a:normAutofit/>
          </a:bodyPr>
          <a:lstStyle/>
          <a:p>
            <a:r>
              <a:rPr lang="pl-PL" sz="2800" b="1" i="0" dirty="0">
                <a:solidFill>
                  <a:schemeClr val="accent1">
                    <a:lumMod val="50000"/>
                  </a:schemeClr>
                </a:solidFill>
                <a:effectLst/>
              </a:rPr>
              <a:t>Podsumowanie: Odkrycie, Limity, Przyszłość</a:t>
            </a:r>
            <a:endParaRPr lang="pl-PL" sz="2800" b="1" dirty="0">
              <a:solidFill>
                <a:schemeClr val="accent1">
                  <a:lumMod val="50000"/>
                </a:schemeClr>
              </a:solidFill>
            </a:endParaRPr>
          </a:p>
        </p:txBody>
      </p:sp>
      <p:pic>
        <p:nvPicPr>
          <p:cNvPr id="11" name="Symbol zastępczy zawartości 10" descr="Obraz zawierający zrzut ekranu, Czcionka, Grafika, tekst&#10;&#10;Opis wygenerowany automatycznie">
            <a:extLst>
              <a:ext uri="{FF2B5EF4-FFF2-40B4-BE49-F238E27FC236}">
                <a16:creationId xmlns:a16="http://schemas.microsoft.com/office/drawing/2014/main" id="{46D80C71-A10F-D7AA-EE52-6D9F4EDE7A5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-479626" y="-1154976"/>
            <a:ext cx="6150378" cy="4351338"/>
          </a:xfrm>
        </p:spPr>
      </p:pic>
      <p:cxnSp>
        <p:nvCxnSpPr>
          <p:cNvPr id="14" name="Łącznik prosty 13">
            <a:extLst>
              <a:ext uri="{FF2B5EF4-FFF2-40B4-BE49-F238E27FC236}">
                <a16:creationId xmlns:a16="http://schemas.microsoft.com/office/drawing/2014/main" id="{F4B14A33-E755-D357-DC4E-5CF0312101D4}"/>
              </a:ext>
            </a:extLst>
          </p:cNvPr>
          <p:cNvCxnSpPr/>
          <p:nvPr/>
        </p:nvCxnSpPr>
        <p:spPr>
          <a:xfrm>
            <a:off x="5249917" y="630621"/>
            <a:ext cx="0" cy="709448"/>
          </a:xfrm>
          <a:prstGeom prst="line">
            <a:avLst/>
          </a:prstGeom>
          <a:ln>
            <a:solidFill>
              <a:srgbClr val="003766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20281274"/>
      </p:ext>
    </p:extLst>
  </p:cSld>
  <p:clrMapOvr>
    <a:masterClrMapping/>
  </p:clrMapOvr>
</p:sld>
</file>

<file path=ppt/theme/theme1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akiet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</TotalTime>
  <Words>100</Words>
  <Application>Microsoft Macintosh PowerPoint</Application>
  <PresentationFormat>Panoramiczny</PresentationFormat>
  <Paragraphs>11</Paragraphs>
  <Slides>7</Slides>
  <Notes>0</Notes>
  <HiddenSlides>0</HiddenSlides>
  <MMClips>0</MMClips>
  <ScaleCrop>false</ScaleCrop>
  <HeadingPairs>
    <vt:vector size="6" baseType="variant">
      <vt:variant>
        <vt:lpstr>Używane czcionki</vt:lpstr>
      </vt:variant>
      <vt:variant>
        <vt:i4>3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Motyw pakietu Office</vt:lpstr>
      <vt:lpstr>Zintegrowana analiza multiomiczna podtypów raka piersi: rola sieci regulacyjnych sterowanych przez miRNA w przeżyciu pacjentów</vt:lpstr>
      <vt:lpstr>Cztery twarze raka piersi – Dlaczego leki działają dla jednych, a nie dla innych?</vt:lpstr>
      <vt:lpstr>Dlaczego musimy patrzeć poniżej transkryptomu?  (DNA → RNA ≠ RNA → Białko)</vt:lpstr>
      <vt:lpstr>miRNA-zależna supresja osi FOXA1/ESR1 w TNBC</vt:lpstr>
      <vt:lpstr>Luminal B – podtyp o agresywniejszym przebiegu klinicznym</vt:lpstr>
      <vt:lpstr>Stadium Wygrywa – Ale miRNA Dają Wskazówkę</vt:lpstr>
      <vt:lpstr>Podsumowanie: Odkrycie, Limity, Przyszłość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Prezentacja programu PowerPoint</dc:title>
  <dc:creator>Izabela Reszka, s206742</dc:creator>
  <cp:lastModifiedBy>Izabela Reszka, s206742</cp:lastModifiedBy>
  <cp:revision>3</cp:revision>
  <dcterms:created xsi:type="dcterms:W3CDTF">2025-12-14T19:02:56Z</dcterms:created>
  <dcterms:modified xsi:type="dcterms:W3CDTF">2025-12-14T19:55:48Z</dcterms:modified>
</cp:coreProperties>
</file>