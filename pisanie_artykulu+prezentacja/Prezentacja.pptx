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omments/modernComment_100_C1E375D8.xml" ContentType="application/vnd.ms-powerpoint.comments+xml"/>
  <Override PartName="/ppt/comments/modernComment_101_8FA35F5C.xml" ContentType="application/vnd.ms-powerpoint.comments+xml"/>
  <Override PartName="/ppt/comments/modernComment_102_7F05E948.xml" ContentType="application/vnd.ms-powerpoint.comments+xml"/>
  <Override PartName="/ppt/comments/modernComment_107_1324D860.xml" ContentType="application/vnd.ms-powerpoint.comments+xml"/>
  <Override PartName="/ppt/notesSlides/notesSlide1.xml" ContentType="application/vnd.openxmlformats-officedocument.presentationml.notesSlide+xml"/>
  <Override PartName="/ppt/comments/modernComment_103_9A386AA9.xml" ContentType="application/vnd.ms-powerpoint.comments+xml"/>
  <Override PartName="/ppt/comments/modernComment_104_2575A281.xml" ContentType="application/vnd.ms-powerpoint.comments+xml"/>
  <Override PartName="/ppt/comments/modernComment_105_44455D2C.xml" ContentType="application/vnd.ms-powerpoint.comments+xml"/>
  <Override PartName="/ppt/comments/modernComment_106_EFA09FBA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3" r:id="rId5"/>
    <p:sldId id="259" r:id="rId6"/>
    <p:sldId id="260" r:id="rId7"/>
    <p:sldId id="261" r:id="rId8"/>
    <p:sldId id="262" r:id="rId9"/>
    <p:sldId id="269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E592C16-3045-64E8-467A-15353A589283}" name="Klaudia Woźniak" initials="KW" userId="8aeb85f5462ee2ad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766"/>
    <a:srgbClr val="F39C12"/>
    <a:srgbClr val="2ECC71"/>
    <a:srgbClr val="E74C3C"/>
    <a:srgbClr val="3498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663"/>
    <p:restoredTop sz="94678"/>
  </p:normalViewPr>
  <p:slideViewPr>
    <p:cSldViewPr snapToGrid="0">
      <p:cViewPr>
        <p:scale>
          <a:sx n="100" d="100"/>
          <a:sy n="100" d="100"/>
        </p:scale>
        <p:origin x="372" y="5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omments/modernComment_100_C1E375D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64EA787-BE18-4D32-AB16-3521C31037D5}" authorId="{3E592C16-3045-64E8-467A-15353A589283}" created="2025-12-17T11:24:27.784">
    <pc:sldMkLst xmlns:pc="http://schemas.microsoft.com/office/powerpoint/2013/main/command">
      <pc:docMk/>
      <pc:sldMk cId="3252909528" sldId="256"/>
    </pc:sldMkLst>
    <p188:txBody>
      <a:bodyPr/>
      <a:lstStyle/>
      <a:p>
        <a:r>
          <a:rPr lang="en-US"/>
          <a:t> Narracja (20 sekund):
Rak piersi zabija ponad 700 000 kobiet rocznie na świecie. Ale pewne rodzaje raka mogą być wyleczalne, a inne pozostają oporne na wszystkie terapie. Dzisiaj pokażemy, dlaczego. Szukaliśmy odpowiedzi na pytanie: co biologicznie różni dobry rak od złego? I odkryliśmy coś zadziwiającego – to nie obojętny brak receptorów, ale aktywny plan, napisany małymi cząsteczkami RNA.</a:t>
        </a:r>
      </a:p>
    </p188:txBody>
  </p188:cm>
</p188:cmLst>
</file>

<file path=ppt/comments/modernComment_101_8FA35F5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775CB4C-AE7B-46F0-8869-0A6028D117E5}" authorId="{3E592C16-3045-64E8-467A-15353A589283}" created="2025-12-17T11:24:41.00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409848668" sldId="257"/>
      <ac:spMk id="2" creationId="{F9738B88-3C9E-334E-C76D-CF3A7D99DA9A}"/>
    </ac:deMkLst>
    <p188:txBody>
      <a:bodyPr/>
      <a:lstStyle/>
      <a:p>
        <a:r>
          <a:rPr lang="en-US"/>
          <a:t>
Narracja (70 sekund):
Każdego roku 700 000 kobiet na świecie umiera z powodu raka piersi. Ale nie wszystkie umierają z tej samej przyczyny.
Rak piersi to cztery różne choroby. Luminal A – to najłagodniejsza. 92% pacjentek żyje 5 lat. Mamy dla niej terapię – receptory hormonalne, więc możemy dać leki hormonalne.
HER2-positive – był problem, ale Trastuzumab to rozwiązał. Teraz też 65-75% przeżycia.
Ale jest czwarta grupa: Basal-like, zwana też TNBC – Triple Negative. Bez receptorów ŻADNYCH. Przeżycie: zaledwie 28%. To znaczy – nie wiemy jak je leczyć.
Czyli pytanie brzmi: Dlaczego te guzy nie mają receptorów? Czy to przypadek? Czy może... aktywna liczba zabijająca te receptory?
To jest pytanie, na które chcieliśmy odpowiedzieć.</a:t>
        </a:r>
      </a:p>
    </p188:txBody>
  </p188:cm>
</p188:cmLst>
</file>

<file path=ppt/comments/modernComment_102_7F05E94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C15E423-5E34-4EB9-97DB-E746F12382A0}" authorId="{3E592C16-3045-64E8-467A-15353A589283}" created="2025-12-17T11:33:06.518">
    <pc:sldMkLst xmlns:pc="http://schemas.microsoft.com/office/powerpoint/2013/main/command">
      <pc:docMk/>
      <pc:sldMk cId="2131093832" sldId="258"/>
    </pc:sldMkLst>
    <p188:txBody>
      <a:bodyPr/>
      <a:lstStyle/>
      <a:p>
        <a:r>
          <a:rPr lang="en-US"/>
          <a:t>I CZĘŚĆ
Narracja (45 sekund):
Wiecie dlaczego klasyczne badania DNA/RNA tracą 70% informacji?
Większość projektów sekwencjonuje gen, mierzy mRNA i mówi: 'gotowe'. Ale białko – to, co naprawdę pracuje w komórce – może być całkowicie inne!
To jak mierzyć ile fabryka produkuje części, ignorując robotników, którzy je niszczą. miRNA to robotnicy.
</a:t>
        </a:r>
      </a:p>
    </p188:txBody>
  </p188:cm>
</p188:cmLst>
</file>

<file path=ppt/comments/modernComment_103_9A386AA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8057BF5-58A5-4CE1-A0B8-5E02FFCDDA7B}" authorId="{3E592C16-3045-64E8-467A-15353A589283}" created="2025-12-17T11:34:38.469">
    <pc:sldMkLst xmlns:pc="http://schemas.microsoft.com/office/powerpoint/2013/main/command">
      <pc:docMk/>
      <pc:sldMk cId="2587388585" sldId="259"/>
    </pc:sldMkLst>
    <p188:txBody>
      <a:bodyPr/>
      <a:lstStyle/>
      <a:p>
        <a:r>
          <a:rPr lang="en-US"/>
          <a:t>
Narracja (75 sekund):
"To jest moment 'eureka'. Na tym volcano plote widzicie:
Po lewej stronie (górnie): nasze miRNA. Zaczęły się rozmnażać. miR-17: +2.4 fold, miR-20a: +2.1 fold, miR-210: +3.8 fold! To znaczy – ekspresja tych miRNA EKSPLODOWAŁA w Basal-like.
Po prawej stronie (dolnie): receptory. Zaczęły znikać. ESR1: −1.8 fold (zmniejszona o połowę) FOXA1: −2.1 fold (zmniejszona niemal trzykrotnie!)
Ale czekajcie. Może to zbieg okoliczności? Może ESR1 mRNA jest tam, a białko jakoś naturalnie się rozkłada?
PANEL B pokazuje: NIE. To nie zbieg. miRNA NAPRAWDĘ tłumią białka. Widzicie: gdzie miRNA wysoki (Basal – wiersze na górze), tam protein niski (kolory niebieskie). To jest AKTYWNA SUPRESJA. To jest jak 'hamulec' naciskany przez miRNA.
PANEL C to mechanizm. W normalnym raku (Luminal A) FOXA1 i ESR1 pracują. Receptory sterują transkrypcją. Guz jest kontrolowany.
Ale w Basal-like? miRNA 17/20a zabija ESR1. Brak FOXA1 = brak dostępu do DNA. Brak ER = brak terapii. Brak kontroli = guz rośnie agresywnie.
To jest pułapka: guzy celowo wyłączają swoje hamulce poprzez miRNA!"</a:t>
        </a:r>
      </a:p>
    </p188:txBody>
  </p188:cm>
</p188:cmLst>
</file>

<file path=ppt/comments/modernComment_104_2575A28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7610100-2DB5-4218-AB25-6F467A95CDB7}" authorId="{3E592C16-3045-64E8-467A-15353A589283}" created="2025-12-17T11:35:02.960">
    <pc:sldMkLst xmlns:pc="http://schemas.microsoft.com/office/powerpoint/2013/main/command">
      <pc:docMk/>
      <pc:sldMk cId="628466305" sldId="260"/>
    </pc:sldMkLst>
    <p188:txBody>
      <a:bodyPr/>
      <a:lstStyle/>
      <a:p>
        <a:r>
          <a:rPr lang="en-US"/>
          <a:t>
Narracja (60 sekund):
"Ale czekajcie – odkryliśmy coś dziwnego.
Luminal B ma receptory. Dokładnie jak Luminal A. Więc czemu pacjentki gorzej przeżywają?
Odpowiedź: to nie jest czystość receptorów. To TEMPO wzrostu.
Zobaczcie Boxplot: Luminal A ma niski Ki-67 (marker proliferacji). Guzy rosną powoli. Są 'leniwą'. Receptory je hamują.
Luminal B? Inny zwierzak. Ki-67 TAK wysoki! To znaczy – guzy rosną szybko. Tak szybko, że zanim hormonalna terapia zadziała, guz już się rozprzestrzeniła.
Dlaczego Ki-67 wysoki w B? Nasza analiza mówi: miR-210.
miR-210 to miRNA-responsive na niedotlenienie. To marker 'głodnych' guzów, które rosną szybko bez tlenu.
Ta miR-210 zabija receptor progesteronu (PGR). Bez PGR? Brak hamowania proliferacji. Guz robi co chce.
To jest 'dobry rak z złą osobowością'. Luminal B: 'Mam receptory, ale brakuje mi hamulców!'"</a:t>
        </a:r>
      </a:p>
    </p188:txBody>
  </p188:cm>
</p188:cmLst>
</file>

<file path=ppt/comments/modernComment_105_44455D2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F49C712-C36C-4F63-A84F-C657CDB615B5}" authorId="{3E592C16-3045-64E8-467A-15353A589283}" created="2025-12-17T11:35:20.240">
    <pc:sldMkLst xmlns:pc="http://schemas.microsoft.com/office/powerpoint/2013/main/command">
      <pc:docMk/>
      <pc:sldMk cId="1145396524" sldId="261"/>
    </pc:sldMkLst>
    <p188:txBody>
      <a:bodyPr/>
      <a:lstStyle/>
      <a:p>
        <a:r>
          <a:rPr lang="en-US"/>
          <a:t>
Narracja (60 sekund):
"No dobrze, teoria. Ale czy to faktycznie przewiduje przeżycie?
Sprawdziliśmy. I musimy być uczciwi.
Forest Plot – to Model Coxa. Włożyliśmy ALL: stadium, wiek, PAM50 subtype, nasz miRNA score.
Rezultat? Stadium wygrywa. HR = 2.31. To znaczy: pacjentka ze Stage III ma dwa razy wyższe ryzyko zgonu niż Stage I. To DOMINANT faktor.
miRNA score? HR = 1.18. To jest mniejszy efekt. Ale nie zero. To jest MARGINALNIE istotne (p = 0.068). Na granicy.
Teraz Kaplan-Meier. Górna krzywa – stratyfikacja po Stadium. DRAMATYCZNA różnica. To jest co wiemy od 20 lat. Stadium działa.
Dolna krzywa – ale to ciekawe. Jeśli patrzmy TYLKO na pacjentki z TNBC i stratyfikujemy po miRNA score? Jest różnica. p = 0.042.
Co to oznacza? Że w raku już wykrytym, miRNA mogą dać dodatkową wskazówkę. Dwie pacjentki o tym samym stadium – ale różny miRNA score – mogą mieć różne wyniki.
To nie rewolucja. Ale to wskazówka."</a:t>
        </a:r>
      </a:p>
    </p188:txBody>
  </p188:cm>
</p188:cmLst>
</file>

<file path=ppt/comments/modernComment_106_EFA09FB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88B57FE-D0A2-45B4-9F19-5411193BF7F7}" authorId="{3E592C16-3045-64E8-467A-15353A589283}" created="2025-12-17T11:35:51.528">
    <pc:sldMkLst xmlns:pc="http://schemas.microsoft.com/office/powerpoint/2013/main/command">
      <pc:docMk/>
      <pc:sldMk cId="4020281274" sldId="262"/>
    </pc:sldMkLst>
    <p188:txBody>
      <a:bodyPr/>
      <a:lstStyle/>
      <a:p>
        <a:r>
          <a:rPr lang="en-US"/>
          <a:t>
Narracja (75 sekund):
"Podsumowanie w trzech ramkach.
RAMA 1 – Odkrycie. Udało nam się pokazać, że agresywny rak piersi to nie 'szansa' genetyczna, ale aktywnie utrzymywany fenotyp. Guzy wyłączają swoje hamulce (receptory) poprzez miRNA. To jest mechanizm – nie tylko opis.
RAMA 2 – Ale uczciwości. Zrobiliśmy modelowanie. Nie zrobiliśmy eksperymentu. Nie wiemy na 100%, że miRNA faktycznie tłumią ESR1. To jest korelacja, nie przyczynowość. I nasze badania na TCGA – to tertiarne centra, 10 lat temu. Mogą nie reprezentować populacji. Więc musimy powiedzieć: to potrzebuje validacji.
RAMA 3 – Droga naprzód. Jeśli mamy rację – a myślimy że mamy – to otwiera drogę do nowych leków. Anti-miRNA są już używane w innych chorobach (hep C). Mogą działać tutaj. Mogą 'przywrócić' receptory i sprawić, że TNBC będzie podatny na hormonalną terapię. To jest nadzieja na leczenie, które jest mniej toksyczne niż chemoterapia.
Ale – musimy być realiści. To wymaga lat pracy. Eksperymentów. Badań na pacjentach.
TAKE-HOME: Znaleźliśmy LOCK. Teraz szukamy KEY."
</a:t>
        </a:r>
      </a:p>
    </p188:txBody>
  </p188:cm>
</p188:cmLst>
</file>

<file path=ppt/comments/modernComment_107_1324D86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57AD1A0-5BC4-4383-87A3-8F9E58FE312D}" authorId="{3E592C16-3045-64E8-467A-15353A589283}" created="2025-12-17T11:33:18.378">
    <pc:sldMkLst xmlns:pc="http://schemas.microsoft.com/office/powerpoint/2013/main/command">
      <pc:docMk/>
      <pc:sldMk cId="321181792" sldId="263"/>
    </pc:sldMkLst>
    <p188:txBody>
      <a:bodyPr/>
      <a:lstStyle/>
      <a:p>
        <a:r>
          <a:rPr lang="en-US"/>
          <a:t>II CZĘŚĆ
W tym projekcie poszliśmy poniżej. Zmierzyliśmy z 1,200 próbek:
Jaki kod mRNA
Jaki faktycznie jest białkiem
A najważniejsze: CO TYCH BIAŁEK UBYWA – czyli miRNA
Integracja trzech warstw pozwala nam odpowiedzieć: 'Dlaczego ESR1 białko zniknęło w Basal-like guzach?'
Spoiler: To miRNA!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DA2362-0B84-486E-AE4F-62C391FBA256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A97DA8-01C1-4F17-9024-F98A077322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3191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A97DA8-01C1-4F17-9024-F98A0773228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8379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92007E7-A1B4-3B23-F8F1-9D9611008C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A7B61129-0883-5886-A563-1E77C4861D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4DA1C89D-7A77-A5BF-4C2C-9D0F9A14D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8709E-93D2-5347-AAE3-99222C270FD6}" type="datetimeFigureOut">
              <a:rPr lang="pl-PL" smtClean="0"/>
              <a:t>17.12.2025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75F6B518-0ACD-5D01-7870-0165069E2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9F4328B-38DB-0799-1FDD-D11A17327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D76E7-049E-8F44-8FBB-BF555C96FA7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032301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A0D59B2-F885-1FD9-9513-EC77CF27F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6708C9E-E495-6287-1A11-0870662674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A0C2247E-6513-FDDD-FEEE-1ED6A9837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8709E-93D2-5347-AAE3-99222C270FD6}" type="datetimeFigureOut">
              <a:rPr lang="pl-PL" smtClean="0"/>
              <a:t>17.12.2025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3D0868F1-65AB-D1C4-5981-589A7AF77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E9B3140F-2072-075F-E2F8-872C6C8E9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D76E7-049E-8F44-8FBB-BF555C96FA7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47425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8B49CD5-7199-1D02-3ABC-F2927E921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A42AEBD8-C0DA-E994-A490-68805B7F4D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C83A8558-7016-5ABF-DBF0-FA22811A4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8709E-93D2-5347-AAE3-99222C270FD6}" type="datetimeFigureOut">
              <a:rPr lang="pl-PL" smtClean="0"/>
              <a:t>17.12.2025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C77E4DA6-BEAA-81EF-A7E1-AFC230C1A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3D2ED542-B552-E845-1F8F-C312032D4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D76E7-049E-8F44-8FBB-BF555C96FA7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933216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0385C40-BB38-F5A3-B87B-EB21FC922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11FFF40-1EE3-638E-5A57-A36F37AEF1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3F38DD40-052E-85F1-1AD2-230C520EDD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3A1C90AC-D2B3-8694-B83A-2F48F9FC2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8709E-93D2-5347-AAE3-99222C270FD6}" type="datetimeFigureOut">
              <a:rPr lang="pl-PL" smtClean="0"/>
              <a:t>17.12.2025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1E4F1A0B-D6C0-0E76-4187-AFC8F9F1D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D0E8B234-A68B-54AE-A9B9-B0AE8F0D0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D76E7-049E-8F44-8FBB-BF555C96FA7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43968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A67C573-A71D-F9A2-F872-66D9D6EF5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783ACC70-A20D-9F70-BB5A-6C91267A21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0EA5BE30-66F3-FA4F-12C8-3310532F8F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2AE4EF19-B890-4F11-B93E-9A65C6E583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765C2E39-B4A5-37C5-E469-8646583431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1F169457-55C4-A590-1F4D-26069E64D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8709E-93D2-5347-AAE3-99222C270FD6}" type="datetimeFigureOut">
              <a:rPr lang="pl-PL" smtClean="0"/>
              <a:t>17.12.2025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314B4C83-C89E-964C-1743-277FA3D5A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2ADE713B-A541-9D4C-944E-867E66C76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D76E7-049E-8F44-8FBB-BF555C96FA7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116590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6FB7058-BE9F-5421-0F51-797A1D093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E1B894EA-79C6-B9CC-D267-19BDC14EA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8709E-93D2-5347-AAE3-99222C270FD6}" type="datetimeFigureOut">
              <a:rPr lang="pl-PL" smtClean="0"/>
              <a:t>17.12.2025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6C51885B-9916-3457-DFBD-06298E9C6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9D532F1E-3F4D-627C-1024-A143ED1A9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D76E7-049E-8F44-8FBB-BF555C96FA7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52675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8E4FE211-ED9A-1A1D-F5A7-658F611E2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8709E-93D2-5347-AAE3-99222C270FD6}" type="datetimeFigureOut">
              <a:rPr lang="pl-PL" smtClean="0"/>
              <a:t>17.12.2025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BA238233-1749-C2C2-9E46-A8A474C27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37C05793-9A9F-D703-F156-F98A37AE7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D76E7-049E-8F44-8FBB-BF555C96FA7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16392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7358D25-3598-0B7A-78F4-1A989F546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751FAB4-9AB9-2D8C-B3BC-4C12419DE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A740D6E0-B964-A95A-7237-406C1F87E2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518BF2FB-E259-A3FC-0EF5-E07BD27C2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8709E-93D2-5347-AAE3-99222C270FD6}" type="datetimeFigureOut">
              <a:rPr lang="pl-PL" smtClean="0"/>
              <a:t>17.12.2025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3C8B5416-9105-7653-E001-8AD32EC45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E51FD8C7-0C4F-8952-8184-CA1551180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D76E7-049E-8F44-8FBB-BF555C96FA7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374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A7EDD8F-4DE8-2E36-B79A-F2DB3B7A2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DD7821CC-CA5B-9886-3C68-6252700FA3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BBAFB1EE-DFFC-E5A1-4017-1995D86A90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44B94509-DE09-847D-38FF-81FE41A96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8709E-93D2-5347-AAE3-99222C270FD6}" type="datetimeFigureOut">
              <a:rPr lang="pl-PL" smtClean="0"/>
              <a:t>17.12.2025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CA876378-0ABF-5508-977B-CDEF95962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577A890B-1A67-9132-4E4B-4242FAA38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D76E7-049E-8F44-8FBB-BF555C96FA7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09234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9907516-7A7B-E2D1-D79B-A0CDA552C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004BFF5C-C716-9487-14A5-5D967C1EE7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3335187-D36F-474A-E2A7-8FBDEB4B9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8709E-93D2-5347-AAE3-99222C270FD6}" type="datetimeFigureOut">
              <a:rPr lang="pl-PL" smtClean="0"/>
              <a:t>17.12.2025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5895F48C-F077-A218-97A6-6729D6296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4F8BA35C-CF32-B4CC-3AE1-499EC66A7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D76E7-049E-8F44-8FBB-BF555C96FA7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47116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FB5B74A0-EE03-7544-5DC7-4BDD20DF90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E729256A-A14F-EFA3-EE21-080E9F13CB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A5251D1A-9145-F8D2-01AA-9B5D4C45D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8709E-93D2-5347-AAE3-99222C270FD6}" type="datetimeFigureOut">
              <a:rPr lang="pl-PL" smtClean="0"/>
              <a:t>17.12.2025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73657809-DC03-15CB-7303-556FDADFF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48A6EE4-B574-71C2-247A-8550B0CE4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D76E7-049E-8F44-8FBB-BF555C96FA7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19740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B183D6C9-0565-80AF-A657-3CD415F21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8CA643FB-54A3-F542-6F0E-477206DE4B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8164B8AE-38BD-D3A8-8314-2E12962D20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78709E-93D2-5347-AAE3-99222C270FD6}" type="datetimeFigureOut">
              <a:rPr lang="pl-PL" smtClean="0"/>
              <a:t>17.12.2025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B39C4DB0-1BFF-18DB-721B-F69CC2DF9F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DB3BC3F4-E1AF-7035-CE9E-C8F37858DB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4D76E7-049E-8F44-8FBB-BF555C96FA7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31635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8/10/relationships/comments" Target="../comments/modernComment_100_C1E375D8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microsoft.com/office/2018/10/relationships/comments" Target="../comments/modernComment_101_8FA35F5C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microsoft.com/office/2018/10/relationships/comments" Target="../comments/modernComment_102_7F05E948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microsoft.com/office/2018/10/relationships/comments" Target="../comments/modernComment_107_1324D860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3_9A386AA9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microsoft.com/office/2018/10/relationships/comments" Target="../comments/modernComment_104_2575A28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microsoft.com/office/2018/10/relationships/comments" Target="../comments/modernComment_105_44455D2C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microsoft.com/office/2018/10/relationships/comments" Target="../comments/modernComment_106_EFA09FBA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7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0EBCB63-99FE-2993-3C7A-86D079CEB9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69925"/>
            <a:ext cx="9144000" cy="2387600"/>
          </a:xfrm>
        </p:spPr>
        <p:txBody>
          <a:bodyPr>
            <a:normAutofit/>
          </a:bodyPr>
          <a:lstStyle/>
          <a:p>
            <a:r>
              <a:rPr lang="pl-PL" sz="3200" b="1" dirty="0">
                <a:solidFill>
                  <a:schemeClr val="bg1"/>
                </a:solidFill>
              </a:rPr>
              <a:t>Zintegrowana analiza multiomiczna podtypów raka piersi: rola sieci regulacyjnych sterowanych przez miRNA w przeżyciu pacjentów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B1D97C36-7FAB-4A67-575C-51C78D4BFE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07756"/>
            <a:ext cx="9144000" cy="1655762"/>
          </a:xfrm>
        </p:spPr>
        <p:txBody>
          <a:bodyPr>
            <a:normAutofit/>
          </a:bodyPr>
          <a:lstStyle/>
          <a:p>
            <a:r>
              <a:rPr lang="pl-PL" sz="1800" dirty="0">
                <a:solidFill>
                  <a:schemeClr val="bg1"/>
                </a:solidFill>
              </a:rPr>
              <a:t>Izabela Reszka, Piotr Wiśniewski, Klaudia Woźniak</a:t>
            </a:r>
          </a:p>
          <a:p>
            <a:r>
              <a:rPr lang="pl-PL" sz="1800" dirty="0">
                <a:solidFill>
                  <a:schemeClr val="bg1"/>
                </a:solidFill>
              </a:rPr>
              <a:t>Kierownik projektu: Izabela Reszka</a:t>
            </a:r>
          </a:p>
          <a:p>
            <a:r>
              <a:rPr lang="pl-PL" sz="1800" dirty="0">
                <a:solidFill>
                  <a:schemeClr val="bg1"/>
                </a:solidFill>
              </a:rPr>
              <a:t>Opiekun naukowy: Karol Flisikowski</a:t>
            </a:r>
          </a:p>
          <a:p>
            <a:r>
              <a:rPr lang="pl-PL" sz="1800" dirty="0">
                <a:solidFill>
                  <a:schemeClr val="bg1"/>
                </a:solidFill>
              </a:rPr>
              <a:t>Wydział Zarządzania i Ekonomii</a:t>
            </a:r>
          </a:p>
        </p:txBody>
      </p:sp>
      <p:pic>
        <p:nvPicPr>
          <p:cNvPr id="5" name="Obraz 4" descr="Obraz zawierający Czcionka, Grafika, zrzut ekranu, design&#10;&#10;Opis wygenerowany automatycznie">
            <a:extLst>
              <a:ext uri="{FF2B5EF4-FFF2-40B4-BE49-F238E27FC236}">
                <a16:creationId xmlns:a16="http://schemas.microsoft.com/office/drawing/2014/main" id="{18BFF0E7-60A7-0857-6E59-92D1E4B67A0F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3932553" y="294482"/>
            <a:ext cx="4326893" cy="2449212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325290952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9738B88-3C9E-334E-C76D-CF3A7D99D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9917" y="420782"/>
            <a:ext cx="7178566" cy="1199821"/>
          </a:xfrm>
        </p:spPr>
        <p:txBody>
          <a:bodyPr>
            <a:normAutofit/>
          </a:bodyPr>
          <a:lstStyle/>
          <a:p>
            <a:r>
              <a:rPr lang="pl-PL" sz="2800" b="1" i="0" dirty="0">
                <a:solidFill>
                  <a:schemeClr val="accent1">
                    <a:lumMod val="50000"/>
                  </a:schemeClr>
                </a:solidFill>
                <a:effectLst/>
              </a:rPr>
              <a:t>Cztery twarze raka piersi – Dlaczego leki działają dla jednych, a nie dla innych?</a:t>
            </a:r>
            <a:endParaRPr lang="pl-PL" sz="28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1" name="Symbol zastępczy zawartości 10" descr="Obraz zawierający zrzut ekranu, Czcionka, Grafika, tekst&#10;&#10;Opis wygenerowany automatycznie">
            <a:extLst>
              <a:ext uri="{FF2B5EF4-FFF2-40B4-BE49-F238E27FC236}">
                <a16:creationId xmlns:a16="http://schemas.microsoft.com/office/drawing/2014/main" id="{46D80C71-A10F-D7AA-EE52-6D9F4EDE7A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-479626" y="-1154976"/>
            <a:ext cx="6150378" cy="4351338"/>
          </a:xfrm>
        </p:spPr>
      </p:pic>
      <p:cxnSp>
        <p:nvCxnSpPr>
          <p:cNvPr id="14" name="Łącznik prosty 13">
            <a:extLst>
              <a:ext uri="{FF2B5EF4-FFF2-40B4-BE49-F238E27FC236}">
                <a16:creationId xmlns:a16="http://schemas.microsoft.com/office/drawing/2014/main" id="{F4B14A33-E755-D357-DC4E-5CF0312101D4}"/>
              </a:ext>
            </a:extLst>
          </p:cNvPr>
          <p:cNvCxnSpPr/>
          <p:nvPr/>
        </p:nvCxnSpPr>
        <p:spPr>
          <a:xfrm>
            <a:off x="5249917" y="630621"/>
            <a:ext cx="0" cy="709448"/>
          </a:xfrm>
          <a:prstGeom prst="line">
            <a:avLst/>
          </a:prstGeom>
          <a:ln>
            <a:solidFill>
              <a:srgbClr val="00376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Prostokąt 7">
            <a:extLst>
              <a:ext uri="{FF2B5EF4-FFF2-40B4-BE49-F238E27FC236}">
                <a16:creationId xmlns:a16="http://schemas.microsoft.com/office/drawing/2014/main" id="{039B6260-89ED-DDD8-E026-AD5E13B584DB}"/>
              </a:ext>
            </a:extLst>
          </p:cNvPr>
          <p:cNvSpPr/>
          <p:nvPr/>
        </p:nvSpPr>
        <p:spPr>
          <a:xfrm>
            <a:off x="295276" y="2171700"/>
            <a:ext cx="2867024" cy="1400175"/>
          </a:xfrm>
          <a:prstGeom prst="rect">
            <a:avLst/>
          </a:prstGeom>
          <a:solidFill>
            <a:schemeClr val="bg1">
              <a:alpha val="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2ECC71"/>
                </a:solidFill>
              </a:rPr>
              <a:t>LUMINAL A</a:t>
            </a:r>
          </a:p>
          <a:p>
            <a:r>
              <a:rPr lang="pl-PL" dirty="0">
                <a:solidFill>
                  <a:srgbClr val="003766"/>
                </a:solidFill>
              </a:rPr>
              <a:t>5-letnie przeżycie: </a:t>
            </a:r>
            <a:r>
              <a:rPr lang="pl-PL" b="1" dirty="0">
                <a:solidFill>
                  <a:srgbClr val="2ECC71"/>
                </a:solidFill>
              </a:rPr>
              <a:t>92% </a:t>
            </a:r>
            <a:r>
              <a:rPr lang="pl-PL" dirty="0">
                <a:solidFill>
                  <a:srgbClr val="003766"/>
                </a:solidFill>
              </a:rPr>
              <a:t>Receptory: ER+ PR+ HER2-</a:t>
            </a:r>
          </a:p>
          <a:p>
            <a:r>
              <a:rPr lang="pl-PL" b="1" dirty="0">
                <a:solidFill>
                  <a:srgbClr val="003766"/>
                </a:solidFill>
              </a:rPr>
              <a:t>Leki hormonalne DZIAŁAJĄ</a:t>
            </a:r>
          </a:p>
        </p:txBody>
      </p:sp>
      <p:sp>
        <p:nvSpPr>
          <p:cNvPr id="9" name="Prostokąt 8">
            <a:extLst>
              <a:ext uri="{FF2B5EF4-FFF2-40B4-BE49-F238E27FC236}">
                <a16:creationId xmlns:a16="http://schemas.microsoft.com/office/drawing/2014/main" id="{6B048810-0329-9476-D6BE-F210324DD25F}"/>
              </a:ext>
            </a:extLst>
          </p:cNvPr>
          <p:cNvSpPr/>
          <p:nvPr/>
        </p:nvSpPr>
        <p:spPr>
          <a:xfrm>
            <a:off x="3336923" y="2171700"/>
            <a:ext cx="3057526" cy="1400175"/>
          </a:xfrm>
          <a:prstGeom prst="rect">
            <a:avLst/>
          </a:prstGeom>
          <a:solidFill>
            <a:schemeClr val="bg1">
              <a:alpha val="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l-PL" b="1" dirty="0">
                <a:solidFill>
                  <a:srgbClr val="F39C12"/>
                </a:solidFill>
              </a:rPr>
              <a:t>LUMINAL B</a:t>
            </a:r>
          </a:p>
          <a:p>
            <a:r>
              <a:rPr lang="pl-PL" dirty="0">
                <a:solidFill>
                  <a:srgbClr val="003766"/>
                </a:solidFill>
              </a:rPr>
              <a:t>5-letnie przeżycie: </a:t>
            </a:r>
            <a:r>
              <a:rPr lang="pl-PL" b="1" dirty="0">
                <a:solidFill>
                  <a:srgbClr val="F39C12"/>
                </a:solidFill>
              </a:rPr>
              <a:t>82%</a:t>
            </a:r>
          </a:p>
          <a:p>
            <a:r>
              <a:rPr lang="pl-PL" dirty="0">
                <a:solidFill>
                  <a:srgbClr val="003766"/>
                </a:solidFill>
              </a:rPr>
              <a:t>Receptory: ER+ PR± HER2-/+</a:t>
            </a:r>
          </a:p>
          <a:p>
            <a:r>
              <a:rPr lang="pl-PL" b="1" dirty="0">
                <a:solidFill>
                  <a:srgbClr val="003766"/>
                </a:solidFill>
              </a:rPr>
              <a:t>Wysoka proliferacja (Ki-67)</a:t>
            </a:r>
          </a:p>
        </p:txBody>
      </p:sp>
      <p:sp>
        <p:nvSpPr>
          <p:cNvPr id="10" name="Prostokąt 9">
            <a:extLst>
              <a:ext uri="{FF2B5EF4-FFF2-40B4-BE49-F238E27FC236}">
                <a16:creationId xmlns:a16="http://schemas.microsoft.com/office/drawing/2014/main" id="{4FAF9BA0-8A82-C750-30EB-3116406C171A}"/>
              </a:ext>
            </a:extLst>
          </p:cNvPr>
          <p:cNvSpPr/>
          <p:nvPr/>
        </p:nvSpPr>
        <p:spPr>
          <a:xfrm>
            <a:off x="295276" y="3724273"/>
            <a:ext cx="2867024" cy="1476375"/>
          </a:xfrm>
          <a:prstGeom prst="rect">
            <a:avLst/>
          </a:prstGeom>
          <a:solidFill>
            <a:schemeClr val="bg1">
              <a:alpha val="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l-PL" b="1" dirty="0">
                <a:solidFill>
                  <a:srgbClr val="3498DB"/>
                </a:solidFill>
              </a:rPr>
              <a:t>HER2-ENRICHED</a:t>
            </a:r>
          </a:p>
          <a:p>
            <a:r>
              <a:rPr lang="pl-PL" dirty="0">
                <a:solidFill>
                  <a:srgbClr val="003766"/>
                </a:solidFill>
              </a:rPr>
              <a:t>5-letnie przeżycie:</a:t>
            </a:r>
            <a:r>
              <a:rPr lang="pl-PL" b="1" dirty="0">
                <a:solidFill>
                  <a:srgbClr val="003766"/>
                </a:solidFill>
              </a:rPr>
              <a:t> </a:t>
            </a:r>
            <a:r>
              <a:rPr lang="pl-PL" b="1" dirty="0">
                <a:solidFill>
                  <a:srgbClr val="3498DB"/>
                </a:solidFill>
              </a:rPr>
              <a:t>65%</a:t>
            </a:r>
          </a:p>
          <a:p>
            <a:r>
              <a:rPr lang="pl-PL" dirty="0">
                <a:solidFill>
                  <a:srgbClr val="003766"/>
                </a:solidFill>
              </a:rPr>
              <a:t>Receptory: HER2+</a:t>
            </a:r>
          </a:p>
          <a:p>
            <a:r>
              <a:rPr lang="pl-PL" b="1" dirty="0">
                <a:solidFill>
                  <a:srgbClr val="003766"/>
                </a:solidFill>
              </a:rPr>
              <a:t>Trastuzumab to rozwiązał</a:t>
            </a:r>
            <a:endParaRPr lang="en-US" b="1" dirty="0">
              <a:solidFill>
                <a:srgbClr val="003766"/>
              </a:solidFill>
            </a:endParaRPr>
          </a:p>
        </p:txBody>
      </p:sp>
      <p:sp>
        <p:nvSpPr>
          <p:cNvPr id="12" name="Prostokąt 11">
            <a:extLst>
              <a:ext uri="{FF2B5EF4-FFF2-40B4-BE49-F238E27FC236}">
                <a16:creationId xmlns:a16="http://schemas.microsoft.com/office/drawing/2014/main" id="{715DF3BB-116B-91E4-D2A6-8B444F8DE181}"/>
              </a:ext>
            </a:extLst>
          </p:cNvPr>
          <p:cNvSpPr/>
          <p:nvPr/>
        </p:nvSpPr>
        <p:spPr>
          <a:xfrm>
            <a:off x="3336924" y="3724274"/>
            <a:ext cx="3057525" cy="1476375"/>
          </a:xfrm>
          <a:prstGeom prst="rect">
            <a:avLst/>
          </a:prstGeom>
          <a:solidFill>
            <a:schemeClr val="bg1">
              <a:alpha val="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E74C3C"/>
                </a:solidFill>
              </a:rPr>
              <a:t>BASAL-LIKE (TNBC)</a:t>
            </a:r>
          </a:p>
          <a:p>
            <a:r>
              <a:rPr lang="pl-PL" dirty="0">
                <a:solidFill>
                  <a:srgbClr val="003766"/>
                </a:solidFill>
              </a:rPr>
              <a:t>5-letnie przeżycie: </a:t>
            </a:r>
            <a:r>
              <a:rPr lang="pl-PL" b="1" dirty="0">
                <a:solidFill>
                  <a:srgbClr val="E74C3C"/>
                </a:solidFill>
              </a:rPr>
              <a:t>28%</a:t>
            </a:r>
          </a:p>
          <a:p>
            <a:r>
              <a:rPr lang="pl-PL" dirty="0">
                <a:solidFill>
                  <a:srgbClr val="003766"/>
                </a:solidFill>
              </a:rPr>
              <a:t>Receptory: ER- PR- HER2-</a:t>
            </a:r>
          </a:p>
          <a:p>
            <a:r>
              <a:rPr lang="en-US" b="1" dirty="0">
                <a:solidFill>
                  <a:srgbClr val="003766"/>
                </a:solidFill>
              </a:rPr>
              <a:t>Brak celu terapeutycznego</a:t>
            </a:r>
            <a:r>
              <a:rPr lang="pl-PL" b="1" dirty="0">
                <a:solidFill>
                  <a:srgbClr val="003766"/>
                </a:solidFill>
              </a:rPr>
              <a:t> </a:t>
            </a:r>
            <a:r>
              <a:rPr lang="en-US" b="1" dirty="0">
                <a:solidFill>
                  <a:srgbClr val="003766"/>
                </a:solidFill>
              </a:rPr>
              <a:t>(tylko chemioterapia)</a:t>
            </a:r>
            <a:endParaRPr lang="pl-PL" b="1" dirty="0">
              <a:solidFill>
                <a:srgbClr val="003766"/>
              </a:solidFill>
            </a:endParaRPr>
          </a:p>
        </p:txBody>
      </p:sp>
      <p:sp>
        <p:nvSpPr>
          <p:cNvPr id="13" name="Prostokąt 12">
            <a:extLst>
              <a:ext uri="{FF2B5EF4-FFF2-40B4-BE49-F238E27FC236}">
                <a16:creationId xmlns:a16="http://schemas.microsoft.com/office/drawing/2014/main" id="{EC1153AD-5DF7-454A-ADD6-C23CA40F1D72}"/>
              </a:ext>
            </a:extLst>
          </p:cNvPr>
          <p:cNvSpPr/>
          <p:nvPr/>
        </p:nvSpPr>
        <p:spPr>
          <a:xfrm>
            <a:off x="6769585" y="2171700"/>
            <a:ext cx="4917590" cy="3028948"/>
          </a:xfrm>
          <a:prstGeom prst="rect">
            <a:avLst/>
          </a:prstGeom>
          <a:solidFill>
            <a:schemeClr val="bg1">
              <a:alpha val="6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>
                <a:solidFill>
                  <a:srgbClr val="003766"/>
                </a:solidFill>
              </a:rPr>
              <a:t>Dlaczego Basal-like jest taki zły?</a:t>
            </a:r>
          </a:p>
          <a:p>
            <a:pPr algn="ctr"/>
            <a:endParaRPr lang="pl-PL" dirty="0">
              <a:solidFill>
                <a:srgbClr val="003766"/>
              </a:solidFill>
            </a:endParaRPr>
          </a:p>
          <a:p>
            <a:pPr algn="ctr"/>
            <a:r>
              <a:rPr lang="pl-PL" dirty="0">
                <a:solidFill>
                  <a:srgbClr val="003766"/>
                </a:solidFill>
              </a:rPr>
              <a:t>Hipoteza #1 (stara):</a:t>
            </a:r>
          </a:p>
          <a:p>
            <a:pPr algn="ctr"/>
            <a:r>
              <a:rPr lang="pl-PL" b="1" i="1" dirty="0">
                <a:solidFill>
                  <a:srgbClr val="003766"/>
                </a:solidFill>
              </a:rPr>
              <a:t>"Brak receptorów = guz pasywny</a:t>
            </a:r>
            <a:r>
              <a:rPr lang="pl-PL" i="1" dirty="0">
                <a:solidFill>
                  <a:srgbClr val="003766"/>
                </a:solidFill>
              </a:rPr>
              <a:t>"</a:t>
            </a:r>
          </a:p>
          <a:p>
            <a:pPr algn="ctr"/>
            <a:endParaRPr lang="pl-PL" i="1" dirty="0">
              <a:solidFill>
                <a:srgbClr val="003766"/>
              </a:solidFill>
            </a:endParaRPr>
          </a:p>
          <a:p>
            <a:pPr algn="ctr"/>
            <a:r>
              <a:rPr lang="pl-PL" dirty="0">
                <a:solidFill>
                  <a:srgbClr val="003766"/>
                </a:solidFill>
              </a:rPr>
              <a:t>Hipoteza #2 (nasza):</a:t>
            </a:r>
          </a:p>
          <a:p>
            <a:pPr algn="ctr"/>
            <a:r>
              <a:rPr lang="pl-PL" b="1" i="1" dirty="0">
                <a:solidFill>
                  <a:srgbClr val="003766"/>
                </a:solidFill>
              </a:rPr>
              <a:t>"Aktywna supresja receptorów</a:t>
            </a:r>
          </a:p>
          <a:p>
            <a:pPr algn="ctr"/>
            <a:r>
              <a:rPr lang="pl-PL" b="1" i="1" dirty="0">
                <a:solidFill>
                  <a:srgbClr val="003766"/>
                </a:solidFill>
              </a:rPr>
              <a:t> przez miRNA"</a:t>
            </a:r>
          </a:p>
          <a:p>
            <a:pPr algn="ctr"/>
            <a:endParaRPr lang="pl-PL" dirty="0">
              <a:solidFill>
                <a:srgbClr val="003766"/>
              </a:solidFill>
            </a:endParaRPr>
          </a:p>
          <a:p>
            <a:pPr algn="ctr"/>
            <a:r>
              <a:rPr lang="pl-PL" sz="2000" b="1" dirty="0">
                <a:solidFill>
                  <a:srgbClr val="00B0F0"/>
                </a:solidFill>
              </a:rPr>
              <a:t>To jest nasz projekt!</a:t>
            </a:r>
            <a:endParaRPr lang="en-US" sz="2000" b="1" dirty="0">
              <a:solidFill>
                <a:srgbClr val="00B0F0"/>
              </a:solidFill>
            </a:endParaRPr>
          </a:p>
        </p:txBody>
      </p:sp>
      <p:sp>
        <p:nvSpPr>
          <p:cNvPr id="15" name="Prostokąt 14">
            <a:extLst>
              <a:ext uri="{FF2B5EF4-FFF2-40B4-BE49-F238E27FC236}">
                <a16:creationId xmlns:a16="http://schemas.microsoft.com/office/drawing/2014/main" id="{F70CC01B-D250-913C-2A76-46749A2590ED}"/>
              </a:ext>
            </a:extLst>
          </p:cNvPr>
          <p:cNvSpPr/>
          <p:nvPr/>
        </p:nvSpPr>
        <p:spPr>
          <a:xfrm>
            <a:off x="295276" y="5638799"/>
            <a:ext cx="11035333" cy="801757"/>
          </a:xfrm>
          <a:prstGeom prst="rect">
            <a:avLst/>
          </a:prstGeom>
          <a:solidFill>
            <a:schemeClr val="bg1">
              <a:alpha val="6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b="1" dirty="0">
                <a:solidFill>
                  <a:srgbClr val="E74C3C"/>
                </a:solidFill>
              </a:rPr>
              <a:t>28%</a:t>
            </a:r>
            <a:r>
              <a:rPr lang="pl-PL" b="1" dirty="0">
                <a:solidFill>
                  <a:srgbClr val="003766"/>
                </a:solidFill>
              </a:rPr>
              <a:t> kobiet z TNBC żyje 5 lat</a:t>
            </a:r>
          </a:p>
          <a:p>
            <a:pPr algn="ctr"/>
            <a:r>
              <a:rPr lang="pl-PL" b="1" dirty="0">
                <a:solidFill>
                  <a:srgbClr val="2ECC71"/>
                </a:solidFill>
              </a:rPr>
              <a:t>92% </a:t>
            </a:r>
            <a:r>
              <a:rPr lang="pl-PL" b="1" dirty="0">
                <a:solidFill>
                  <a:srgbClr val="003766"/>
                </a:solidFill>
              </a:rPr>
              <a:t>kobiet z Luminal A żyje 5 lat</a:t>
            </a:r>
          </a:p>
        </p:txBody>
      </p:sp>
    </p:spTree>
    <p:extLst>
      <p:ext uri="{BB962C8B-B14F-4D97-AF65-F5344CB8AC3E}">
        <p14:creationId xmlns:p14="http://schemas.microsoft.com/office/powerpoint/2010/main" val="240984866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9738B88-3C9E-334E-C76D-CF3A7D99D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9105" y="420782"/>
            <a:ext cx="6952586" cy="1199821"/>
          </a:xfrm>
        </p:spPr>
        <p:txBody>
          <a:bodyPr>
            <a:noAutofit/>
          </a:bodyPr>
          <a:lstStyle/>
          <a:p>
            <a:r>
              <a:rPr lang="pl-PL" sz="2800" b="1" i="0" dirty="0">
                <a:solidFill>
                  <a:schemeClr val="accent1">
                    <a:lumMod val="50000"/>
                  </a:schemeClr>
                </a:solidFill>
                <a:effectLst/>
              </a:rPr>
              <a:t>Dlaczego musimy patrzeć poniżej transkryptomu? </a:t>
            </a:r>
            <a:br>
              <a:rPr lang="pl-PL" sz="2800" b="1" i="0" dirty="0">
                <a:solidFill>
                  <a:schemeClr val="accent1">
                    <a:lumMod val="50000"/>
                  </a:schemeClr>
                </a:solidFill>
                <a:effectLst/>
              </a:rPr>
            </a:br>
            <a:r>
              <a:rPr lang="pl-PL" sz="2800" b="1" i="0" dirty="0">
                <a:solidFill>
                  <a:schemeClr val="accent1">
                    <a:lumMod val="50000"/>
                  </a:schemeClr>
                </a:solidFill>
                <a:effectLst/>
              </a:rPr>
              <a:t>(DNA → RNA ≠ RNA → Białko)</a:t>
            </a:r>
            <a:endParaRPr lang="pl-PL" sz="28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1" name="Symbol zastępczy zawartości 10" descr="Obraz zawierający zrzut ekranu, Czcionka, Grafika, tekst&#10;&#10;Opis wygenerowany automatycznie">
            <a:extLst>
              <a:ext uri="{FF2B5EF4-FFF2-40B4-BE49-F238E27FC236}">
                <a16:creationId xmlns:a16="http://schemas.microsoft.com/office/drawing/2014/main" id="{46D80C71-A10F-D7AA-EE52-6D9F4EDE7A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-479626" y="-1154976"/>
            <a:ext cx="6150378" cy="4351338"/>
          </a:xfrm>
        </p:spPr>
      </p:pic>
      <p:cxnSp>
        <p:nvCxnSpPr>
          <p:cNvPr id="14" name="Łącznik prosty 13">
            <a:extLst>
              <a:ext uri="{FF2B5EF4-FFF2-40B4-BE49-F238E27FC236}">
                <a16:creationId xmlns:a16="http://schemas.microsoft.com/office/drawing/2014/main" id="{F4B14A33-E755-D357-DC4E-5CF0312101D4}"/>
              </a:ext>
            </a:extLst>
          </p:cNvPr>
          <p:cNvCxnSpPr/>
          <p:nvPr/>
        </p:nvCxnSpPr>
        <p:spPr>
          <a:xfrm>
            <a:off x="5249917" y="630621"/>
            <a:ext cx="0" cy="709448"/>
          </a:xfrm>
          <a:prstGeom prst="line">
            <a:avLst/>
          </a:prstGeom>
          <a:ln>
            <a:solidFill>
              <a:srgbClr val="00376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rostokąt 2">
            <a:extLst>
              <a:ext uri="{FF2B5EF4-FFF2-40B4-BE49-F238E27FC236}">
                <a16:creationId xmlns:a16="http://schemas.microsoft.com/office/drawing/2014/main" id="{D9E38B5D-EB66-17B4-4235-4D1BC58FD4F9}"/>
              </a:ext>
            </a:extLst>
          </p:cNvPr>
          <p:cNvSpPr/>
          <p:nvPr/>
        </p:nvSpPr>
        <p:spPr>
          <a:xfrm>
            <a:off x="1143330" y="2299296"/>
            <a:ext cx="4295775" cy="3305175"/>
          </a:xfrm>
          <a:prstGeom prst="rect">
            <a:avLst/>
          </a:prstGeom>
          <a:solidFill>
            <a:schemeClr val="bg1">
              <a:alpha val="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rgbClr val="003766"/>
                </a:solidFill>
              </a:rPr>
              <a:t>Klasyczne podejście (mRNA only):</a:t>
            </a:r>
          </a:p>
          <a:p>
            <a:pPr algn="ctr"/>
            <a:endParaRPr lang="pl-PL" sz="1400" dirty="0">
              <a:solidFill>
                <a:srgbClr val="003766"/>
              </a:solidFill>
            </a:endParaRPr>
          </a:p>
          <a:p>
            <a:pPr algn="ctr"/>
            <a:r>
              <a:rPr lang="en-US" sz="1600" b="1" dirty="0">
                <a:solidFill>
                  <a:srgbClr val="003766"/>
                </a:solidFill>
              </a:rPr>
              <a:t>DNA ──</a:t>
            </a:r>
            <a:r>
              <a:rPr lang="pl-PL" sz="1600" b="1" dirty="0">
                <a:solidFill>
                  <a:srgbClr val="003766"/>
                </a:solidFill>
              </a:rPr>
              <a:t>  </a:t>
            </a:r>
            <a:r>
              <a:rPr lang="en-US" sz="1600" b="1" dirty="0">
                <a:solidFill>
                  <a:srgbClr val="003766"/>
                </a:solidFill>
              </a:rPr>
              <a:t>transcription</a:t>
            </a:r>
            <a:endParaRPr lang="pl-PL" sz="1600" b="1" dirty="0">
              <a:solidFill>
                <a:srgbClr val="003766"/>
              </a:solidFill>
            </a:endParaRPr>
          </a:p>
          <a:p>
            <a:pPr algn="ctr"/>
            <a:r>
              <a:rPr lang="en-US" sz="1600" b="1" dirty="0">
                <a:solidFill>
                  <a:srgbClr val="003766"/>
                </a:solidFill>
              </a:rPr>
              <a:t>↓</a:t>
            </a:r>
          </a:p>
          <a:p>
            <a:pPr algn="ctr"/>
            <a:r>
              <a:rPr lang="en-US" sz="1600" b="1" dirty="0">
                <a:solidFill>
                  <a:srgbClr val="003766"/>
                </a:solidFill>
              </a:rPr>
              <a:t>mRNA</a:t>
            </a:r>
            <a:endParaRPr lang="pl-PL" sz="1600" b="1" dirty="0">
              <a:solidFill>
                <a:srgbClr val="003766"/>
              </a:solidFill>
            </a:endParaRPr>
          </a:p>
          <a:p>
            <a:pPr algn="ctr"/>
            <a:r>
              <a:rPr lang="en-US" sz="1600" b="1" dirty="0">
                <a:solidFill>
                  <a:srgbClr val="003766"/>
                </a:solidFill>
              </a:rPr>
              <a:t>↓</a:t>
            </a:r>
          </a:p>
          <a:p>
            <a:pPr algn="ctr"/>
            <a:r>
              <a:rPr lang="en-US" sz="1600" b="1" dirty="0">
                <a:solidFill>
                  <a:srgbClr val="003766"/>
                </a:solidFill>
              </a:rPr>
              <a:t>Protein </a:t>
            </a:r>
          </a:p>
          <a:p>
            <a:endParaRPr lang="en-US" sz="1400" dirty="0">
              <a:solidFill>
                <a:srgbClr val="003766"/>
              </a:solidFill>
            </a:endParaRPr>
          </a:p>
          <a:p>
            <a:r>
              <a:rPr lang="en-US" sz="1400" dirty="0">
                <a:solidFill>
                  <a:srgbClr val="003766"/>
                </a:solidFill>
              </a:rPr>
              <a:t>BŁĄD: Zakładamy</a:t>
            </a:r>
          </a:p>
          <a:p>
            <a:r>
              <a:rPr lang="en-US" sz="1400" dirty="0">
                <a:solidFill>
                  <a:srgbClr val="003766"/>
                </a:solidFill>
              </a:rPr>
              <a:t>mRNA = Protein</a:t>
            </a:r>
          </a:p>
          <a:p>
            <a:endParaRPr lang="en-US" sz="1400" dirty="0">
              <a:solidFill>
                <a:srgbClr val="003766"/>
              </a:solidFill>
            </a:endParaRPr>
          </a:p>
          <a:p>
            <a:r>
              <a:rPr lang="en-US" sz="1400" dirty="0">
                <a:solidFill>
                  <a:srgbClr val="003766"/>
                </a:solidFill>
              </a:rPr>
              <a:t>RZECZYWISTOŚĆ:</a:t>
            </a:r>
          </a:p>
          <a:p>
            <a:r>
              <a:rPr lang="en-US" sz="1400" dirty="0">
                <a:solidFill>
                  <a:srgbClr val="003766"/>
                </a:solidFill>
              </a:rPr>
              <a:t>Spearman </a:t>
            </a:r>
            <a:r>
              <a:rPr lang="el-GR" sz="1400" dirty="0">
                <a:solidFill>
                  <a:srgbClr val="003766"/>
                </a:solidFill>
              </a:rPr>
              <a:t>ρ (</a:t>
            </a:r>
            <a:r>
              <a:rPr lang="en-US" sz="1400" dirty="0">
                <a:solidFill>
                  <a:srgbClr val="003766"/>
                </a:solidFill>
              </a:rPr>
              <a:t>mRNA vs Protein) = 0.3-0.4</a:t>
            </a:r>
          </a:p>
          <a:p>
            <a:r>
              <a:rPr lang="en-US" sz="1400" dirty="0">
                <a:solidFill>
                  <a:srgbClr val="003766"/>
                </a:solidFill>
              </a:rPr>
              <a:t>70% wariancji białka nie wyjaśnia się mRNA!</a:t>
            </a:r>
          </a:p>
        </p:txBody>
      </p:sp>
      <p:sp>
        <p:nvSpPr>
          <p:cNvPr id="4" name="Prostokąt 3">
            <a:extLst>
              <a:ext uri="{FF2B5EF4-FFF2-40B4-BE49-F238E27FC236}">
                <a16:creationId xmlns:a16="http://schemas.microsoft.com/office/drawing/2014/main" id="{9A11D0FC-C4FD-A30C-76B1-64C4FB4F4F57}"/>
              </a:ext>
            </a:extLst>
          </p:cNvPr>
          <p:cNvSpPr/>
          <p:nvPr/>
        </p:nvSpPr>
        <p:spPr>
          <a:xfrm>
            <a:off x="6331128" y="2299297"/>
            <a:ext cx="4295775" cy="3305174"/>
          </a:xfrm>
          <a:prstGeom prst="rect">
            <a:avLst/>
          </a:prstGeom>
          <a:solidFill>
            <a:schemeClr val="bg1">
              <a:alpha val="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rgbClr val="003766"/>
                </a:solidFill>
              </a:rPr>
              <a:t>Nasz model (Post-transcriptional):</a:t>
            </a:r>
          </a:p>
          <a:p>
            <a:pPr algn="ctr"/>
            <a:endParaRPr lang="en-US" sz="1400" dirty="0">
              <a:solidFill>
                <a:srgbClr val="003766"/>
              </a:solidFill>
            </a:endParaRPr>
          </a:p>
          <a:p>
            <a:pPr algn="ctr"/>
            <a:r>
              <a:rPr lang="en-US" sz="1600" b="1" dirty="0">
                <a:solidFill>
                  <a:srgbClr val="003766"/>
                </a:solidFill>
              </a:rPr>
              <a:t>DNA ──transcription</a:t>
            </a:r>
            <a:endParaRPr lang="pl-PL" sz="1600" b="1" dirty="0">
              <a:solidFill>
                <a:srgbClr val="003766"/>
              </a:solidFill>
            </a:endParaRPr>
          </a:p>
          <a:p>
            <a:pPr algn="ctr"/>
            <a:r>
              <a:rPr lang="en-US" sz="1600" b="1" dirty="0">
                <a:solidFill>
                  <a:srgbClr val="003766"/>
                </a:solidFill>
              </a:rPr>
              <a:t>↓</a:t>
            </a:r>
          </a:p>
          <a:p>
            <a:pPr algn="ctr"/>
            <a:r>
              <a:rPr lang="en-US" sz="1600" b="1" dirty="0">
                <a:solidFill>
                  <a:srgbClr val="003766"/>
                </a:solidFill>
              </a:rPr>
              <a:t>mRNA</a:t>
            </a:r>
          </a:p>
          <a:p>
            <a:pPr algn="ctr"/>
            <a:r>
              <a:rPr lang="en-US" sz="1600" b="1" dirty="0">
                <a:solidFill>
                  <a:srgbClr val="003766"/>
                </a:solidFill>
              </a:rPr>
              <a:t>↓</a:t>
            </a:r>
          </a:p>
          <a:p>
            <a:pPr algn="ctr"/>
            <a:r>
              <a:rPr lang="en-US" sz="1600" b="1" dirty="0">
                <a:solidFill>
                  <a:srgbClr val="003766"/>
                </a:solidFill>
              </a:rPr>
              <a:t>miRNA (MISSING LAYER)</a:t>
            </a:r>
          </a:p>
          <a:p>
            <a:pPr algn="ctr"/>
            <a:r>
              <a:rPr lang="en-US" sz="1600" b="1" dirty="0">
                <a:solidFill>
                  <a:srgbClr val="003766"/>
                </a:solidFill>
              </a:rPr>
              <a:t>    (miR-17, miR-20a, miR-210)</a:t>
            </a:r>
          </a:p>
          <a:p>
            <a:pPr algn="ctr"/>
            <a:r>
              <a:rPr lang="en-US" sz="1600" b="1" dirty="0">
                <a:solidFill>
                  <a:srgbClr val="003766"/>
                </a:solidFill>
              </a:rPr>
              <a:t>↓</a:t>
            </a:r>
            <a:endParaRPr lang="pl-PL" sz="1600" b="1" dirty="0">
              <a:solidFill>
                <a:srgbClr val="003766"/>
              </a:solidFill>
            </a:endParaRPr>
          </a:p>
          <a:p>
            <a:pPr algn="ctr"/>
            <a:r>
              <a:rPr lang="en-US" sz="1600" b="1" dirty="0">
                <a:solidFill>
                  <a:srgbClr val="003766"/>
                </a:solidFill>
              </a:rPr>
              <a:t>Protein</a:t>
            </a:r>
          </a:p>
          <a:p>
            <a:endParaRPr lang="pl-PL" sz="1400" dirty="0">
              <a:solidFill>
                <a:srgbClr val="003766"/>
              </a:solidFill>
            </a:endParaRPr>
          </a:p>
          <a:p>
            <a:endParaRPr lang="en-US" sz="1400" dirty="0">
              <a:solidFill>
                <a:srgbClr val="003766"/>
              </a:solidFill>
            </a:endParaRPr>
          </a:p>
          <a:p>
            <a:r>
              <a:rPr lang="en-US" sz="1400" dirty="0">
                <a:solidFill>
                  <a:srgbClr val="003766"/>
                </a:solidFill>
              </a:rPr>
              <a:t>ESR1 protein pada mimo</a:t>
            </a:r>
            <a:r>
              <a:rPr lang="pl-PL" sz="1400" dirty="0">
                <a:solidFill>
                  <a:srgbClr val="003766"/>
                </a:solidFill>
              </a:rPr>
              <a:t>,</a:t>
            </a:r>
            <a:r>
              <a:rPr lang="en-US" sz="1400" dirty="0">
                <a:solidFill>
                  <a:srgbClr val="003766"/>
                </a:solidFill>
              </a:rPr>
              <a:t> że ESR1 mRNA jest!</a:t>
            </a:r>
          </a:p>
          <a:p>
            <a:r>
              <a:rPr lang="en-US" sz="1400" dirty="0">
                <a:solidFill>
                  <a:srgbClr val="003766"/>
                </a:solidFill>
              </a:rPr>
              <a:t>To wyjaśnia fenotyp "receptor-null"</a:t>
            </a:r>
          </a:p>
        </p:txBody>
      </p:sp>
    </p:spTree>
    <p:extLst>
      <p:ext uri="{BB962C8B-B14F-4D97-AF65-F5344CB8AC3E}">
        <p14:creationId xmlns:p14="http://schemas.microsoft.com/office/powerpoint/2010/main" val="213109383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509B3-8FDF-4C3A-5F9E-4F362D3BA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96E19C6-4AA3-FC4F-650D-90C48136B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9105" y="420782"/>
            <a:ext cx="6952586" cy="1199821"/>
          </a:xfrm>
        </p:spPr>
        <p:txBody>
          <a:bodyPr>
            <a:noAutofit/>
          </a:bodyPr>
          <a:lstStyle/>
          <a:p>
            <a:r>
              <a:rPr lang="pl-PL" sz="2800" b="1" i="0" dirty="0">
                <a:solidFill>
                  <a:schemeClr val="accent1">
                    <a:lumMod val="50000"/>
                  </a:schemeClr>
                </a:solidFill>
                <a:effectLst/>
              </a:rPr>
              <a:t>Dlaczego musimy patrzeć poniżej transkryptomu? </a:t>
            </a:r>
            <a:br>
              <a:rPr lang="pl-PL" sz="2800" b="1" i="0" dirty="0">
                <a:solidFill>
                  <a:schemeClr val="accent1">
                    <a:lumMod val="50000"/>
                  </a:schemeClr>
                </a:solidFill>
                <a:effectLst/>
              </a:rPr>
            </a:br>
            <a:r>
              <a:rPr lang="pl-PL" sz="2800" b="1" i="0" dirty="0">
                <a:solidFill>
                  <a:schemeClr val="accent1">
                    <a:lumMod val="50000"/>
                  </a:schemeClr>
                </a:solidFill>
                <a:effectLst/>
              </a:rPr>
              <a:t>(DNA → RNA ≠ RNA → Białko)</a:t>
            </a:r>
            <a:endParaRPr lang="pl-PL" sz="28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1" name="Symbol zastępczy zawartości 10" descr="Obraz zawierający zrzut ekranu, Czcionka, Grafika, tekst&#10;&#10;Opis wygenerowany automatycznie">
            <a:extLst>
              <a:ext uri="{FF2B5EF4-FFF2-40B4-BE49-F238E27FC236}">
                <a16:creationId xmlns:a16="http://schemas.microsoft.com/office/drawing/2014/main" id="{BB526FFA-C830-9FE2-50DE-46C6655890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-479626" y="-1154976"/>
            <a:ext cx="6150378" cy="4351338"/>
          </a:xfrm>
        </p:spPr>
      </p:pic>
      <p:cxnSp>
        <p:nvCxnSpPr>
          <p:cNvPr id="14" name="Łącznik prosty 13">
            <a:extLst>
              <a:ext uri="{FF2B5EF4-FFF2-40B4-BE49-F238E27FC236}">
                <a16:creationId xmlns:a16="http://schemas.microsoft.com/office/drawing/2014/main" id="{5C648531-60CF-AB4F-8C68-3CDA70969D8F}"/>
              </a:ext>
            </a:extLst>
          </p:cNvPr>
          <p:cNvCxnSpPr/>
          <p:nvPr/>
        </p:nvCxnSpPr>
        <p:spPr>
          <a:xfrm>
            <a:off x="5249917" y="630621"/>
            <a:ext cx="0" cy="709448"/>
          </a:xfrm>
          <a:prstGeom prst="line">
            <a:avLst/>
          </a:prstGeom>
          <a:ln>
            <a:solidFill>
              <a:srgbClr val="00376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Prostokąt 3">
            <a:extLst>
              <a:ext uri="{FF2B5EF4-FFF2-40B4-BE49-F238E27FC236}">
                <a16:creationId xmlns:a16="http://schemas.microsoft.com/office/drawing/2014/main" id="{47406D56-C680-3A64-0286-856803D01B62}"/>
              </a:ext>
            </a:extLst>
          </p:cNvPr>
          <p:cNvSpPr/>
          <p:nvPr/>
        </p:nvSpPr>
        <p:spPr>
          <a:xfrm>
            <a:off x="1070902" y="2416991"/>
            <a:ext cx="4295775" cy="3305174"/>
          </a:xfrm>
          <a:prstGeom prst="rect">
            <a:avLst/>
          </a:prstGeom>
          <a:solidFill>
            <a:schemeClr val="bg1">
              <a:alpha val="6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rgbClr val="003766"/>
                </a:solidFill>
              </a:rPr>
              <a:t>Nasz model (Post-transcriptional):</a:t>
            </a:r>
          </a:p>
          <a:p>
            <a:pPr algn="ctr"/>
            <a:endParaRPr lang="en-US" sz="1400" dirty="0">
              <a:solidFill>
                <a:srgbClr val="003766"/>
              </a:solidFill>
            </a:endParaRPr>
          </a:p>
          <a:p>
            <a:pPr algn="ctr"/>
            <a:r>
              <a:rPr lang="en-US" sz="1600" b="1" dirty="0">
                <a:solidFill>
                  <a:srgbClr val="003766"/>
                </a:solidFill>
              </a:rPr>
              <a:t>DNA ──transcription</a:t>
            </a:r>
            <a:endParaRPr lang="pl-PL" sz="1600" b="1" dirty="0">
              <a:solidFill>
                <a:srgbClr val="003766"/>
              </a:solidFill>
            </a:endParaRPr>
          </a:p>
          <a:p>
            <a:pPr algn="ctr"/>
            <a:r>
              <a:rPr lang="en-US" sz="1600" b="1" dirty="0">
                <a:solidFill>
                  <a:srgbClr val="003766"/>
                </a:solidFill>
              </a:rPr>
              <a:t>↓</a:t>
            </a:r>
          </a:p>
          <a:p>
            <a:pPr algn="ctr"/>
            <a:r>
              <a:rPr lang="en-US" sz="1600" b="1" dirty="0">
                <a:solidFill>
                  <a:srgbClr val="003766"/>
                </a:solidFill>
              </a:rPr>
              <a:t>mRNA</a:t>
            </a:r>
          </a:p>
          <a:p>
            <a:pPr algn="ctr"/>
            <a:r>
              <a:rPr lang="en-US" sz="1600" b="1" dirty="0">
                <a:solidFill>
                  <a:srgbClr val="003766"/>
                </a:solidFill>
              </a:rPr>
              <a:t>↓</a:t>
            </a:r>
          </a:p>
          <a:p>
            <a:pPr algn="ctr"/>
            <a:r>
              <a:rPr lang="en-US" sz="1600" b="1" dirty="0">
                <a:solidFill>
                  <a:srgbClr val="003766"/>
                </a:solidFill>
              </a:rPr>
              <a:t>miRNA (MISSING LAYER)</a:t>
            </a:r>
          </a:p>
          <a:p>
            <a:pPr algn="ctr"/>
            <a:r>
              <a:rPr lang="en-US" sz="1600" b="1" dirty="0">
                <a:solidFill>
                  <a:srgbClr val="003766"/>
                </a:solidFill>
              </a:rPr>
              <a:t>    (miR-17, miR-20a, miR-210)</a:t>
            </a:r>
          </a:p>
          <a:p>
            <a:pPr algn="ctr"/>
            <a:r>
              <a:rPr lang="en-US" sz="1600" b="1" dirty="0">
                <a:solidFill>
                  <a:srgbClr val="003766"/>
                </a:solidFill>
              </a:rPr>
              <a:t>↓</a:t>
            </a:r>
            <a:endParaRPr lang="pl-PL" sz="1600" b="1" dirty="0">
              <a:solidFill>
                <a:srgbClr val="003766"/>
              </a:solidFill>
            </a:endParaRPr>
          </a:p>
          <a:p>
            <a:pPr algn="ctr"/>
            <a:r>
              <a:rPr lang="en-US" sz="1600" b="1" dirty="0">
                <a:solidFill>
                  <a:srgbClr val="003766"/>
                </a:solidFill>
              </a:rPr>
              <a:t>Protein</a:t>
            </a:r>
          </a:p>
          <a:p>
            <a:endParaRPr lang="pl-PL" sz="1400" dirty="0">
              <a:solidFill>
                <a:srgbClr val="003766"/>
              </a:solidFill>
            </a:endParaRPr>
          </a:p>
          <a:p>
            <a:endParaRPr lang="en-US" sz="1400" dirty="0">
              <a:solidFill>
                <a:srgbClr val="003766"/>
              </a:solidFill>
            </a:endParaRPr>
          </a:p>
          <a:p>
            <a:r>
              <a:rPr lang="en-US" sz="1400" dirty="0">
                <a:solidFill>
                  <a:srgbClr val="003766"/>
                </a:solidFill>
              </a:rPr>
              <a:t>ESR1 protein pada mimo</a:t>
            </a:r>
            <a:r>
              <a:rPr lang="pl-PL" sz="1400" dirty="0">
                <a:solidFill>
                  <a:srgbClr val="003766"/>
                </a:solidFill>
              </a:rPr>
              <a:t>,</a:t>
            </a:r>
            <a:r>
              <a:rPr lang="en-US" sz="1400" dirty="0">
                <a:solidFill>
                  <a:srgbClr val="003766"/>
                </a:solidFill>
              </a:rPr>
              <a:t> że ESR1 mRNA jest!</a:t>
            </a:r>
          </a:p>
          <a:p>
            <a:r>
              <a:rPr lang="en-US" sz="1400" dirty="0">
                <a:solidFill>
                  <a:srgbClr val="003766"/>
                </a:solidFill>
              </a:rPr>
              <a:t>To wyjaśnia fenotyp "receptor-null"</a:t>
            </a:r>
          </a:p>
        </p:txBody>
      </p:sp>
      <p:sp>
        <p:nvSpPr>
          <p:cNvPr id="5" name="Prostokąt 4">
            <a:extLst>
              <a:ext uri="{FF2B5EF4-FFF2-40B4-BE49-F238E27FC236}">
                <a16:creationId xmlns:a16="http://schemas.microsoft.com/office/drawing/2014/main" id="{781F4622-8B27-30F6-F3A3-96B47281F517}"/>
              </a:ext>
            </a:extLst>
          </p:cNvPr>
          <p:cNvSpPr/>
          <p:nvPr/>
        </p:nvSpPr>
        <p:spPr>
          <a:xfrm>
            <a:off x="6521250" y="2048593"/>
            <a:ext cx="4114799" cy="4041970"/>
          </a:xfrm>
          <a:prstGeom prst="rect">
            <a:avLst/>
          </a:prstGeom>
          <a:solidFill>
            <a:schemeClr val="bg1">
              <a:alpha val="6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rgbClr val="003766"/>
                </a:solidFill>
              </a:rPr>
              <a:t>DANE I METODY:</a:t>
            </a:r>
          </a:p>
          <a:p>
            <a:r>
              <a:rPr lang="en-US" sz="1600" dirty="0">
                <a:solidFill>
                  <a:srgbClr val="003766"/>
                </a:solidFill>
              </a:rPr>
              <a:t>Źródło: The Cancer Genome Atlas (TCGA)</a:t>
            </a:r>
          </a:p>
          <a:p>
            <a:r>
              <a:rPr lang="en-US" sz="1600" dirty="0">
                <a:solidFill>
                  <a:srgbClr val="003766"/>
                </a:solidFill>
              </a:rPr>
              <a:t>N = 1,217 próbek</a:t>
            </a:r>
          </a:p>
          <a:p>
            <a:endParaRPr lang="en-US" sz="1600" dirty="0">
              <a:solidFill>
                <a:srgbClr val="003766"/>
              </a:solidFill>
            </a:endParaRPr>
          </a:p>
          <a:p>
            <a:r>
              <a:rPr lang="en-US" sz="1600" dirty="0">
                <a:solidFill>
                  <a:srgbClr val="003766"/>
                </a:solidFill>
              </a:rPr>
              <a:t>3 warstwy danych:</a:t>
            </a:r>
          </a:p>
          <a:p>
            <a:r>
              <a:rPr lang="en-US" sz="1600" dirty="0">
                <a:solidFill>
                  <a:srgbClr val="003766"/>
                </a:solidFill>
              </a:rPr>
              <a:t>• RNA-seq (mRNA)</a:t>
            </a:r>
          </a:p>
          <a:p>
            <a:r>
              <a:rPr lang="en-US" sz="1600" dirty="0">
                <a:solidFill>
                  <a:srgbClr val="003766"/>
                </a:solidFill>
              </a:rPr>
              <a:t>• RPPA (białka)</a:t>
            </a:r>
          </a:p>
          <a:p>
            <a:r>
              <a:rPr lang="en-US" sz="1600" dirty="0">
                <a:solidFill>
                  <a:srgbClr val="003766"/>
                </a:solidFill>
              </a:rPr>
              <a:t>• miRNA-seq (regulatory RNA)</a:t>
            </a:r>
          </a:p>
          <a:p>
            <a:endParaRPr lang="en-US" sz="1600" dirty="0">
              <a:solidFill>
                <a:srgbClr val="003766"/>
              </a:solidFill>
            </a:endParaRPr>
          </a:p>
          <a:p>
            <a:r>
              <a:rPr lang="en-US" sz="1600" dirty="0">
                <a:solidFill>
                  <a:srgbClr val="003766"/>
                </a:solidFill>
              </a:rPr>
              <a:t>ANALIZA:</a:t>
            </a:r>
          </a:p>
          <a:p>
            <a:r>
              <a:rPr lang="en-US" sz="1600" dirty="0">
                <a:solidFill>
                  <a:srgbClr val="003766"/>
                </a:solidFill>
              </a:rPr>
              <a:t>→ Limma (DE analysis)</a:t>
            </a:r>
          </a:p>
          <a:p>
            <a:r>
              <a:rPr lang="en-US" sz="1600" dirty="0">
                <a:solidFill>
                  <a:srgbClr val="003766"/>
                </a:solidFill>
              </a:rPr>
              <a:t>→ Spearman (correlation)</a:t>
            </a:r>
          </a:p>
          <a:p>
            <a:r>
              <a:rPr lang="en-US" sz="1600" dirty="0">
                <a:solidFill>
                  <a:srgbClr val="003766"/>
                </a:solidFill>
              </a:rPr>
              <a:t>→ Consensus miRNA prediction</a:t>
            </a:r>
          </a:p>
          <a:p>
            <a:r>
              <a:rPr lang="en-US" sz="1600" dirty="0">
                <a:solidFill>
                  <a:srgbClr val="003766"/>
                </a:solidFill>
              </a:rPr>
              <a:t>→ Cox model (survival)</a:t>
            </a:r>
          </a:p>
          <a:p>
            <a:r>
              <a:rPr lang="en-US" sz="1600" dirty="0">
                <a:solidFill>
                  <a:srgbClr val="003766"/>
                </a:solidFill>
              </a:rPr>
              <a:t>→ Internal validation (70/30 split)</a:t>
            </a:r>
          </a:p>
        </p:txBody>
      </p:sp>
    </p:spTree>
    <p:extLst>
      <p:ext uri="{BB962C8B-B14F-4D97-AF65-F5344CB8AC3E}">
        <p14:creationId xmlns:p14="http://schemas.microsoft.com/office/powerpoint/2010/main" val="32118179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9738B88-3C9E-334E-C76D-CF3A7D99D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8467" y="420781"/>
            <a:ext cx="7178566" cy="1199821"/>
          </a:xfrm>
        </p:spPr>
        <p:txBody>
          <a:bodyPr>
            <a:normAutofit/>
          </a:bodyPr>
          <a:lstStyle/>
          <a:p>
            <a:r>
              <a:rPr lang="pl-PL" sz="2800" b="1" dirty="0" err="1">
                <a:solidFill>
                  <a:schemeClr val="accent1">
                    <a:lumMod val="50000"/>
                  </a:schemeClr>
                </a:solidFill>
              </a:rPr>
              <a:t>miRNA</a:t>
            </a:r>
            <a:r>
              <a:rPr lang="pl-PL" sz="2800" b="1" dirty="0">
                <a:solidFill>
                  <a:schemeClr val="accent1">
                    <a:lumMod val="50000"/>
                  </a:schemeClr>
                </a:solidFill>
              </a:rPr>
              <a:t>-zależna supresja osi FOXA1/ESR1 w TNBC</a:t>
            </a:r>
          </a:p>
        </p:txBody>
      </p:sp>
      <p:pic>
        <p:nvPicPr>
          <p:cNvPr id="11" name="Symbol zastępczy zawartości 10" descr="Obraz zawierający zrzut ekranu, Czcionka, Grafika, tekst&#10;&#10;Opis wygenerowany automatycznie">
            <a:extLst>
              <a:ext uri="{FF2B5EF4-FFF2-40B4-BE49-F238E27FC236}">
                <a16:creationId xmlns:a16="http://schemas.microsoft.com/office/drawing/2014/main" id="{46D80C71-A10F-D7AA-EE52-6D9F4EDE7A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-479626" y="-1154976"/>
            <a:ext cx="6150378" cy="4351338"/>
          </a:xfrm>
        </p:spPr>
      </p:pic>
      <p:cxnSp>
        <p:nvCxnSpPr>
          <p:cNvPr id="14" name="Łącznik prosty 13">
            <a:extLst>
              <a:ext uri="{FF2B5EF4-FFF2-40B4-BE49-F238E27FC236}">
                <a16:creationId xmlns:a16="http://schemas.microsoft.com/office/drawing/2014/main" id="{F4B14A33-E755-D357-DC4E-5CF0312101D4}"/>
              </a:ext>
            </a:extLst>
          </p:cNvPr>
          <p:cNvCxnSpPr/>
          <p:nvPr/>
        </p:nvCxnSpPr>
        <p:spPr>
          <a:xfrm>
            <a:off x="5078467" y="665968"/>
            <a:ext cx="0" cy="709448"/>
          </a:xfrm>
          <a:prstGeom prst="line">
            <a:avLst/>
          </a:prstGeom>
          <a:ln>
            <a:solidFill>
              <a:srgbClr val="00376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Obraz 7">
            <a:extLst>
              <a:ext uri="{FF2B5EF4-FFF2-40B4-BE49-F238E27FC236}">
                <a16:creationId xmlns:a16="http://schemas.microsoft.com/office/drawing/2014/main" id="{26F8F021-0F03-37A9-6FB9-6DFDDA3528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027371"/>
            <a:ext cx="4358048" cy="3268536"/>
          </a:xfrm>
          <a:prstGeom prst="rect">
            <a:avLst/>
          </a:prstGeom>
        </p:spPr>
      </p:pic>
      <p:sp>
        <p:nvSpPr>
          <p:cNvPr id="10" name="Prostokąt 9">
            <a:extLst>
              <a:ext uri="{FF2B5EF4-FFF2-40B4-BE49-F238E27FC236}">
                <a16:creationId xmlns:a16="http://schemas.microsoft.com/office/drawing/2014/main" id="{7F7E1DE7-3389-3646-F7AD-7FD70E6B214C}"/>
              </a:ext>
            </a:extLst>
          </p:cNvPr>
          <p:cNvSpPr/>
          <p:nvPr/>
        </p:nvSpPr>
        <p:spPr>
          <a:xfrm>
            <a:off x="9119215" y="2756820"/>
            <a:ext cx="2691785" cy="2148555"/>
          </a:xfrm>
          <a:prstGeom prst="rect">
            <a:avLst/>
          </a:prstGeom>
          <a:solidFill>
            <a:schemeClr val="bg1">
              <a:alpha val="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r>
              <a:rPr lang="en-US" sz="1200" b="1" dirty="0">
                <a:solidFill>
                  <a:srgbClr val="2ECC71"/>
                </a:solidFill>
              </a:rPr>
              <a:t>LUMINAL A (Healthy):</a:t>
            </a:r>
          </a:p>
          <a:p>
            <a:r>
              <a:rPr lang="en-US" sz="1200" dirty="0">
                <a:solidFill>
                  <a:srgbClr val="003766"/>
                </a:solidFill>
              </a:rPr>
              <a:t>Nucleus: FOXA1 ✓ ESR1 ✓</a:t>
            </a:r>
          </a:p>
          <a:p>
            <a:r>
              <a:rPr lang="en-US" sz="1200" dirty="0">
                <a:solidFill>
                  <a:srgbClr val="003766"/>
                </a:solidFill>
              </a:rPr>
              <a:t>miRNA: miR-17/20a/210 LOW</a:t>
            </a:r>
          </a:p>
          <a:p>
            <a:r>
              <a:rPr lang="en-US" sz="1200" dirty="0">
                <a:solidFill>
                  <a:srgbClr val="003766"/>
                </a:solidFill>
              </a:rPr>
              <a:t>Outcome: ER-driven transcription</a:t>
            </a:r>
          </a:p>
          <a:p>
            <a:r>
              <a:rPr lang="en-US" sz="1200" dirty="0">
                <a:solidFill>
                  <a:srgbClr val="003766"/>
                </a:solidFill>
              </a:rPr>
              <a:t>Phenotype: </a:t>
            </a:r>
            <a:r>
              <a:rPr lang="en-US" sz="1200" b="1" dirty="0">
                <a:solidFill>
                  <a:srgbClr val="003766"/>
                </a:solidFill>
              </a:rPr>
              <a:t>HORMONALLY RESPONSIVE</a:t>
            </a:r>
          </a:p>
          <a:p>
            <a:r>
              <a:rPr lang="en-US" sz="1200" dirty="0">
                <a:solidFill>
                  <a:srgbClr val="003766"/>
                </a:solidFill>
              </a:rPr>
              <a:t>Survival: </a:t>
            </a:r>
            <a:r>
              <a:rPr lang="en-US" sz="1200" b="1" dirty="0">
                <a:solidFill>
                  <a:srgbClr val="2ECC71"/>
                </a:solidFill>
              </a:rPr>
              <a:t>92%</a:t>
            </a:r>
          </a:p>
          <a:p>
            <a:pPr algn="just"/>
            <a:endParaRPr lang="pl-PL" sz="1200" b="1" dirty="0">
              <a:solidFill>
                <a:srgbClr val="E74C3C"/>
              </a:solidFill>
            </a:endParaRPr>
          </a:p>
          <a:p>
            <a:pPr algn="just"/>
            <a:endParaRPr lang="pl-PL" sz="1200" b="1" dirty="0">
              <a:solidFill>
                <a:srgbClr val="E74C3C"/>
              </a:solidFill>
            </a:endParaRPr>
          </a:p>
          <a:p>
            <a:pPr algn="just"/>
            <a:r>
              <a:rPr lang="en-US" sz="1200" b="1" dirty="0">
                <a:solidFill>
                  <a:srgbClr val="E74C3C"/>
                </a:solidFill>
              </a:rPr>
              <a:t>BASAL-LIKE (Tumor):</a:t>
            </a:r>
          </a:p>
          <a:p>
            <a:pPr algn="just"/>
            <a:r>
              <a:rPr lang="en-US" sz="1200" dirty="0">
                <a:solidFill>
                  <a:srgbClr val="003766"/>
                </a:solidFill>
              </a:rPr>
              <a:t>Nucleus: FOXA1 ✗ ESR1 ✗</a:t>
            </a:r>
          </a:p>
          <a:p>
            <a:pPr algn="just"/>
            <a:r>
              <a:rPr lang="en-US" sz="1200" dirty="0">
                <a:solidFill>
                  <a:srgbClr val="003766"/>
                </a:solidFill>
              </a:rPr>
              <a:t>miRNA: miR-17/20a/210 HIGH </a:t>
            </a:r>
            <a:r>
              <a:rPr lang="en-US" sz="1200" b="1" dirty="0">
                <a:solidFill>
                  <a:srgbClr val="003766"/>
                </a:solidFill>
              </a:rPr>
              <a:t>↑</a:t>
            </a:r>
            <a:endParaRPr lang="en-US" sz="1200" dirty="0">
              <a:solidFill>
                <a:srgbClr val="003766"/>
              </a:solidFill>
            </a:endParaRPr>
          </a:p>
          <a:p>
            <a:pPr algn="just"/>
            <a:r>
              <a:rPr lang="en-US" sz="1200" dirty="0">
                <a:solidFill>
                  <a:srgbClr val="003766"/>
                </a:solidFill>
              </a:rPr>
              <a:t>Mechanism: miR-17 binds ESR1 3'UTR</a:t>
            </a:r>
          </a:p>
          <a:p>
            <a:pPr algn="just"/>
            <a:r>
              <a:rPr lang="en-US" sz="1200" dirty="0">
                <a:solidFill>
                  <a:srgbClr val="003766"/>
                </a:solidFill>
              </a:rPr>
              <a:t>          → Degrades mRNA</a:t>
            </a:r>
          </a:p>
          <a:p>
            <a:pPr algn="just"/>
            <a:r>
              <a:rPr lang="en-US" sz="1200" dirty="0">
                <a:solidFill>
                  <a:srgbClr val="003766"/>
                </a:solidFill>
              </a:rPr>
              <a:t>          → No protein synthesis</a:t>
            </a:r>
          </a:p>
          <a:p>
            <a:pPr algn="just"/>
            <a:r>
              <a:rPr lang="en-US" sz="1200" dirty="0">
                <a:solidFill>
                  <a:srgbClr val="003766"/>
                </a:solidFill>
              </a:rPr>
              <a:t>Outcome: ER-silenced</a:t>
            </a:r>
            <a:r>
              <a:rPr lang="pl-PL" sz="1200" dirty="0">
                <a:solidFill>
                  <a:srgbClr val="003766"/>
                </a:solidFill>
              </a:rPr>
              <a:t> </a:t>
            </a:r>
            <a:endParaRPr lang="en-US" sz="1200" dirty="0">
              <a:solidFill>
                <a:srgbClr val="003766"/>
              </a:solidFill>
            </a:endParaRPr>
          </a:p>
          <a:p>
            <a:pPr algn="just"/>
            <a:r>
              <a:rPr lang="en-US" sz="1200" dirty="0">
                <a:solidFill>
                  <a:srgbClr val="003766"/>
                </a:solidFill>
              </a:rPr>
              <a:t>Phenotype: </a:t>
            </a:r>
            <a:r>
              <a:rPr lang="en-US" sz="1200" b="1" dirty="0">
                <a:solidFill>
                  <a:srgbClr val="003766"/>
                </a:solidFill>
              </a:rPr>
              <a:t>AGGRESSIVE, THERAPY-RESISTANT</a:t>
            </a:r>
          </a:p>
          <a:p>
            <a:pPr algn="just"/>
            <a:r>
              <a:rPr lang="en-US" sz="1200" dirty="0">
                <a:solidFill>
                  <a:srgbClr val="003766"/>
                </a:solidFill>
              </a:rPr>
              <a:t>Survival: </a:t>
            </a:r>
            <a:r>
              <a:rPr lang="en-US" sz="1200" b="1" dirty="0">
                <a:solidFill>
                  <a:srgbClr val="E74C3C"/>
                </a:solidFill>
              </a:rPr>
              <a:t>28%</a:t>
            </a:r>
          </a:p>
        </p:txBody>
      </p:sp>
      <p:sp>
        <p:nvSpPr>
          <p:cNvPr id="12" name="Prostokąt 11">
            <a:extLst>
              <a:ext uri="{FF2B5EF4-FFF2-40B4-BE49-F238E27FC236}">
                <a16:creationId xmlns:a16="http://schemas.microsoft.com/office/drawing/2014/main" id="{4F459B49-778C-CABC-820D-51174B6E19D6}"/>
              </a:ext>
            </a:extLst>
          </p:cNvPr>
          <p:cNvSpPr/>
          <p:nvPr/>
        </p:nvSpPr>
        <p:spPr>
          <a:xfrm>
            <a:off x="352426" y="5741709"/>
            <a:ext cx="11763374" cy="801757"/>
          </a:xfrm>
          <a:prstGeom prst="rect">
            <a:avLst/>
          </a:prstGeom>
          <a:solidFill>
            <a:schemeClr val="bg1">
              <a:alpha val="6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600" dirty="0">
                <a:solidFill>
                  <a:srgbClr val="003766"/>
                </a:solidFill>
              </a:rPr>
              <a:t>Basal-like nowotwory charakteryzują się podwyższonym poziomem miRNA, które aktywnie wyciszają oś FOXA1/ESR1, </a:t>
            </a:r>
          </a:p>
          <a:p>
            <a:pPr algn="ctr"/>
            <a:r>
              <a:rPr lang="pl-PL" sz="1600" dirty="0">
                <a:solidFill>
                  <a:srgbClr val="003766"/>
                </a:solidFill>
              </a:rPr>
              <a:t>prowadząc do fenotypu receptor-</a:t>
            </a:r>
            <a:r>
              <a:rPr lang="pl-PL" sz="1600" dirty="0" err="1">
                <a:solidFill>
                  <a:srgbClr val="003766"/>
                </a:solidFill>
              </a:rPr>
              <a:t>negative</a:t>
            </a:r>
            <a:r>
              <a:rPr lang="pl-PL" sz="1600" dirty="0">
                <a:solidFill>
                  <a:srgbClr val="003766"/>
                </a:solidFill>
              </a:rPr>
              <a:t>.</a:t>
            </a:r>
            <a:endParaRPr lang="pl-PL" sz="1600" b="1" dirty="0">
              <a:solidFill>
                <a:srgbClr val="003766"/>
              </a:solidFill>
            </a:endParaRPr>
          </a:p>
        </p:txBody>
      </p:sp>
      <p:pic>
        <p:nvPicPr>
          <p:cNvPr id="15" name="Obraz 14">
            <a:extLst>
              <a:ext uri="{FF2B5EF4-FFF2-40B4-BE49-F238E27FC236}">
                <a16:creationId xmlns:a16="http://schemas.microsoft.com/office/drawing/2014/main" id="{3B3856EC-14DD-373C-7E19-414024AC8C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7674" y="1633372"/>
            <a:ext cx="4095432" cy="4108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38858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9738B88-3C9E-334E-C76D-CF3A7D99D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9892" y="420781"/>
            <a:ext cx="7178566" cy="1199821"/>
          </a:xfrm>
        </p:spPr>
        <p:txBody>
          <a:bodyPr>
            <a:normAutofit/>
          </a:bodyPr>
          <a:lstStyle/>
          <a:p>
            <a:r>
              <a:rPr lang="pl-PL" sz="2800" b="1" dirty="0">
                <a:solidFill>
                  <a:schemeClr val="accent1">
                    <a:lumMod val="50000"/>
                  </a:schemeClr>
                </a:solidFill>
              </a:rPr>
              <a:t>Luminal B – podtyp o agresywniejszym przebiegu klinicznym</a:t>
            </a:r>
          </a:p>
        </p:txBody>
      </p:sp>
      <p:pic>
        <p:nvPicPr>
          <p:cNvPr id="11" name="Symbol zastępczy zawartości 10" descr="Obraz zawierający zrzut ekranu, Czcionka, Grafika, tekst&#10;&#10;Opis wygenerowany automatycznie">
            <a:extLst>
              <a:ext uri="{FF2B5EF4-FFF2-40B4-BE49-F238E27FC236}">
                <a16:creationId xmlns:a16="http://schemas.microsoft.com/office/drawing/2014/main" id="{46D80C71-A10F-D7AA-EE52-6D9F4EDE7A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-479626" y="-1154976"/>
            <a:ext cx="6150378" cy="4351338"/>
          </a:xfrm>
        </p:spPr>
      </p:pic>
      <p:cxnSp>
        <p:nvCxnSpPr>
          <p:cNvPr id="14" name="Łącznik prosty 13">
            <a:extLst>
              <a:ext uri="{FF2B5EF4-FFF2-40B4-BE49-F238E27FC236}">
                <a16:creationId xmlns:a16="http://schemas.microsoft.com/office/drawing/2014/main" id="{F4B14A33-E755-D357-DC4E-5CF0312101D4}"/>
              </a:ext>
            </a:extLst>
          </p:cNvPr>
          <p:cNvCxnSpPr/>
          <p:nvPr/>
        </p:nvCxnSpPr>
        <p:spPr>
          <a:xfrm>
            <a:off x="5049892" y="665968"/>
            <a:ext cx="0" cy="709448"/>
          </a:xfrm>
          <a:prstGeom prst="line">
            <a:avLst/>
          </a:prstGeom>
          <a:ln>
            <a:solidFill>
              <a:srgbClr val="00376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rostokąt 2">
            <a:extLst>
              <a:ext uri="{FF2B5EF4-FFF2-40B4-BE49-F238E27FC236}">
                <a16:creationId xmlns:a16="http://schemas.microsoft.com/office/drawing/2014/main" id="{28CE95B2-E44C-9667-4788-4C50441904D6}"/>
              </a:ext>
            </a:extLst>
          </p:cNvPr>
          <p:cNvSpPr/>
          <p:nvPr/>
        </p:nvSpPr>
        <p:spPr>
          <a:xfrm>
            <a:off x="8534400" y="1966189"/>
            <a:ext cx="3657600" cy="3890016"/>
          </a:xfrm>
          <a:prstGeom prst="rect">
            <a:avLst/>
          </a:prstGeom>
          <a:solidFill>
            <a:schemeClr val="bg1">
              <a:alpha val="6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400" dirty="0">
              <a:solidFill>
                <a:srgbClr val="003766"/>
              </a:solidFill>
            </a:endParaRPr>
          </a:p>
          <a:p>
            <a:pPr algn="ctr"/>
            <a:r>
              <a:rPr lang="pl-PL" sz="1400" b="1" dirty="0">
                <a:solidFill>
                  <a:srgbClr val="003766"/>
                </a:solidFill>
              </a:rPr>
              <a:t>Schemat mechanizmu:</a:t>
            </a:r>
          </a:p>
          <a:p>
            <a:pPr algn="ctr"/>
            <a:endParaRPr lang="pl-PL" sz="1400" dirty="0">
              <a:solidFill>
                <a:srgbClr val="003766"/>
              </a:solidFill>
            </a:endParaRPr>
          </a:p>
          <a:p>
            <a:pPr algn="ctr"/>
            <a:r>
              <a:rPr lang="en-US" sz="1400" dirty="0">
                <a:solidFill>
                  <a:srgbClr val="003766"/>
                </a:solidFill>
              </a:rPr>
              <a:t>miR-210 (Hypoxia-Responsive miRNA)</a:t>
            </a:r>
          </a:p>
          <a:p>
            <a:pPr algn="ctr"/>
            <a:r>
              <a:rPr lang="en-US" sz="1400" dirty="0">
                <a:solidFill>
                  <a:srgbClr val="003766"/>
                </a:solidFill>
              </a:rPr>
              <a:t>        ↓ (HIGH w Luminal B)</a:t>
            </a:r>
          </a:p>
          <a:p>
            <a:pPr algn="ctr"/>
            <a:r>
              <a:rPr lang="en-US" sz="1400" dirty="0">
                <a:solidFill>
                  <a:srgbClr val="003766"/>
                </a:solidFill>
              </a:rPr>
              <a:t>Binds PGR 3'UTR</a:t>
            </a:r>
          </a:p>
          <a:p>
            <a:pPr algn="ctr"/>
            <a:r>
              <a:rPr lang="en-US" sz="1400" dirty="0">
                <a:solidFill>
                  <a:srgbClr val="003766"/>
                </a:solidFill>
              </a:rPr>
              <a:t>        ↓</a:t>
            </a:r>
          </a:p>
          <a:p>
            <a:pPr algn="ctr"/>
            <a:r>
              <a:rPr lang="en-US" sz="1400" dirty="0">
                <a:solidFill>
                  <a:srgbClr val="003766"/>
                </a:solidFill>
              </a:rPr>
              <a:t>PGR mRNA degraded</a:t>
            </a:r>
          </a:p>
          <a:p>
            <a:pPr algn="ctr"/>
            <a:r>
              <a:rPr lang="en-US" sz="1400" dirty="0">
                <a:solidFill>
                  <a:srgbClr val="003766"/>
                </a:solidFill>
              </a:rPr>
              <a:t>        ↓</a:t>
            </a:r>
          </a:p>
          <a:p>
            <a:pPr algn="ctr"/>
            <a:r>
              <a:rPr lang="en-US" sz="1400" dirty="0">
                <a:solidFill>
                  <a:srgbClr val="003766"/>
                </a:solidFill>
              </a:rPr>
              <a:t>NO PROGESTERONE RECEPTOR</a:t>
            </a:r>
          </a:p>
          <a:p>
            <a:pPr algn="ctr"/>
            <a:r>
              <a:rPr lang="en-US" sz="1400" dirty="0">
                <a:solidFill>
                  <a:srgbClr val="003766"/>
                </a:solidFill>
              </a:rPr>
              <a:t>        ↓</a:t>
            </a:r>
          </a:p>
          <a:p>
            <a:pPr algn="ctr"/>
            <a:r>
              <a:rPr lang="en-US" sz="1400" dirty="0">
                <a:solidFill>
                  <a:srgbClr val="003766"/>
                </a:solidFill>
              </a:rPr>
              <a:t>Loss of Antiproliferative Signal</a:t>
            </a:r>
          </a:p>
          <a:p>
            <a:pPr algn="ctr"/>
            <a:r>
              <a:rPr lang="en-US" sz="1400" dirty="0">
                <a:solidFill>
                  <a:srgbClr val="003766"/>
                </a:solidFill>
              </a:rPr>
              <a:t>        ↓</a:t>
            </a:r>
          </a:p>
          <a:p>
            <a:pPr algn="ctr"/>
            <a:r>
              <a:rPr lang="en-US" sz="1400" dirty="0">
                <a:solidFill>
                  <a:srgbClr val="003766"/>
                </a:solidFill>
              </a:rPr>
              <a:t>Cell Cycle: Ki-67 HIGH</a:t>
            </a:r>
          </a:p>
          <a:p>
            <a:pPr algn="ctr"/>
            <a:r>
              <a:rPr lang="en-US" sz="1400" dirty="0">
                <a:solidFill>
                  <a:srgbClr val="003766"/>
                </a:solidFill>
              </a:rPr>
              <a:t>        ↓</a:t>
            </a:r>
          </a:p>
          <a:p>
            <a:pPr algn="ctr"/>
            <a:r>
              <a:rPr lang="en-US" sz="1400" dirty="0">
                <a:solidFill>
                  <a:srgbClr val="003766"/>
                </a:solidFill>
              </a:rPr>
              <a:t>Aggressive Proliferation</a:t>
            </a:r>
          </a:p>
          <a:p>
            <a:pPr algn="ctr"/>
            <a:r>
              <a:rPr lang="en-US" sz="1400" dirty="0">
                <a:solidFill>
                  <a:srgbClr val="003766"/>
                </a:solidFill>
              </a:rPr>
              <a:t>        ↓</a:t>
            </a:r>
          </a:p>
          <a:p>
            <a:pPr algn="ctr"/>
            <a:r>
              <a:rPr lang="en-US" sz="1400" dirty="0">
                <a:solidFill>
                  <a:srgbClr val="003766"/>
                </a:solidFill>
              </a:rPr>
              <a:t>Faster Relapse &amp; Poor Survival</a:t>
            </a:r>
          </a:p>
        </p:txBody>
      </p:sp>
      <p:sp>
        <p:nvSpPr>
          <p:cNvPr id="4" name="Prostokąt 3">
            <a:extLst>
              <a:ext uri="{FF2B5EF4-FFF2-40B4-BE49-F238E27FC236}">
                <a16:creationId xmlns:a16="http://schemas.microsoft.com/office/drawing/2014/main" id="{633DABD0-7CCA-66C5-6402-8E7DF5F82AC4}"/>
              </a:ext>
            </a:extLst>
          </p:cNvPr>
          <p:cNvSpPr/>
          <p:nvPr/>
        </p:nvSpPr>
        <p:spPr>
          <a:xfrm>
            <a:off x="187863" y="1809750"/>
            <a:ext cx="4429125" cy="4549133"/>
          </a:xfrm>
          <a:prstGeom prst="rect">
            <a:avLst/>
          </a:prstGeom>
          <a:solidFill>
            <a:schemeClr val="bg1">
              <a:alpha val="6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l-PL" sz="1300" dirty="0">
              <a:solidFill>
                <a:srgbClr val="003766"/>
              </a:solidFill>
            </a:endParaRPr>
          </a:p>
          <a:p>
            <a:r>
              <a:rPr lang="en-US" sz="1300" b="1" dirty="0">
                <a:solidFill>
                  <a:srgbClr val="003766"/>
                </a:solidFill>
              </a:rPr>
              <a:t>Luminal A vs Luminal B:</a:t>
            </a:r>
          </a:p>
          <a:p>
            <a:r>
              <a:rPr lang="en-US" sz="1300" b="1" dirty="0">
                <a:solidFill>
                  <a:srgbClr val="003766"/>
                </a:solidFill>
              </a:rPr>
              <a:t>Oba </a:t>
            </a:r>
            <a:r>
              <a:rPr lang="en-US" sz="1300" b="1" dirty="0" err="1">
                <a:solidFill>
                  <a:srgbClr val="003766"/>
                </a:solidFill>
              </a:rPr>
              <a:t>mają</a:t>
            </a:r>
            <a:r>
              <a:rPr lang="en-US" sz="1300" b="1" dirty="0">
                <a:solidFill>
                  <a:srgbClr val="003766"/>
                </a:solidFill>
              </a:rPr>
              <a:t> ER + PR (</a:t>
            </a:r>
            <a:r>
              <a:rPr lang="en-US" sz="1300" b="1" dirty="0" err="1">
                <a:solidFill>
                  <a:srgbClr val="003766"/>
                </a:solidFill>
              </a:rPr>
              <a:t>receptory</a:t>
            </a:r>
            <a:r>
              <a:rPr lang="en-US" sz="1300" b="1" dirty="0">
                <a:solidFill>
                  <a:srgbClr val="003766"/>
                </a:solidFill>
              </a:rPr>
              <a:t>!)</a:t>
            </a:r>
          </a:p>
          <a:p>
            <a:endParaRPr lang="en-US" sz="1300" dirty="0">
              <a:solidFill>
                <a:srgbClr val="003766"/>
              </a:solidFill>
            </a:endParaRPr>
          </a:p>
          <a:p>
            <a:r>
              <a:rPr lang="en-US" sz="1300" b="1" dirty="0">
                <a:solidFill>
                  <a:srgbClr val="2ECC71"/>
                </a:solidFill>
              </a:rPr>
              <a:t>Luminal A:</a:t>
            </a:r>
          </a:p>
          <a:p>
            <a:r>
              <a:rPr lang="en-US" sz="1300" dirty="0">
                <a:solidFill>
                  <a:srgbClr val="003766"/>
                </a:solidFill>
              </a:rPr>
              <a:t>ER+  PR+  HER2-</a:t>
            </a:r>
          </a:p>
          <a:p>
            <a:r>
              <a:rPr lang="en-US" sz="1300" dirty="0">
                <a:solidFill>
                  <a:srgbClr val="003766"/>
                </a:solidFill>
              </a:rPr>
              <a:t>MKI67 NISKI (30-40%)</a:t>
            </a:r>
          </a:p>
          <a:p>
            <a:r>
              <a:rPr lang="en-US" sz="1300" dirty="0" err="1">
                <a:solidFill>
                  <a:srgbClr val="003766"/>
                </a:solidFill>
              </a:rPr>
              <a:t>Przeżycie</a:t>
            </a:r>
            <a:r>
              <a:rPr lang="en-US" sz="1300" b="1" dirty="0">
                <a:solidFill>
                  <a:srgbClr val="2ECC71"/>
                </a:solidFill>
              </a:rPr>
              <a:t>: 92%</a:t>
            </a:r>
          </a:p>
          <a:p>
            <a:r>
              <a:rPr lang="en-US" sz="1300" dirty="0" err="1">
                <a:solidFill>
                  <a:srgbClr val="003766"/>
                </a:solidFill>
              </a:rPr>
              <a:t>Terapia</a:t>
            </a:r>
            <a:r>
              <a:rPr lang="en-US" sz="1300" dirty="0">
                <a:solidFill>
                  <a:srgbClr val="003766"/>
                </a:solidFill>
              </a:rPr>
              <a:t>: </a:t>
            </a:r>
            <a:r>
              <a:rPr lang="en-US" sz="1300" dirty="0" err="1">
                <a:solidFill>
                  <a:srgbClr val="003766"/>
                </a:solidFill>
              </a:rPr>
              <a:t>Hormonalna</a:t>
            </a:r>
            <a:endParaRPr lang="en-US" sz="1300" dirty="0">
              <a:solidFill>
                <a:srgbClr val="003766"/>
              </a:solidFill>
            </a:endParaRPr>
          </a:p>
          <a:p>
            <a:r>
              <a:rPr lang="en-US" sz="1300" b="1" dirty="0" err="1">
                <a:solidFill>
                  <a:srgbClr val="003766"/>
                </a:solidFill>
              </a:rPr>
              <a:t>Wynik</a:t>
            </a:r>
            <a:r>
              <a:rPr lang="en-US" sz="1300" b="1" dirty="0">
                <a:solidFill>
                  <a:srgbClr val="003766"/>
                </a:solidFill>
              </a:rPr>
              <a:t>:</a:t>
            </a:r>
            <a:r>
              <a:rPr lang="pl-PL" sz="1300" b="1" dirty="0">
                <a:solidFill>
                  <a:srgbClr val="003766"/>
                </a:solidFill>
              </a:rPr>
              <a:t> </a:t>
            </a:r>
            <a:r>
              <a:rPr lang="en-US" sz="1300" b="1" dirty="0" err="1">
                <a:solidFill>
                  <a:srgbClr val="003766"/>
                </a:solidFill>
              </a:rPr>
              <a:t>Pacjentka</a:t>
            </a:r>
            <a:r>
              <a:rPr lang="en-US" sz="1300" b="1" dirty="0">
                <a:solidFill>
                  <a:srgbClr val="003766"/>
                </a:solidFill>
              </a:rPr>
              <a:t> </a:t>
            </a:r>
            <a:r>
              <a:rPr lang="en-US" sz="1300" b="1" dirty="0" err="1">
                <a:solidFill>
                  <a:srgbClr val="003766"/>
                </a:solidFill>
              </a:rPr>
              <a:t>żyje</a:t>
            </a:r>
            <a:r>
              <a:rPr lang="en-US" sz="1300" b="1" dirty="0">
                <a:solidFill>
                  <a:srgbClr val="003766"/>
                </a:solidFill>
              </a:rPr>
              <a:t>!</a:t>
            </a:r>
          </a:p>
          <a:p>
            <a:endParaRPr lang="en-US" sz="1300" dirty="0">
              <a:solidFill>
                <a:srgbClr val="003766"/>
              </a:solidFill>
            </a:endParaRPr>
          </a:p>
          <a:p>
            <a:r>
              <a:rPr lang="en-US" sz="1300" dirty="0">
                <a:solidFill>
                  <a:srgbClr val="003766"/>
                </a:solidFill>
              </a:rPr>
              <a:t>vs.</a:t>
            </a:r>
          </a:p>
          <a:p>
            <a:endParaRPr lang="en-US" sz="1300" dirty="0">
              <a:solidFill>
                <a:srgbClr val="003766"/>
              </a:solidFill>
            </a:endParaRPr>
          </a:p>
          <a:p>
            <a:r>
              <a:rPr lang="en-US" sz="1300" b="1" dirty="0">
                <a:solidFill>
                  <a:srgbClr val="F39C12"/>
                </a:solidFill>
              </a:rPr>
              <a:t>Luminal B:</a:t>
            </a:r>
          </a:p>
          <a:p>
            <a:r>
              <a:rPr lang="en-US" sz="1300" dirty="0">
                <a:solidFill>
                  <a:srgbClr val="003766"/>
                </a:solidFill>
              </a:rPr>
              <a:t>ER+  PR±  HER2±</a:t>
            </a:r>
          </a:p>
          <a:p>
            <a:r>
              <a:rPr lang="en-US" sz="1300" dirty="0">
                <a:solidFill>
                  <a:srgbClr val="003766"/>
                </a:solidFill>
              </a:rPr>
              <a:t>MKI67 WYSOKI (&gt;60%) </a:t>
            </a:r>
            <a:r>
              <a:rPr lang="en-US" sz="1300" b="1" dirty="0">
                <a:solidFill>
                  <a:srgbClr val="003766"/>
                </a:solidFill>
              </a:rPr>
              <a:t>↑  </a:t>
            </a:r>
          </a:p>
          <a:p>
            <a:r>
              <a:rPr lang="pl-PL" sz="1300" dirty="0">
                <a:solidFill>
                  <a:srgbClr val="003766"/>
                </a:solidFill>
              </a:rPr>
              <a:t>P</a:t>
            </a:r>
            <a:r>
              <a:rPr lang="en-US" sz="1300" dirty="0" err="1">
                <a:solidFill>
                  <a:srgbClr val="003766"/>
                </a:solidFill>
              </a:rPr>
              <a:t>rzeżycie</a:t>
            </a:r>
            <a:r>
              <a:rPr lang="en-US" sz="1300" dirty="0">
                <a:solidFill>
                  <a:srgbClr val="003766"/>
                </a:solidFill>
              </a:rPr>
              <a:t>: </a:t>
            </a:r>
            <a:r>
              <a:rPr lang="en-US" sz="1300" b="1" dirty="0">
                <a:solidFill>
                  <a:srgbClr val="F39C12"/>
                </a:solidFill>
              </a:rPr>
              <a:t>82% </a:t>
            </a:r>
            <a:r>
              <a:rPr lang="en-US" sz="1300" b="1" dirty="0">
                <a:solidFill>
                  <a:srgbClr val="003766"/>
                </a:solidFill>
              </a:rPr>
              <a:t>↓</a:t>
            </a:r>
            <a:r>
              <a:rPr lang="pl-PL" sz="1300" b="1" dirty="0">
                <a:solidFill>
                  <a:srgbClr val="003766"/>
                </a:solidFill>
              </a:rPr>
              <a:t> </a:t>
            </a:r>
            <a:endParaRPr lang="en-US" sz="1300" dirty="0">
              <a:solidFill>
                <a:srgbClr val="003766"/>
              </a:solidFill>
            </a:endParaRPr>
          </a:p>
          <a:p>
            <a:r>
              <a:rPr lang="en-US" sz="1300" dirty="0" err="1">
                <a:solidFill>
                  <a:srgbClr val="003766"/>
                </a:solidFill>
              </a:rPr>
              <a:t>Terapia</a:t>
            </a:r>
            <a:r>
              <a:rPr lang="en-US" sz="1300" dirty="0">
                <a:solidFill>
                  <a:srgbClr val="003766"/>
                </a:solidFill>
              </a:rPr>
              <a:t>: </a:t>
            </a:r>
            <a:r>
              <a:rPr lang="en-US" sz="1300" dirty="0" err="1">
                <a:solidFill>
                  <a:srgbClr val="003766"/>
                </a:solidFill>
              </a:rPr>
              <a:t>Hormonalna</a:t>
            </a:r>
            <a:r>
              <a:rPr lang="en-US" sz="1300" dirty="0">
                <a:solidFill>
                  <a:srgbClr val="003766"/>
                </a:solidFill>
              </a:rPr>
              <a:t> + ?</a:t>
            </a:r>
          </a:p>
          <a:p>
            <a:r>
              <a:rPr lang="en-US" sz="1300" dirty="0">
                <a:solidFill>
                  <a:srgbClr val="003766"/>
                </a:solidFill>
              </a:rPr>
              <a:t>Problem: ???</a:t>
            </a:r>
          </a:p>
          <a:p>
            <a:endParaRPr lang="en-US" sz="1300" dirty="0">
              <a:solidFill>
                <a:srgbClr val="003766"/>
              </a:solidFill>
            </a:endParaRPr>
          </a:p>
          <a:p>
            <a:r>
              <a:rPr lang="en-US" sz="1300" b="1" dirty="0" err="1">
                <a:solidFill>
                  <a:srgbClr val="003766"/>
                </a:solidFill>
              </a:rPr>
              <a:t>Pytanie</a:t>
            </a:r>
            <a:r>
              <a:rPr lang="en-US" sz="1300" b="1" dirty="0">
                <a:solidFill>
                  <a:srgbClr val="003766"/>
                </a:solidFill>
              </a:rPr>
              <a:t>: Co </a:t>
            </a:r>
            <a:r>
              <a:rPr lang="en-US" sz="1300" b="1" dirty="0" err="1">
                <a:solidFill>
                  <a:srgbClr val="003766"/>
                </a:solidFill>
              </a:rPr>
              <a:t>różni</a:t>
            </a:r>
            <a:r>
              <a:rPr lang="en-US" sz="1300" b="1" dirty="0">
                <a:solidFill>
                  <a:srgbClr val="003766"/>
                </a:solidFill>
              </a:rPr>
              <a:t> B od A?</a:t>
            </a:r>
          </a:p>
          <a:p>
            <a:r>
              <a:rPr lang="en-US" sz="1300" b="1" dirty="0">
                <a:solidFill>
                  <a:srgbClr val="003766"/>
                </a:solidFill>
              </a:rPr>
              <a:t>Odpowiedź: </a:t>
            </a:r>
            <a:r>
              <a:rPr lang="en-US" sz="1300" b="1" dirty="0" err="1">
                <a:solidFill>
                  <a:srgbClr val="003766"/>
                </a:solidFill>
              </a:rPr>
              <a:t>Proliferacja</a:t>
            </a:r>
            <a:r>
              <a:rPr lang="en-US" sz="1300" b="1" dirty="0">
                <a:solidFill>
                  <a:srgbClr val="003766"/>
                </a:solidFill>
              </a:rPr>
              <a:t> + miRNA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AA720026-B750-1562-7725-A86E59ED5C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0053" y="1992021"/>
            <a:ext cx="6219552" cy="383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46630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9738B88-3C9E-334E-C76D-CF3A7D99D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9917" y="420782"/>
            <a:ext cx="7178566" cy="1199821"/>
          </a:xfrm>
        </p:spPr>
        <p:txBody>
          <a:bodyPr>
            <a:normAutofit/>
          </a:bodyPr>
          <a:lstStyle/>
          <a:p>
            <a:r>
              <a:rPr lang="pl-PL" sz="2800" b="1" i="0" dirty="0">
                <a:solidFill>
                  <a:schemeClr val="accent1">
                    <a:lumMod val="50000"/>
                  </a:schemeClr>
                </a:solidFill>
                <a:effectLst/>
              </a:rPr>
              <a:t>Stadium Wygrywa – Ale miRNA Dają Wskazówkę</a:t>
            </a:r>
            <a:endParaRPr lang="pl-PL" sz="28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1" name="Symbol zastępczy zawartości 10" descr="Obraz zawierający zrzut ekranu, Czcionka, Grafika, tekst&#10;&#10;Opis wygenerowany automatycznie">
            <a:extLst>
              <a:ext uri="{FF2B5EF4-FFF2-40B4-BE49-F238E27FC236}">
                <a16:creationId xmlns:a16="http://schemas.microsoft.com/office/drawing/2014/main" id="{46D80C71-A10F-D7AA-EE52-6D9F4EDE7A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-479626" y="-1154976"/>
            <a:ext cx="6150378" cy="4351338"/>
          </a:xfrm>
        </p:spPr>
      </p:pic>
      <p:cxnSp>
        <p:nvCxnSpPr>
          <p:cNvPr id="14" name="Łącznik prosty 13">
            <a:extLst>
              <a:ext uri="{FF2B5EF4-FFF2-40B4-BE49-F238E27FC236}">
                <a16:creationId xmlns:a16="http://schemas.microsoft.com/office/drawing/2014/main" id="{F4B14A33-E755-D357-DC4E-5CF0312101D4}"/>
              </a:ext>
            </a:extLst>
          </p:cNvPr>
          <p:cNvCxnSpPr/>
          <p:nvPr/>
        </p:nvCxnSpPr>
        <p:spPr>
          <a:xfrm>
            <a:off x="5249917" y="630621"/>
            <a:ext cx="0" cy="709448"/>
          </a:xfrm>
          <a:prstGeom prst="line">
            <a:avLst/>
          </a:prstGeom>
          <a:ln>
            <a:solidFill>
              <a:srgbClr val="00376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Prostokąt 3">
            <a:extLst>
              <a:ext uri="{FF2B5EF4-FFF2-40B4-BE49-F238E27FC236}">
                <a16:creationId xmlns:a16="http://schemas.microsoft.com/office/drawing/2014/main" id="{5F255CFE-9414-92C1-BBFD-F4F00EA37FE7}"/>
              </a:ext>
            </a:extLst>
          </p:cNvPr>
          <p:cNvSpPr/>
          <p:nvPr/>
        </p:nvSpPr>
        <p:spPr>
          <a:xfrm>
            <a:off x="368100" y="2106459"/>
            <a:ext cx="3622875" cy="3742608"/>
          </a:xfrm>
          <a:prstGeom prst="rect">
            <a:avLst/>
          </a:prstGeom>
          <a:solidFill>
            <a:schemeClr val="bg1">
              <a:alpha val="6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rgbClr val="003766"/>
                </a:solidFill>
              </a:rPr>
              <a:t>MULTIVARIABLE COX MODEL</a:t>
            </a:r>
          </a:p>
          <a:p>
            <a:r>
              <a:rPr lang="en-US" sz="1200" dirty="0">
                <a:solidFill>
                  <a:srgbClr val="003766"/>
                </a:solidFill>
              </a:rPr>
              <a:t>Outcome: Overall Survival</a:t>
            </a:r>
          </a:p>
          <a:p>
            <a:endParaRPr lang="en-US" sz="1200" dirty="0">
              <a:solidFill>
                <a:srgbClr val="003766"/>
              </a:solidFill>
            </a:endParaRPr>
          </a:p>
          <a:p>
            <a:r>
              <a:rPr lang="en-US" sz="1200" dirty="0">
                <a:solidFill>
                  <a:srgbClr val="003766"/>
                </a:solidFill>
              </a:rPr>
              <a:t>Variable              HR      95% CI        p</a:t>
            </a:r>
          </a:p>
          <a:p>
            <a:r>
              <a:rPr lang="en-US" sz="1200" dirty="0">
                <a:solidFill>
                  <a:srgbClr val="003766"/>
                </a:solidFill>
              </a:rPr>
              <a:t>────────────────────────────────────────────</a:t>
            </a:r>
          </a:p>
          <a:p>
            <a:r>
              <a:rPr lang="en-US" sz="1200" dirty="0">
                <a:solidFill>
                  <a:srgbClr val="003766"/>
                </a:solidFill>
              </a:rPr>
              <a:t>Stage (III vs I)     ●━━━━━━━&gt;</a:t>
            </a:r>
          </a:p>
          <a:p>
            <a:r>
              <a:rPr lang="en-US" sz="1200" dirty="0">
                <a:solidFill>
                  <a:srgbClr val="003766"/>
                </a:solidFill>
              </a:rPr>
              <a:t>                     2.31   [1.78-3.01]</a:t>
            </a:r>
          </a:p>
          <a:p>
            <a:r>
              <a:rPr lang="en-US" sz="1200" dirty="0">
                <a:solidFill>
                  <a:srgbClr val="003766"/>
                </a:solidFill>
              </a:rPr>
              <a:t>                     p &lt; 0.001 ★★★</a:t>
            </a:r>
          </a:p>
          <a:p>
            <a:endParaRPr lang="en-US" sz="1200" dirty="0">
              <a:solidFill>
                <a:srgbClr val="003766"/>
              </a:solidFill>
            </a:endParaRPr>
          </a:p>
          <a:p>
            <a:r>
              <a:rPr lang="en-US" sz="1200" dirty="0">
                <a:solidFill>
                  <a:srgbClr val="003766"/>
                </a:solidFill>
              </a:rPr>
              <a:t>Age (per +10yr)      ●━━━━&gt;</a:t>
            </a:r>
          </a:p>
          <a:p>
            <a:r>
              <a:rPr lang="en-US" sz="1200" dirty="0">
                <a:solidFill>
                  <a:srgbClr val="003766"/>
                </a:solidFill>
              </a:rPr>
              <a:t>                     1.23   [0.98-1.51]</a:t>
            </a:r>
          </a:p>
          <a:p>
            <a:r>
              <a:rPr lang="en-US" sz="1200" dirty="0">
                <a:solidFill>
                  <a:srgbClr val="003766"/>
                </a:solidFill>
              </a:rPr>
              <a:t>                     p = 0.082</a:t>
            </a:r>
          </a:p>
          <a:p>
            <a:endParaRPr lang="en-US" sz="1200" dirty="0">
              <a:solidFill>
                <a:srgbClr val="003766"/>
              </a:solidFill>
            </a:endParaRPr>
          </a:p>
          <a:p>
            <a:r>
              <a:rPr lang="en-US" sz="1200" dirty="0">
                <a:solidFill>
                  <a:srgbClr val="003766"/>
                </a:solidFill>
              </a:rPr>
              <a:t>miRNA Score          ●━&gt;</a:t>
            </a:r>
          </a:p>
          <a:p>
            <a:r>
              <a:rPr lang="en-US" sz="1200" dirty="0">
                <a:solidFill>
                  <a:srgbClr val="003766"/>
                </a:solidFill>
              </a:rPr>
              <a:t>(continuous)         1.18   [0.99-1.40]</a:t>
            </a:r>
          </a:p>
          <a:p>
            <a:r>
              <a:rPr lang="en-US" sz="1200" dirty="0">
                <a:solidFill>
                  <a:srgbClr val="003766"/>
                </a:solidFill>
              </a:rPr>
              <a:t>                     p = 0.068</a:t>
            </a:r>
          </a:p>
          <a:p>
            <a:endParaRPr lang="en-US" sz="1200" dirty="0">
              <a:solidFill>
                <a:srgbClr val="003766"/>
              </a:solidFill>
            </a:endParaRPr>
          </a:p>
          <a:p>
            <a:r>
              <a:rPr lang="en-US" sz="1200" dirty="0">
                <a:solidFill>
                  <a:srgbClr val="003766"/>
                </a:solidFill>
              </a:rPr>
              <a:t>Interpretacja:</a:t>
            </a:r>
          </a:p>
          <a:p>
            <a:r>
              <a:rPr lang="en-US" sz="1200" dirty="0">
                <a:solidFill>
                  <a:srgbClr val="003766"/>
                </a:solidFill>
              </a:rPr>
              <a:t>★★★ = DOMINANT effect</a:t>
            </a:r>
          </a:p>
          <a:p>
            <a:r>
              <a:rPr lang="en-US" sz="1200" dirty="0">
                <a:solidFill>
                  <a:srgbClr val="003766"/>
                </a:solidFill>
              </a:rPr>
              <a:t>Stage: NAJWIĘKSZY efekt (HR=2.31)</a:t>
            </a:r>
          </a:p>
          <a:p>
            <a:r>
              <a:rPr lang="en-US" sz="1200" dirty="0">
                <a:solidFill>
                  <a:srgbClr val="003766"/>
                </a:solidFill>
              </a:rPr>
              <a:t>miRNA: MAŁY ale znaczący efekt</a:t>
            </a:r>
          </a:p>
        </p:txBody>
      </p:sp>
      <p:sp>
        <p:nvSpPr>
          <p:cNvPr id="5" name="Prostokąt 4">
            <a:extLst>
              <a:ext uri="{FF2B5EF4-FFF2-40B4-BE49-F238E27FC236}">
                <a16:creationId xmlns:a16="http://schemas.microsoft.com/office/drawing/2014/main" id="{F076FF31-339E-077D-5427-E0411BD618EC}"/>
              </a:ext>
            </a:extLst>
          </p:cNvPr>
          <p:cNvSpPr/>
          <p:nvPr/>
        </p:nvSpPr>
        <p:spPr>
          <a:xfrm>
            <a:off x="9195002" y="2088484"/>
            <a:ext cx="4699201" cy="3933825"/>
          </a:xfrm>
          <a:prstGeom prst="rect">
            <a:avLst/>
          </a:prstGeom>
          <a:solidFill>
            <a:schemeClr val="bg1">
              <a:alpha val="6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l-PL" sz="1200" b="1" dirty="0">
                <a:solidFill>
                  <a:srgbClr val="003766"/>
                </a:solidFill>
              </a:rPr>
              <a:t>Co to OZNACZA dla praktyki:</a:t>
            </a:r>
          </a:p>
          <a:p>
            <a:endParaRPr lang="pl-PL" sz="1200" dirty="0">
              <a:solidFill>
                <a:srgbClr val="003766"/>
              </a:solidFill>
            </a:endParaRPr>
          </a:p>
          <a:p>
            <a:r>
              <a:rPr lang="pl-PL" sz="1200" dirty="0">
                <a:solidFill>
                  <a:srgbClr val="003766"/>
                </a:solidFill>
              </a:rPr>
              <a:t>Stadium nadal decyduje</a:t>
            </a:r>
          </a:p>
          <a:p>
            <a:r>
              <a:rPr lang="pl-PL" sz="1200" dirty="0">
                <a:solidFill>
                  <a:srgbClr val="003766"/>
                </a:solidFill>
              </a:rPr>
              <a:t>  (leczenie </a:t>
            </a:r>
            <a:r>
              <a:rPr lang="pl-PL" sz="1200" dirty="0" err="1">
                <a:solidFill>
                  <a:srgbClr val="003766"/>
                </a:solidFill>
              </a:rPr>
              <a:t>Stage</a:t>
            </a:r>
            <a:r>
              <a:rPr lang="pl-PL" sz="1200" dirty="0">
                <a:solidFill>
                  <a:srgbClr val="003766"/>
                </a:solidFill>
              </a:rPr>
              <a:t> III ≠ </a:t>
            </a:r>
            <a:r>
              <a:rPr lang="pl-PL" sz="1200" dirty="0" err="1">
                <a:solidFill>
                  <a:srgbClr val="003766"/>
                </a:solidFill>
              </a:rPr>
              <a:t>Stage</a:t>
            </a:r>
            <a:r>
              <a:rPr lang="pl-PL" sz="1200" dirty="0">
                <a:solidFill>
                  <a:srgbClr val="003766"/>
                </a:solidFill>
              </a:rPr>
              <a:t> I)</a:t>
            </a:r>
          </a:p>
          <a:p>
            <a:endParaRPr lang="pl-PL" sz="1200" dirty="0">
              <a:solidFill>
                <a:srgbClr val="003766"/>
              </a:solidFill>
            </a:endParaRPr>
          </a:p>
          <a:p>
            <a:r>
              <a:rPr lang="pl-PL" sz="1200" dirty="0">
                <a:solidFill>
                  <a:srgbClr val="003766"/>
                </a:solidFill>
              </a:rPr>
              <a:t>Ale w obrębie jednego Stadium...</a:t>
            </a:r>
          </a:p>
          <a:p>
            <a:r>
              <a:rPr lang="pl-PL" sz="1200" dirty="0">
                <a:solidFill>
                  <a:srgbClr val="003766"/>
                </a:solidFill>
              </a:rPr>
              <a:t>  miRNA </a:t>
            </a:r>
            <a:r>
              <a:rPr lang="pl-PL" sz="1200" dirty="0" err="1">
                <a:solidFill>
                  <a:srgbClr val="003766"/>
                </a:solidFill>
              </a:rPr>
              <a:t>score</a:t>
            </a:r>
            <a:r>
              <a:rPr lang="pl-PL" sz="1200" dirty="0">
                <a:solidFill>
                  <a:srgbClr val="003766"/>
                </a:solidFill>
              </a:rPr>
              <a:t> może stratyfikować</a:t>
            </a:r>
          </a:p>
          <a:p>
            <a:r>
              <a:rPr lang="pl-PL" sz="1200" dirty="0">
                <a:solidFill>
                  <a:srgbClr val="003766"/>
                </a:solidFill>
              </a:rPr>
              <a:t>  pacjentów na wyższe/niższe ryzyko</a:t>
            </a:r>
          </a:p>
          <a:p>
            <a:endParaRPr lang="pl-PL" sz="1200" dirty="0">
              <a:solidFill>
                <a:srgbClr val="003766"/>
              </a:solidFill>
            </a:endParaRPr>
          </a:p>
          <a:p>
            <a:r>
              <a:rPr lang="pl-PL" sz="1200" b="1" dirty="0">
                <a:solidFill>
                  <a:srgbClr val="003766"/>
                </a:solidFill>
              </a:rPr>
              <a:t>Przykład:</a:t>
            </a:r>
          </a:p>
          <a:p>
            <a:r>
              <a:rPr lang="pl-PL" sz="1200" dirty="0">
                <a:solidFill>
                  <a:srgbClr val="003766"/>
                </a:solidFill>
              </a:rPr>
              <a:t>Dwie pacjentki, oba </a:t>
            </a:r>
            <a:r>
              <a:rPr lang="pl-PL" sz="1200" dirty="0" err="1">
                <a:solidFill>
                  <a:srgbClr val="003766"/>
                </a:solidFill>
              </a:rPr>
              <a:t>Stage</a:t>
            </a:r>
            <a:r>
              <a:rPr lang="pl-PL" sz="1200" dirty="0">
                <a:solidFill>
                  <a:srgbClr val="003766"/>
                </a:solidFill>
              </a:rPr>
              <a:t> III.</a:t>
            </a:r>
          </a:p>
          <a:p>
            <a:r>
              <a:rPr lang="pl-PL" sz="1200" dirty="0">
                <a:solidFill>
                  <a:srgbClr val="003766"/>
                </a:solidFill>
              </a:rPr>
              <a:t>Jedna: miRNA-HIGH (25% </a:t>
            </a:r>
            <a:r>
              <a:rPr lang="pl-PL" sz="1200" dirty="0" err="1">
                <a:solidFill>
                  <a:srgbClr val="003766"/>
                </a:solidFill>
              </a:rPr>
              <a:t>survival</a:t>
            </a:r>
            <a:r>
              <a:rPr lang="pl-PL" sz="1200" dirty="0">
                <a:solidFill>
                  <a:srgbClr val="003766"/>
                </a:solidFill>
              </a:rPr>
              <a:t>)</a:t>
            </a:r>
          </a:p>
          <a:p>
            <a:r>
              <a:rPr lang="pl-PL" sz="1200" dirty="0">
                <a:solidFill>
                  <a:srgbClr val="003766"/>
                </a:solidFill>
              </a:rPr>
              <a:t>Druga: miRNA-LOW (35% </a:t>
            </a:r>
            <a:r>
              <a:rPr lang="pl-PL" sz="1200" dirty="0" err="1">
                <a:solidFill>
                  <a:srgbClr val="003766"/>
                </a:solidFill>
              </a:rPr>
              <a:t>survival</a:t>
            </a:r>
            <a:r>
              <a:rPr lang="pl-PL" sz="1200" dirty="0">
                <a:solidFill>
                  <a:srgbClr val="003766"/>
                </a:solidFill>
              </a:rPr>
              <a:t>)</a:t>
            </a:r>
          </a:p>
          <a:p>
            <a:endParaRPr lang="pl-PL" sz="1200" dirty="0">
              <a:solidFill>
                <a:srgbClr val="003766"/>
              </a:solidFill>
            </a:endParaRPr>
          </a:p>
          <a:p>
            <a:r>
              <a:rPr lang="pl-PL" sz="1200" dirty="0">
                <a:solidFill>
                  <a:srgbClr val="003766"/>
                </a:solidFill>
              </a:rPr>
              <a:t>To 40% RÓŻNICA w ryzyku!</a:t>
            </a:r>
          </a:p>
          <a:p>
            <a:r>
              <a:rPr lang="pl-PL" sz="1200" dirty="0">
                <a:solidFill>
                  <a:srgbClr val="003766"/>
                </a:solidFill>
              </a:rPr>
              <a:t>(Może wpłynąć na decyzję leczenia)</a:t>
            </a:r>
          </a:p>
          <a:p>
            <a:endParaRPr lang="pl-PL" sz="1200" dirty="0">
              <a:solidFill>
                <a:srgbClr val="003766"/>
              </a:solidFill>
            </a:endParaRPr>
          </a:p>
          <a:p>
            <a:r>
              <a:rPr lang="pl-PL" sz="1200" dirty="0">
                <a:solidFill>
                  <a:srgbClr val="003766"/>
                </a:solidFill>
              </a:rPr>
              <a:t> </a:t>
            </a:r>
            <a:r>
              <a:rPr lang="pl-PL" sz="1200" b="1" dirty="0">
                <a:solidFill>
                  <a:srgbClr val="003766"/>
                </a:solidFill>
              </a:rPr>
              <a:t>LIMITS:</a:t>
            </a:r>
          </a:p>
          <a:p>
            <a:r>
              <a:rPr lang="pl-PL" sz="1200" dirty="0">
                <a:solidFill>
                  <a:srgbClr val="003766"/>
                </a:solidFill>
              </a:rPr>
              <a:t>• Test </a:t>
            </a:r>
            <a:r>
              <a:rPr lang="pl-PL" sz="1200" dirty="0" err="1">
                <a:solidFill>
                  <a:srgbClr val="003766"/>
                </a:solidFill>
              </a:rPr>
              <a:t>cohort</a:t>
            </a:r>
            <a:r>
              <a:rPr lang="pl-PL" sz="1200" dirty="0">
                <a:solidFill>
                  <a:srgbClr val="003766"/>
                </a:solidFill>
              </a:rPr>
              <a:t> mały (n=365)</a:t>
            </a:r>
          </a:p>
          <a:p>
            <a:r>
              <a:rPr lang="pl-PL" sz="1200" dirty="0">
                <a:solidFill>
                  <a:srgbClr val="003766"/>
                </a:solidFill>
              </a:rPr>
              <a:t>• p = 0.042 jest pogranicze</a:t>
            </a:r>
          </a:p>
          <a:p>
            <a:r>
              <a:rPr lang="pl-PL" sz="1200" dirty="0">
                <a:solidFill>
                  <a:srgbClr val="003766"/>
                </a:solidFill>
              </a:rPr>
              <a:t>• Wymaga </a:t>
            </a:r>
            <a:r>
              <a:rPr lang="pl-PL" sz="1200" dirty="0" err="1">
                <a:solidFill>
                  <a:srgbClr val="003766"/>
                </a:solidFill>
              </a:rPr>
              <a:t>validacji</a:t>
            </a:r>
            <a:r>
              <a:rPr lang="pl-PL" sz="1200" dirty="0">
                <a:solidFill>
                  <a:srgbClr val="003766"/>
                </a:solidFill>
              </a:rPr>
              <a:t> w innym </a:t>
            </a:r>
            <a:r>
              <a:rPr lang="pl-PL" sz="1200" dirty="0" err="1">
                <a:solidFill>
                  <a:srgbClr val="003766"/>
                </a:solidFill>
              </a:rPr>
              <a:t>cohort</a:t>
            </a:r>
            <a:endParaRPr lang="pl-PL" sz="1200" dirty="0">
              <a:solidFill>
                <a:srgbClr val="003766"/>
              </a:solidFill>
            </a:endParaRPr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A9BAFB3D-709E-D006-A034-4C804A2791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9997" y="1941563"/>
            <a:ext cx="5602553" cy="4227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39652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9738B88-3C9E-334E-C76D-CF3A7D99D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3459" y="144557"/>
            <a:ext cx="7178566" cy="1199821"/>
          </a:xfrm>
        </p:spPr>
        <p:txBody>
          <a:bodyPr>
            <a:normAutofit/>
          </a:bodyPr>
          <a:lstStyle/>
          <a:p>
            <a:r>
              <a:rPr lang="pl-PL" sz="2800" b="1" i="0" dirty="0">
                <a:solidFill>
                  <a:schemeClr val="accent1">
                    <a:lumMod val="50000"/>
                  </a:schemeClr>
                </a:solidFill>
                <a:effectLst/>
              </a:rPr>
              <a:t>Podsumowanie: Odkrycie, Limity, Przyszłość</a:t>
            </a:r>
            <a:endParaRPr lang="pl-PL" sz="28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1" name="Symbol zastępczy zawartości 10" descr="Obraz zawierający zrzut ekranu, Czcionka, Grafika, tekst&#10;&#10;Opis wygenerowany automatycznie">
            <a:extLst>
              <a:ext uri="{FF2B5EF4-FFF2-40B4-BE49-F238E27FC236}">
                <a16:creationId xmlns:a16="http://schemas.microsoft.com/office/drawing/2014/main" id="{46D80C71-A10F-D7AA-EE52-6D9F4EDE7A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-479626" y="-1431202"/>
            <a:ext cx="6150378" cy="4351338"/>
          </a:xfrm>
        </p:spPr>
      </p:pic>
      <p:cxnSp>
        <p:nvCxnSpPr>
          <p:cNvPr id="14" name="Łącznik prosty 13">
            <a:extLst>
              <a:ext uri="{FF2B5EF4-FFF2-40B4-BE49-F238E27FC236}">
                <a16:creationId xmlns:a16="http://schemas.microsoft.com/office/drawing/2014/main" id="{F4B14A33-E755-D357-DC4E-5CF0312101D4}"/>
              </a:ext>
            </a:extLst>
          </p:cNvPr>
          <p:cNvCxnSpPr/>
          <p:nvPr/>
        </p:nvCxnSpPr>
        <p:spPr>
          <a:xfrm>
            <a:off x="5213459" y="389744"/>
            <a:ext cx="0" cy="709448"/>
          </a:xfrm>
          <a:prstGeom prst="line">
            <a:avLst/>
          </a:prstGeom>
          <a:ln>
            <a:solidFill>
              <a:srgbClr val="00376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rostokąt 2">
            <a:extLst>
              <a:ext uri="{FF2B5EF4-FFF2-40B4-BE49-F238E27FC236}">
                <a16:creationId xmlns:a16="http://schemas.microsoft.com/office/drawing/2014/main" id="{0197BD8F-85D0-6EB2-BADE-E3D3FEBEC09E}"/>
              </a:ext>
            </a:extLst>
          </p:cNvPr>
          <p:cNvSpPr/>
          <p:nvPr/>
        </p:nvSpPr>
        <p:spPr>
          <a:xfrm>
            <a:off x="201103" y="1197483"/>
            <a:ext cx="3646433" cy="4667250"/>
          </a:xfrm>
          <a:prstGeom prst="rect">
            <a:avLst/>
          </a:prstGeom>
          <a:solidFill>
            <a:schemeClr val="accent6">
              <a:lumMod val="75000"/>
              <a:alpha val="6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l-PL" b="1" dirty="0">
                <a:solidFill>
                  <a:srgbClr val="003766"/>
                </a:solidFill>
              </a:rPr>
              <a:t>NASZE ODKRYCIE:</a:t>
            </a:r>
            <a:endParaRPr lang="en-US" b="1" dirty="0">
              <a:solidFill>
                <a:srgbClr val="003766"/>
              </a:solidFill>
            </a:endParaRPr>
          </a:p>
          <a:p>
            <a:endParaRPr lang="pl-PL" sz="1400" dirty="0">
              <a:solidFill>
                <a:srgbClr val="003766"/>
              </a:solidFill>
            </a:endParaRPr>
          </a:p>
          <a:p>
            <a:r>
              <a:rPr lang="en-US" sz="1400" dirty="0">
                <a:solidFill>
                  <a:srgbClr val="003766"/>
                </a:solidFill>
              </a:rPr>
              <a:t>1. Basal-like ≠ "passive loss"</a:t>
            </a:r>
          </a:p>
          <a:p>
            <a:r>
              <a:rPr lang="en-US" sz="1400" dirty="0">
                <a:solidFill>
                  <a:srgbClr val="003766"/>
                </a:solidFill>
              </a:rPr>
              <a:t>   → It's ACTIVE suppression</a:t>
            </a:r>
          </a:p>
          <a:p>
            <a:r>
              <a:rPr lang="en-US" sz="1400" dirty="0">
                <a:solidFill>
                  <a:srgbClr val="003766"/>
                </a:solidFill>
              </a:rPr>
              <a:t>   by miR-17/20a/210 axis</a:t>
            </a:r>
          </a:p>
          <a:p>
            <a:endParaRPr lang="en-US" sz="1400" dirty="0">
              <a:solidFill>
                <a:srgbClr val="003766"/>
              </a:solidFill>
            </a:endParaRPr>
          </a:p>
          <a:p>
            <a:r>
              <a:rPr lang="en-US" sz="1400" dirty="0">
                <a:solidFill>
                  <a:srgbClr val="003766"/>
                </a:solidFill>
              </a:rPr>
              <a:t>2. FOXA1 &amp; ESR1 are targets</a:t>
            </a:r>
          </a:p>
          <a:p>
            <a:r>
              <a:rPr lang="en-US" sz="1400" dirty="0">
                <a:solidFill>
                  <a:srgbClr val="003766"/>
                </a:solidFill>
              </a:rPr>
              <a:t>   3'UTR binding confirmed</a:t>
            </a:r>
          </a:p>
          <a:p>
            <a:r>
              <a:rPr lang="en-US" sz="1400" dirty="0">
                <a:solidFill>
                  <a:srgbClr val="003766"/>
                </a:solidFill>
              </a:rPr>
              <a:t>   (</a:t>
            </a:r>
            <a:r>
              <a:rPr lang="en-US" sz="1400" dirty="0" err="1">
                <a:solidFill>
                  <a:srgbClr val="003766"/>
                </a:solidFill>
              </a:rPr>
              <a:t>TargetScan</a:t>
            </a:r>
            <a:r>
              <a:rPr lang="en-US" sz="1400" dirty="0">
                <a:solidFill>
                  <a:srgbClr val="003766"/>
                </a:solidFill>
              </a:rPr>
              <a:t> + </a:t>
            </a:r>
            <a:r>
              <a:rPr lang="en-US" sz="1400" dirty="0" err="1">
                <a:solidFill>
                  <a:srgbClr val="003766"/>
                </a:solidFill>
              </a:rPr>
              <a:t>miRDB</a:t>
            </a:r>
            <a:r>
              <a:rPr lang="en-US" sz="1400" dirty="0">
                <a:solidFill>
                  <a:srgbClr val="003766"/>
                </a:solidFill>
              </a:rPr>
              <a:t> consensus)</a:t>
            </a:r>
          </a:p>
          <a:p>
            <a:endParaRPr lang="en-US" sz="1400" dirty="0">
              <a:solidFill>
                <a:srgbClr val="003766"/>
              </a:solidFill>
            </a:endParaRPr>
          </a:p>
          <a:p>
            <a:r>
              <a:rPr lang="en-US" sz="1400" dirty="0">
                <a:solidFill>
                  <a:srgbClr val="003766"/>
                </a:solidFill>
              </a:rPr>
              <a:t>3. mRNA ≠ Protein</a:t>
            </a:r>
          </a:p>
          <a:p>
            <a:r>
              <a:rPr lang="en-US" sz="1400" dirty="0">
                <a:solidFill>
                  <a:srgbClr val="003766"/>
                </a:solidFill>
              </a:rPr>
              <a:t>   (70% variance unexplained)</a:t>
            </a:r>
          </a:p>
          <a:p>
            <a:r>
              <a:rPr lang="en-US" sz="1400" dirty="0">
                <a:solidFill>
                  <a:srgbClr val="003766"/>
                </a:solidFill>
              </a:rPr>
              <a:t>   Multi-omics reveals mechanism</a:t>
            </a:r>
          </a:p>
          <a:p>
            <a:endParaRPr lang="en-US" sz="1400" dirty="0">
              <a:solidFill>
                <a:srgbClr val="003766"/>
              </a:solidFill>
            </a:endParaRPr>
          </a:p>
          <a:p>
            <a:r>
              <a:rPr lang="en-US" sz="1400" dirty="0">
                <a:solidFill>
                  <a:srgbClr val="003766"/>
                </a:solidFill>
              </a:rPr>
              <a:t>4. Luminal B: high Ki-67 phenotype</a:t>
            </a:r>
          </a:p>
          <a:p>
            <a:r>
              <a:rPr lang="en-US" sz="1400" dirty="0">
                <a:solidFill>
                  <a:srgbClr val="003766"/>
                </a:solidFill>
              </a:rPr>
              <a:t>   driven by miR-210 + PGR loss</a:t>
            </a:r>
          </a:p>
          <a:p>
            <a:endParaRPr lang="en-US" sz="1400" dirty="0">
              <a:solidFill>
                <a:srgbClr val="003766"/>
              </a:solidFill>
            </a:endParaRPr>
          </a:p>
          <a:p>
            <a:r>
              <a:rPr lang="en-US" sz="1600" b="1" dirty="0">
                <a:solidFill>
                  <a:srgbClr val="003766"/>
                </a:solidFill>
              </a:rPr>
              <a:t>"Guzy </a:t>
            </a:r>
            <a:r>
              <a:rPr lang="en-US" sz="1600" b="1" dirty="0" err="1">
                <a:solidFill>
                  <a:srgbClr val="003766"/>
                </a:solidFill>
              </a:rPr>
              <a:t>wyłączają</a:t>
            </a:r>
            <a:r>
              <a:rPr lang="en-US" sz="1600" b="1" dirty="0">
                <a:solidFill>
                  <a:srgbClr val="003766"/>
                </a:solidFill>
              </a:rPr>
              <a:t> </a:t>
            </a:r>
            <a:r>
              <a:rPr lang="en-US" sz="1600" b="1" dirty="0" err="1">
                <a:solidFill>
                  <a:srgbClr val="003766"/>
                </a:solidFill>
              </a:rPr>
              <a:t>hamulce</a:t>
            </a:r>
            <a:endParaRPr lang="en-US" sz="1600" b="1" dirty="0">
              <a:solidFill>
                <a:srgbClr val="003766"/>
              </a:solidFill>
            </a:endParaRPr>
          </a:p>
          <a:p>
            <a:r>
              <a:rPr lang="en-US" sz="1600" b="1" dirty="0">
                <a:solidFill>
                  <a:srgbClr val="003766"/>
                </a:solidFill>
              </a:rPr>
              <a:t> </a:t>
            </a:r>
            <a:r>
              <a:rPr lang="en-US" sz="1600" b="1" dirty="0" err="1">
                <a:solidFill>
                  <a:srgbClr val="003766"/>
                </a:solidFill>
              </a:rPr>
              <a:t>nie</a:t>
            </a:r>
            <a:r>
              <a:rPr lang="en-US" sz="1600" b="1" dirty="0">
                <a:solidFill>
                  <a:srgbClr val="003766"/>
                </a:solidFill>
              </a:rPr>
              <a:t> </a:t>
            </a:r>
            <a:r>
              <a:rPr lang="en-US" sz="1600" b="1" dirty="0" err="1">
                <a:solidFill>
                  <a:srgbClr val="003766"/>
                </a:solidFill>
              </a:rPr>
              <a:t>przypadkowo</a:t>
            </a:r>
            <a:r>
              <a:rPr lang="en-US" sz="1600" b="1" dirty="0">
                <a:solidFill>
                  <a:srgbClr val="003766"/>
                </a:solidFill>
              </a:rPr>
              <a:t> – </a:t>
            </a:r>
            <a:r>
              <a:rPr lang="en-US" sz="1600" b="1" dirty="0" err="1">
                <a:solidFill>
                  <a:srgbClr val="003766"/>
                </a:solidFill>
              </a:rPr>
              <a:t>aktywnie</a:t>
            </a:r>
            <a:r>
              <a:rPr lang="en-US" sz="1600" b="1" dirty="0">
                <a:solidFill>
                  <a:srgbClr val="003766"/>
                </a:solidFill>
              </a:rPr>
              <a:t>!"</a:t>
            </a:r>
          </a:p>
        </p:txBody>
      </p:sp>
      <p:sp>
        <p:nvSpPr>
          <p:cNvPr id="7" name="Prostokąt 6">
            <a:extLst>
              <a:ext uri="{FF2B5EF4-FFF2-40B4-BE49-F238E27FC236}">
                <a16:creationId xmlns:a16="http://schemas.microsoft.com/office/drawing/2014/main" id="{C60A85E7-5875-0213-108F-642526516838}"/>
              </a:ext>
            </a:extLst>
          </p:cNvPr>
          <p:cNvSpPr/>
          <p:nvPr/>
        </p:nvSpPr>
        <p:spPr>
          <a:xfrm>
            <a:off x="3966880" y="1197483"/>
            <a:ext cx="4013961" cy="5031867"/>
          </a:xfrm>
          <a:prstGeom prst="rect">
            <a:avLst/>
          </a:prstGeom>
          <a:solidFill>
            <a:schemeClr val="accent4">
              <a:lumMod val="75000"/>
              <a:alpha val="6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l-PL" b="1" dirty="0">
                <a:solidFill>
                  <a:srgbClr val="003766"/>
                </a:solidFill>
              </a:rPr>
              <a:t>NASZE LIMITY:</a:t>
            </a:r>
            <a:endParaRPr lang="en-US" b="1" dirty="0">
              <a:solidFill>
                <a:srgbClr val="003766"/>
              </a:solidFill>
            </a:endParaRPr>
          </a:p>
          <a:p>
            <a:endParaRPr lang="en-US" sz="1300" dirty="0">
              <a:solidFill>
                <a:srgbClr val="003766"/>
              </a:solidFill>
            </a:endParaRPr>
          </a:p>
          <a:p>
            <a:r>
              <a:rPr lang="en-US" sz="1300" dirty="0">
                <a:solidFill>
                  <a:srgbClr val="003766"/>
                </a:solidFill>
              </a:rPr>
              <a:t>1. No experimental validation</a:t>
            </a:r>
          </a:p>
          <a:p>
            <a:r>
              <a:rPr lang="en-US" sz="1300" dirty="0">
                <a:solidFill>
                  <a:srgbClr val="003766"/>
                </a:solidFill>
              </a:rPr>
              <a:t>   • Need: Luciferase assays</a:t>
            </a:r>
          </a:p>
          <a:p>
            <a:r>
              <a:rPr lang="en-US" sz="1300" dirty="0">
                <a:solidFill>
                  <a:srgbClr val="003766"/>
                </a:solidFill>
              </a:rPr>
              <a:t>   • Need: CLIP-seq (cells)</a:t>
            </a:r>
          </a:p>
          <a:p>
            <a:r>
              <a:rPr lang="en-US" sz="1300" dirty="0">
                <a:solidFill>
                  <a:srgbClr val="003766"/>
                </a:solidFill>
              </a:rPr>
              <a:t>   • Need: Therapeutic knockdown</a:t>
            </a:r>
          </a:p>
          <a:p>
            <a:r>
              <a:rPr lang="en-US" sz="1300" dirty="0">
                <a:solidFill>
                  <a:srgbClr val="003766"/>
                </a:solidFill>
              </a:rPr>
              <a:t>   → Proves causation, not correlation</a:t>
            </a:r>
          </a:p>
          <a:p>
            <a:endParaRPr lang="en-US" sz="1300" dirty="0">
              <a:solidFill>
                <a:srgbClr val="003766"/>
              </a:solidFill>
            </a:endParaRPr>
          </a:p>
          <a:p>
            <a:r>
              <a:rPr lang="en-US" sz="1300" dirty="0">
                <a:solidFill>
                  <a:srgbClr val="003766"/>
                </a:solidFill>
              </a:rPr>
              <a:t>2. TCGA bias</a:t>
            </a:r>
          </a:p>
          <a:p>
            <a:r>
              <a:rPr lang="en-US" sz="1300" dirty="0">
                <a:solidFill>
                  <a:srgbClr val="003766"/>
                </a:solidFill>
              </a:rPr>
              <a:t>   • Tertiary centers (2009-2013)</a:t>
            </a:r>
          </a:p>
          <a:p>
            <a:r>
              <a:rPr lang="en-US" sz="1300" dirty="0">
                <a:solidFill>
                  <a:srgbClr val="003766"/>
                </a:solidFill>
              </a:rPr>
              <a:t>   • May not represent population</a:t>
            </a:r>
          </a:p>
          <a:p>
            <a:r>
              <a:rPr lang="en-US" sz="1300" dirty="0">
                <a:solidFill>
                  <a:srgbClr val="003766"/>
                </a:solidFill>
              </a:rPr>
              <a:t>   • Need: External validation</a:t>
            </a:r>
          </a:p>
          <a:p>
            <a:r>
              <a:rPr lang="en-US" sz="1300" dirty="0">
                <a:solidFill>
                  <a:srgbClr val="003766"/>
                </a:solidFill>
              </a:rPr>
              <a:t>     (METABRIC, ICGC-BRCA)</a:t>
            </a:r>
          </a:p>
          <a:p>
            <a:endParaRPr lang="en-US" sz="1300" dirty="0">
              <a:solidFill>
                <a:srgbClr val="003766"/>
              </a:solidFill>
            </a:endParaRPr>
          </a:p>
          <a:p>
            <a:r>
              <a:rPr lang="en-US" sz="1300" dirty="0">
                <a:solidFill>
                  <a:srgbClr val="003766"/>
                </a:solidFill>
              </a:rPr>
              <a:t>3. Marginal p-values</a:t>
            </a:r>
          </a:p>
          <a:p>
            <a:r>
              <a:rPr lang="en-US" sz="1300" dirty="0">
                <a:solidFill>
                  <a:srgbClr val="003766"/>
                </a:solidFill>
              </a:rPr>
              <a:t>   • miRNA score p = 0.068</a:t>
            </a:r>
          </a:p>
          <a:p>
            <a:r>
              <a:rPr lang="en-US" sz="1300" dirty="0">
                <a:solidFill>
                  <a:srgbClr val="003766"/>
                </a:solidFill>
              </a:rPr>
              <a:t>   • Multiple testing concerns</a:t>
            </a:r>
          </a:p>
          <a:p>
            <a:endParaRPr lang="en-US" sz="1300" dirty="0">
              <a:solidFill>
                <a:srgbClr val="003766"/>
              </a:solidFill>
            </a:endParaRPr>
          </a:p>
          <a:p>
            <a:r>
              <a:rPr lang="en-US" sz="1300" dirty="0">
                <a:solidFill>
                  <a:srgbClr val="003766"/>
                </a:solidFill>
              </a:rPr>
              <a:t>4. Small test cohort (n=365)</a:t>
            </a:r>
          </a:p>
          <a:p>
            <a:r>
              <a:rPr lang="en-US" sz="1300" dirty="0">
                <a:solidFill>
                  <a:srgbClr val="003766"/>
                </a:solidFill>
              </a:rPr>
              <a:t>   • May lack power for</a:t>
            </a:r>
          </a:p>
          <a:p>
            <a:r>
              <a:rPr lang="en-US" sz="1300" dirty="0">
                <a:solidFill>
                  <a:srgbClr val="003766"/>
                </a:solidFill>
              </a:rPr>
              <a:t>     subtype-specific findings</a:t>
            </a:r>
          </a:p>
          <a:p>
            <a:endParaRPr lang="en-US" sz="1300" dirty="0">
              <a:solidFill>
                <a:srgbClr val="003766"/>
              </a:solidFill>
            </a:endParaRPr>
          </a:p>
          <a:p>
            <a:r>
              <a:rPr lang="en-US" sz="1600" b="1" dirty="0">
                <a:solidFill>
                  <a:srgbClr val="003766"/>
                </a:solidFill>
              </a:rPr>
              <a:t>HONESTY IS BEST SCIENCE!</a:t>
            </a:r>
          </a:p>
        </p:txBody>
      </p:sp>
      <p:sp>
        <p:nvSpPr>
          <p:cNvPr id="8" name="Prostokąt 7">
            <a:extLst>
              <a:ext uri="{FF2B5EF4-FFF2-40B4-BE49-F238E27FC236}">
                <a16:creationId xmlns:a16="http://schemas.microsoft.com/office/drawing/2014/main" id="{B28BEA59-5953-6A8D-AF68-67231F2F8B43}"/>
              </a:ext>
            </a:extLst>
          </p:cNvPr>
          <p:cNvSpPr/>
          <p:nvPr/>
        </p:nvSpPr>
        <p:spPr>
          <a:xfrm>
            <a:off x="8100185" y="1197483"/>
            <a:ext cx="4013961" cy="5515960"/>
          </a:xfrm>
          <a:prstGeom prst="rect">
            <a:avLst/>
          </a:prstGeom>
          <a:solidFill>
            <a:srgbClr val="7030A0">
              <a:alpha val="6000"/>
            </a:srgb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l-PL" b="1" dirty="0">
                <a:solidFill>
                  <a:srgbClr val="003766"/>
                </a:solidFill>
              </a:rPr>
              <a:t>PRZYSZŁOŚĆ</a:t>
            </a:r>
            <a:endParaRPr lang="en-US" sz="1400" b="1" dirty="0">
              <a:solidFill>
                <a:srgbClr val="003766"/>
              </a:solidFill>
            </a:endParaRPr>
          </a:p>
          <a:p>
            <a:endParaRPr lang="en-US" sz="1100" dirty="0">
              <a:solidFill>
                <a:srgbClr val="003766"/>
              </a:solidFill>
            </a:endParaRPr>
          </a:p>
          <a:p>
            <a:r>
              <a:rPr lang="en-US" sz="1100" dirty="0">
                <a:solidFill>
                  <a:srgbClr val="003766"/>
                </a:solidFill>
              </a:rPr>
              <a:t>IMMEDIATE (1-2 </a:t>
            </a:r>
            <a:r>
              <a:rPr lang="en-US" sz="1100" dirty="0" err="1">
                <a:solidFill>
                  <a:srgbClr val="003766"/>
                </a:solidFill>
              </a:rPr>
              <a:t>lata</a:t>
            </a:r>
            <a:r>
              <a:rPr lang="en-US" sz="1100" dirty="0">
                <a:solidFill>
                  <a:srgbClr val="003766"/>
                </a:solidFill>
              </a:rPr>
              <a:t>):</a:t>
            </a:r>
          </a:p>
          <a:p>
            <a:r>
              <a:rPr lang="en-US" sz="1100" dirty="0">
                <a:solidFill>
                  <a:srgbClr val="003766"/>
                </a:solidFill>
              </a:rPr>
              <a:t>• Experimental validation</a:t>
            </a:r>
          </a:p>
          <a:p>
            <a:r>
              <a:rPr lang="en-US" sz="1100" dirty="0">
                <a:solidFill>
                  <a:srgbClr val="003766"/>
                </a:solidFill>
              </a:rPr>
              <a:t>  → FOXA1/ESR1 targets in SUM149,</a:t>
            </a:r>
          </a:p>
          <a:p>
            <a:r>
              <a:rPr lang="en-US" sz="1100" dirty="0">
                <a:solidFill>
                  <a:srgbClr val="003766"/>
                </a:solidFill>
              </a:rPr>
              <a:t>    MDA-MB-231 cell lines</a:t>
            </a:r>
          </a:p>
          <a:p>
            <a:r>
              <a:rPr lang="en-US" sz="1100" dirty="0">
                <a:solidFill>
                  <a:srgbClr val="003766"/>
                </a:solidFill>
              </a:rPr>
              <a:t>  → CLIP-seq to map real binding</a:t>
            </a:r>
          </a:p>
          <a:p>
            <a:endParaRPr lang="en-US" sz="1100" dirty="0">
              <a:solidFill>
                <a:srgbClr val="003766"/>
              </a:solidFill>
            </a:endParaRPr>
          </a:p>
          <a:p>
            <a:r>
              <a:rPr lang="en-US" sz="1100" dirty="0">
                <a:solidFill>
                  <a:srgbClr val="003766"/>
                </a:solidFill>
              </a:rPr>
              <a:t>CLINICAL TRANSLATION (3-5 </a:t>
            </a:r>
            <a:r>
              <a:rPr lang="en-US" sz="1100" dirty="0" err="1">
                <a:solidFill>
                  <a:srgbClr val="003766"/>
                </a:solidFill>
              </a:rPr>
              <a:t>lat</a:t>
            </a:r>
            <a:r>
              <a:rPr lang="en-US" sz="1100" dirty="0">
                <a:solidFill>
                  <a:srgbClr val="003766"/>
                </a:solidFill>
              </a:rPr>
              <a:t>):</a:t>
            </a:r>
          </a:p>
          <a:p>
            <a:r>
              <a:rPr lang="en-US" sz="1100" dirty="0">
                <a:solidFill>
                  <a:srgbClr val="003766"/>
                </a:solidFill>
              </a:rPr>
              <a:t>• Anti-miRNA therapeutics testing</a:t>
            </a:r>
          </a:p>
          <a:p>
            <a:r>
              <a:rPr lang="en-US" sz="1100" dirty="0">
                <a:solidFill>
                  <a:srgbClr val="003766"/>
                </a:solidFill>
              </a:rPr>
              <a:t>  → </a:t>
            </a:r>
            <a:r>
              <a:rPr lang="en-US" sz="1100" dirty="0" err="1">
                <a:solidFill>
                  <a:srgbClr val="003766"/>
                </a:solidFill>
              </a:rPr>
              <a:t>antagomiRs</a:t>
            </a:r>
            <a:r>
              <a:rPr lang="en-US" sz="1100" dirty="0">
                <a:solidFill>
                  <a:srgbClr val="003766"/>
                </a:solidFill>
              </a:rPr>
              <a:t> (LNA inhibitors)</a:t>
            </a:r>
          </a:p>
          <a:p>
            <a:r>
              <a:rPr lang="en-US" sz="1100" dirty="0">
                <a:solidFill>
                  <a:srgbClr val="003766"/>
                </a:solidFill>
              </a:rPr>
              <a:t>  → miRNA sponges</a:t>
            </a:r>
          </a:p>
          <a:p>
            <a:r>
              <a:rPr lang="en-US" sz="1100" dirty="0">
                <a:solidFill>
                  <a:srgbClr val="003766"/>
                </a:solidFill>
              </a:rPr>
              <a:t>  → CRISPR-based approaches</a:t>
            </a:r>
          </a:p>
          <a:p>
            <a:endParaRPr lang="en-US" sz="1100" dirty="0">
              <a:solidFill>
                <a:srgbClr val="003766"/>
              </a:solidFill>
            </a:endParaRPr>
          </a:p>
          <a:p>
            <a:r>
              <a:rPr lang="en-US" sz="1100" dirty="0">
                <a:solidFill>
                  <a:srgbClr val="003766"/>
                </a:solidFill>
              </a:rPr>
              <a:t>CLINICAL TRIAL (5-10 </a:t>
            </a:r>
            <a:r>
              <a:rPr lang="en-US" sz="1100" dirty="0" err="1">
                <a:solidFill>
                  <a:srgbClr val="003766"/>
                </a:solidFill>
              </a:rPr>
              <a:t>lat</a:t>
            </a:r>
            <a:r>
              <a:rPr lang="en-US" sz="1100" dirty="0">
                <a:solidFill>
                  <a:srgbClr val="003766"/>
                </a:solidFill>
              </a:rPr>
              <a:t>):</a:t>
            </a:r>
          </a:p>
          <a:p>
            <a:r>
              <a:rPr lang="en-US" sz="1100" dirty="0">
                <a:solidFill>
                  <a:srgbClr val="003766"/>
                </a:solidFill>
              </a:rPr>
              <a:t>• Phase I/II: Anti-</a:t>
            </a:r>
            <a:r>
              <a:rPr lang="en-US" sz="1100" dirty="0" err="1">
                <a:solidFill>
                  <a:srgbClr val="003766"/>
                </a:solidFill>
              </a:rPr>
              <a:t>miR</a:t>
            </a:r>
            <a:r>
              <a:rPr lang="en-US" sz="1100" dirty="0">
                <a:solidFill>
                  <a:srgbClr val="003766"/>
                </a:solidFill>
              </a:rPr>
              <a:t> + Chemo in TNBC</a:t>
            </a:r>
          </a:p>
          <a:p>
            <a:r>
              <a:rPr lang="en-US" sz="1100" dirty="0">
                <a:solidFill>
                  <a:srgbClr val="003766"/>
                </a:solidFill>
              </a:rPr>
              <a:t>• Combination: Anti-</a:t>
            </a:r>
            <a:r>
              <a:rPr lang="en-US" sz="1100" dirty="0" err="1">
                <a:solidFill>
                  <a:srgbClr val="003766"/>
                </a:solidFill>
              </a:rPr>
              <a:t>miR</a:t>
            </a:r>
            <a:endParaRPr lang="en-US" sz="1100" dirty="0">
              <a:solidFill>
                <a:srgbClr val="003766"/>
              </a:solidFill>
            </a:endParaRPr>
          </a:p>
          <a:p>
            <a:r>
              <a:rPr lang="en-US" sz="1100" dirty="0">
                <a:solidFill>
                  <a:srgbClr val="003766"/>
                </a:solidFill>
              </a:rPr>
              <a:t>  + endocrine therapy restoration</a:t>
            </a:r>
          </a:p>
          <a:p>
            <a:endParaRPr lang="en-US" sz="1100" dirty="0">
              <a:solidFill>
                <a:srgbClr val="003766"/>
              </a:solidFill>
            </a:endParaRPr>
          </a:p>
          <a:p>
            <a:r>
              <a:rPr lang="en-US" sz="1100" dirty="0">
                <a:solidFill>
                  <a:srgbClr val="003766"/>
                </a:solidFill>
              </a:rPr>
              <a:t>WHY MATTERS:</a:t>
            </a:r>
          </a:p>
          <a:p>
            <a:r>
              <a:rPr lang="en-US" sz="1100" dirty="0">
                <a:solidFill>
                  <a:srgbClr val="003766"/>
                </a:solidFill>
              </a:rPr>
              <a:t>• Current TNBC: only chemo + I.T.</a:t>
            </a:r>
          </a:p>
          <a:p>
            <a:r>
              <a:rPr lang="en-US" sz="1100" dirty="0">
                <a:solidFill>
                  <a:srgbClr val="003766"/>
                </a:solidFill>
              </a:rPr>
              <a:t>• If we can restore ER?</a:t>
            </a:r>
          </a:p>
          <a:p>
            <a:r>
              <a:rPr lang="en-US" sz="1100" dirty="0">
                <a:solidFill>
                  <a:srgbClr val="003766"/>
                </a:solidFill>
              </a:rPr>
              <a:t>  → Endocrine therapy becomes option</a:t>
            </a:r>
          </a:p>
          <a:p>
            <a:r>
              <a:rPr lang="en-US" sz="1100" dirty="0">
                <a:solidFill>
                  <a:srgbClr val="003766"/>
                </a:solidFill>
              </a:rPr>
              <a:t>  → Better outcomes</a:t>
            </a:r>
          </a:p>
          <a:p>
            <a:r>
              <a:rPr lang="en-US" sz="1100" dirty="0">
                <a:solidFill>
                  <a:srgbClr val="003766"/>
                </a:solidFill>
              </a:rPr>
              <a:t>  → Less toxic treatment</a:t>
            </a:r>
          </a:p>
          <a:p>
            <a:endParaRPr lang="en-US" sz="1100" dirty="0">
              <a:solidFill>
                <a:srgbClr val="003766"/>
              </a:solidFill>
            </a:endParaRPr>
          </a:p>
          <a:p>
            <a:r>
              <a:rPr lang="en-US" sz="1600" b="1" dirty="0">
                <a:solidFill>
                  <a:srgbClr val="003766"/>
                </a:solidFill>
              </a:rPr>
              <a:t>WILD HOPE: "Rewiring cancer to be</a:t>
            </a:r>
          </a:p>
          <a:p>
            <a:r>
              <a:rPr lang="en-US" sz="1600" b="1" dirty="0">
                <a:solidFill>
                  <a:srgbClr val="003766"/>
                </a:solidFill>
              </a:rPr>
              <a:t>treatable with less toxic drugs"</a:t>
            </a:r>
          </a:p>
        </p:txBody>
      </p:sp>
    </p:spTree>
    <p:extLst>
      <p:ext uri="{BB962C8B-B14F-4D97-AF65-F5344CB8AC3E}">
        <p14:creationId xmlns:p14="http://schemas.microsoft.com/office/powerpoint/2010/main" val="402028127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79378-6AAD-C54E-EBE6-170037B1A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F5DA56C-A4CC-6788-DAE6-CDF08252B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3459" y="144557"/>
            <a:ext cx="7178566" cy="1199821"/>
          </a:xfrm>
        </p:spPr>
        <p:txBody>
          <a:bodyPr>
            <a:normAutofit/>
          </a:bodyPr>
          <a:lstStyle/>
          <a:p>
            <a:r>
              <a:rPr lang="pl-PL" sz="2800" b="1" i="0" dirty="0">
                <a:solidFill>
                  <a:schemeClr val="accent1">
                    <a:lumMod val="50000"/>
                  </a:schemeClr>
                </a:solidFill>
                <a:effectLst/>
              </a:rPr>
              <a:t>Podsumowanie: Odkrycie, Limity, Przyszłość</a:t>
            </a:r>
            <a:endParaRPr lang="pl-PL" sz="28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1" name="Symbol zastępczy zawartości 10" descr="Obraz zawierający zrzut ekranu, Czcionka, Grafika, tekst&#10;&#10;Opis wygenerowany automatycznie">
            <a:extLst>
              <a:ext uri="{FF2B5EF4-FFF2-40B4-BE49-F238E27FC236}">
                <a16:creationId xmlns:a16="http://schemas.microsoft.com/office/drawing/2014/main" id="{1107A44A-5FB7-E98E-417A-18DDBE7F1B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479626" y="-1431202"/>
            <a:ext cx="6150378" cy="4351338"/>
          </a:xfrm>
        </p:spPr>
      </p:pic>
      <p:cxnSp>
        <p:nvCxnSpPr>
          <p:cNvPr id="14" name="Łącznik prosty 13">
            <a:extLst>
              <a:ext uri="{FF2B5EF4-FFF2-40B4-BE49-F238E27FC236}">
                <a16:creationId xmlns:a16="http://schemas.microsoft.com/office/drawing/2014/main" id="{D09DCD3D-E150-B53A-2679-B42B8EE61EB6}"/>
              </a:ext>
            </a:extLst>
          </p:cNvPr>
          <p:cNvCxnSpPr/>
          <p:nvPr/>
        </p:nvCxnSpPr>
        <p:spPr>
          <a:xfrm>
            <a:off x="5213459" y="389744"/>
            <a:ext cx="0" cy="709448"/>
          </a:xfrm>
          <a:prstGeom prst="line">
            <a:avLst/>
          </a:prstGeom>
          <a:ln>
            <a:solidFill>
              <a:srgbClr val="00376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Prostokąt 7">
            <a:extLst>
              <a:ext uri="{FF2B5EF4-FFF2-40B4-BE49-F238E27FC236}">
                <a16:creationId xmlns:a16="http://schemas.microsoft.com/office/drawing/2014/main" id="{77422177-A9B9-4864-BF99-3BC1CA0D6FEA}"/>
              </a:ext>
            </a:extLst>
          </p:cNvPr>
          <p:cNvSpPr/>
          <p:nvPr/>
        </p:nvSpPr>
        <p:spPr>
          <a:xfrm>
            <a:off x="1504954" y="1589565"/>
            <a:ext cx="9382121" cy="4781391"/>
          </a:xfrm>
          <a:prstGeom prst="rect">
            <a:avLst/>
          </a:prstGeom>
          <a:solidFill>
            <a:schemeClr val="tx1">
              <a:lumMod val="95000"/>
              <a:lumOff val="5000"/>
              <a:alpha val="6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l-PL" sz="1400" b="1" dirty="0">
                <a:solidFill>
                  <a:srgbClr val="003766"/>
                </a:solidFill>
              </a:rPr>
              <a:t>1.</a:t>
            </a:r>
            <a:r>
              <a:rPr lang="en-US" sz="1400" b="1" dirty="0">
                <a:solidFill>
                  <a:srgbClr val="003766"/>
                </a:solidFill>
              </a:rPr>
              <a:t> </a:t>
            </a:r>
            <a:r>
              <a:rPr lang="pl-PL" sz="1400" b="1" dirty="0">
                <a:solidFill>
                  <a:srgbClr val="003766"/>
                </a:solidFill>
              </a:rPr>
              <a:t>Rak piersi nie jest jedną chorobą</a:t>
            </a:r>
            <a:br>
              <a:rPr lang="pl-PL" sz="1400" dirty="0">
                <a:solidFill>
                  <a:srgbClr val="003766"/>
                </a:solidFill>
              </a:rPr>
            </a:br>
            <a:r>
              <a:rPr lang="pl-PL" sz="1400" dirty="0">
                <a:solidFill>
                  <a:srgbClr val="003766"/>
                </a:solidFill>
              </a:rPr>
              <a:t>→ Cztery podtypy molekularne = cztery odmienne strategie leczenia</a:t>
            </a:r>
            <a:endParaRPr lang="pl-PL" sz="1400" b="1" dirty="0">
              <a:solidFill>
                <a:srgbClr val="003766"/>
              </a:solidFill>
            </a:endParaRPr>
          </a:p>
          <a:p>
            <a:r>
              <a:rPr lang="pl-PL" sz="1400" b="1" dirty="0">
                <a:solidFill>
                  <a:srgbClr val="003766"/>
                </a:solidFill>
              </a:rPr>
              <a:t>2. Agresywny podtyp Basal-like to nie „zły los genetyczny”</a:t>
            </a:r>
            <a:br>
              <a:rPr lang="pl-PL" sz="1400" dirty="0">
                <a:solidFill>
                  <a:srgbClr val="003766"/>
                </a:solidFill>
              </a:rPr>
            </a:br>
            <a:r>
              <a:rPr lang="pl-PL" sz="1400" dirty="0">
                <a:solidFill>
                  <a:srgbClr val="003766"/>
                </a:solidFill>
              </a:rPr>
              <a:t>→ Jest to </a:t>
            </a:r>
            <a:r>
              <a:rPr lang="pl-PL" sz="1400" b="1" dirty="0">
                <a:solidFill>
                  <a:srgbClr val="003766"/>
                </a:solidFill>
              </a:rPr>
              <a:t>aktywnie regulowany fenotyp</a:t>
            </a:r>
            <a:r>
              <a:rPr lang="pl-PL" sz="1400" dirty="0">
                <a:solidFill>
                  <a:srgbClr val="003766"/>
                </a:solidFill>
              </a:rPr>
              <a:t>, napędzany przez supresję receptorów zależną od miRNA</a:t>
            </a:r>
            <a:endParaRPr lang="en-US" sz="1400" b="1" dirty="0">
              <a:solidFill>
                <a:srgbClr val="003766"/>
              </a:solidFill>
            </a:endParaRPr>
          </a:p>
          <a:p>
            <a:r>
              <a:rPr lang="pl-PL" sz="1400" b="1" dirty="0">
                <a:solidFill>
                  <a:srgbClr val="003766"/>
                </a:solidFill>
              </a:rPr>
              <a:t>3. Analiza multiomiczna wyjaśnia mechanizm</a:t>
            </a:r>
            <a:br>
              <a:rPr lang="pl-PL" sz="1400" dirty="0">
                <a:solidFill>
                  <a:srgbClr val="003766"/>
                </a:solidFill>
              </a:rPr>
            </a:br>
            <a:r>
              <a:rPr lang="pl-PL" sz="1400" dirty="0">
                <a:solidFill>
                  <a:srgbClr val="003766"/>
                </a:solidFill>
              </a:rPr>
              <a:t>→ mRNA wyjaśnia jedynie ~30% zmienności poziomu białek</a:t>
            </a:r>
            <a:br>
              <a:rPr lang="pl-PL" sz="1400" dirty="0">
                <a:solidFill>
                  <a:srgbClr val="003766"/>
                </a:solidFill>
              </a:rPr>
            </a:br>
            <a:r>
              <a:rPr lang="pl-PL" sz="1400" dirty="0">
                <a:solidFill>
                  <a:srgbClr val="003766"/>
                </a:solidFill>
              </a:rPr>
              <a:t>→ Poziom białek odzwierciedla rzeczywistą funkcję biologiczną</a:t>
            </a:r>
            <a:br>
              <a:rPr lang="pl-PL" sz="1400" dirty="0">
                <a:solidFill>
                  <a:srgbClr val="003766"/>
                </a:solidFill>
              </a:rPr>
            </a:br>
            <a:r>
              <a:rPr lang="pl-PL" sz="1400" dirty="0">
                <a:solidFill>
                  <a:srgbClr val="003766"/>
                </a:solidFill>
              </a:rPr>
              <a:t>→ miRNA stanowi kluczową, ukrytą warstwę regulacyjną</a:t>
            </a:r>
            <a:endParaRPr lang="en-US" sz="1400" b="1" dirty="0">
              <a:solidFill>
                <a:srgbClr val="003766"/>
              </a:solidFill>
            </a:endParaRPr>
          </a:p>
          <a:p>
            <a:r>
              <a:rPr lang="pl-PL" sz="1400" b="1" dirty="0">
                <a:solidFill>
                  <a:srgbClr val="003766"/>
                </a:solidFill>
              </a:rPr>
              <a:t>4. Potencjał terapeutyczny</a:t>
            </a:r>
            <a:br>
              <a:rPr lang="pl-PL" sz="1400" dirty="0">
                <a:solidFill>
                  <a:srgbClr val="003766"/>
                </a:solidFill>
              </a:rPr>
            </a:br>
            <a:r>
              <a:rPr lang="pl-PL" sz="1400" dirty="0">
                <a:solidFill>
                  <a:srgbClr val="003766"/>
                </a:solidFill>
              </a:rPr>
              <a:t>→ Modulacja sieci miRNA może przywracać sygnalizację hormonalną</a:t>
            </a:r>
            <a:br>
              <a:rPr lang="pl-PL" sz="1400" dirty="0">
                <a:solidFill>
                  <a:srgbClr val="003766"/>
                </a:solidFill>
              </a:rPr>
            </a:br>
            <a:r>
              <a:rPr lang="pl-PL" sz="1400" dirty="0">
                <a:solidFill>
                  <a:srgbClr val="003766"/>
                </a:solidFill>
              </a:rPr>
              <a:t>→ Terapie anty-miRNA mogą zwiększyć wrażliwość agresywnych nowotworów na leczenie</a:t>
            </a:r>
            <a:endParaRPr lang="en-US" sz="1400" b="1" dirty="0">
              <a:solidFill>
                <a:srgbClr val="003766"/>
              </a:solidFill>
            </a:endParaRPr>
          </a:p>
          <a:p>
            <a:r>
              <a:rPr lang="pl-PL" sz="1400" b="1" dirty="0">
                <a:solidFill>
                  <a:srgbClr val="003766"/>
                </a:solidFill>
              </a:rPr>
              <a:t>5. Kolejne kroki</a:t>
            </a:r>
            <a:br>
              <a:rPr lang="pl-PL" sz="1400" dirty="0">
                <a:solidFill>
                  <a:srgbClr val="003766"/>
                </a:solidFill>
              </a:rPr>
            </a:br>
            <a:r>
              <a:rPr lang="pl-PL" sz="1400" dirty="0">
                <a:solidFill>
                  <a:srgbClr val="003766"/>
                </a:solidFill>
              </a:rPr>
              <a:t>→ Walidacja eksperymentalna</a:t>
            </a:r>
            <a:br>
              <a:rPr lang="pl-PL" sz="1400" dirty="0">
                <a:solidFill>
                  <a:srgbClr val="003766"/>
                </a:solidFill>
              </a:rPr>
            </a:br>
            <a:r>
              <a:rPr lang="pl-PL" sz="1400" dirty="0">
                <a:solidFill>
                  <a:srgbClr val="003766"/>
                </a:solidFill>
              </a:rPr>
              <a:t>→ Niezależne kohorty pacjentów</a:t>
            </a:r>
            <a:br>
              <a:rPr lang="pl-PL" sz="1400" dirty="0">
                <a:solidFill>
                  <a:srgbClr val="003766"/>
                </a:solidFill>
              </a:rPr>
            </a:br>
            <a:r>
              <a:rPr lang="pl-PL" sz="1400" dirty="0">
                <a:solidFill>
                  <a:srgbClr val="003766"/>
                </a:solidFill>
              </a:rPr>
              <a:t>→ Dalsze badania przedkliniczne i kliniczne</a:t>
            </a:r>
          </a:p>
          <a:p>
            <a:endParaRPr lang="pl-PL" sz="1400" b="1" dirty="0">
              <a:solidFill>
                <a:srgbClr val="003766"/>
              </a:solidFill>
            </a:endParaRPr>
          </a:p>
          <a:p>
            <a:r>
              <a:rPr lang="pl-PL" b="1" dirty="0">
                <a:solidFill>
                  <a:srgbClr val="003766"/>
                </a:solidFill>
              </a:rPr>
              <a:t>Zidentyfikowaliśmy „zamek” — supresję FOXA1/ESR1 sterowaną przez miRNA.</a:t>
            </a:r>
            <a:br>
              <a:rPr lang="pl-PL" b="1" dirty="0">
                <a:solidFill>
                  <a:srgbClr val="003766"/>
                </a:solidFill>
              </a:rPr>
            </a:br>
            <a:r>
              <a:rPr lang="pl-PL" b="1" dirty="0">
                <a:solidFill>
                  <a:srgbClr val="003766"/>
                </a:solidFill>
              </a:rPr>
              <a:t>Kolejnym krokiem jest znalezienie „klucza” — ukierunkowanych terapii anty-</a:t>
            </a:r>
            <a:r>
              <a:rPr lang="pl-PL" b="1" dirty="0" err="1">
                <a:solidFill>
                  <a:srgbClr val="003766"/>
                </a:solidFill>
              </a:rPr>
              <a:t>miRNA</a:t>
            </a:r>
            <a:r>
              <a:rPr lang="pl-PL" b="1" dirty="0">
                <a:solidFill>
                  <a:srgbClr val="003766"/>
                </a:solidFill>
              </a:rPr>
              <a:t>.</a:t>
            </a:r>
            <a:br>
              <a:rPr lang="pl-PL" b="1" dirty="0">
                <a:solidFill>
                  <a:srgbClr val="003766"/>
                </a:solidFill>
              </a:rPr>
            </a:br>
            <a:r>
              <a:rPr lang="pl-PL" b="1" dirty="0">
                <a:solidFill>
                  <a:srgbClr val="003766"/>
                </a:solidFill>
              </a:rPr>
              <a:t>To podejście może zmienić sposób leczenia potrójnie ujemnego raka piersi.</a:t>
            </a:r>
            <a:endParaRPr lang="en-US" b="1" dirty="0">
              <a:solidFill>
                <a:srgbClr val="0037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4975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809E7-F45E-FF30-7DCC-14E80EAAF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4860CF3-1A85-0CA6-0F6F-A51F3D19F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9917" y="420782"/>
            <a:ext cx="7178566" cy="1199821"/>
          </a:xfrm>
        </p:spPr>
        <p:txBody>
          <a:bodyPr>
            <a:normAutofit/>
          </a:bodyPr>
          <a:lstStyle/>
          <a:p>
            <a:r>
              <a:rPr lang="pl-PL" sz="2800" b="1" i="0" dirty="0">
                <a:solidFill>
                  <a:schemeClr val="accent1">
                    <a:lumMod val="50000"/>
                  </a:schemeClr>
                </a:solidFill>
                <a:effectLst/>
              </a:rPr>
              <a:t>Pytania? Dyskusja</a:t>
            </a:r>
            <a:endParaRPr lang="pl-PL" sz="28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1" name="Symbol zastępczy zawartości 10" descr="Obraz zawierający zrzut ekranu, Czcionka, Grafika, tekst&#10;&#10;Opis wygenerowany automatycznie">
            <a:extLst>
              <a:ext uri="{FF2B5EF4-FFF2-40B4-BE49-F238E27FC236}">
                <a16:creationId xmlns:a16="http://schemas.microsoft.com/office/drawing/2014/main" id="{614EC074-6C26-6FE6-4C67-4AD656149A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479626" y="-1154976"/>
            <a:ext cx="6150378" cy="4351338"/>
          </a:xfrm>
        </p:spPr>
      </p:pic>
      <p:cxnSp>
        <p:nvCxnSpPr>
          <p:cNvPr id="14" name="Łącznik prosty 13">
            <a:extLst>
              <a:ext uri="{FF2B5EF4-FFF2-40B4-BE49-F238E27FC236}">
                <a16:creationId xmlns:a16="http://schemas.microsoft.com/office/drawing/2014/main" id="{BE4B0262-4C24-A92E-BB2D-CF7B186F738F}"/>
              </a:ext>
            </a:extLst>
          </p:cNvPr>
          <p:cNvCxnSpPr/>
          <p:nvPr/>
        </p:nvCxnSpPr>
        <p:spPr>
          <a:xfrm>
            <a:off x="5249917" y="630621"/>
            <a:ext cx="0" cy="709448"/>
          </a:xfrm>
          <a:prstGeom prst="line">
            <a:avLst/>
          </a:prstGeom>
          <a:ln>
            <a:solidFill>
              <a:srgbClr val="00376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pole tekstowe 3">
            <a:extLst>
              <a:ext uri="{FF2B5EF4-FFF2-40B4-BE49-F238E27FC236}">
                <a16:creationId xmlns:a16="http://schemas.microsoft.com/office/drawing/2014/main" id="{05AA3A12-06A4-44E8-5E5D-25619774062C}"/>
              </a:ext>
            </a:extLst>
          </p:cNvPr>
          <p:cNvSpPr txBox="1"/>
          <p:nvPr/>
        </p:nvSpPr>
        <p:spPr>
          <a:xfrm>
            <a:off x="3294657" y="3083035"/>
            <a:ext cx="64531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lang="pl-PL" sz="3200" b="1" i="0" dirty="0">
                <a:solidFill>
                  <a:srgbClr val="003766"/>
                </a:solidFill>
                <a:effectLst/>
                <a:latin typeface="-apple-system"/>
              </a:rPr>
              <a:t>Co chcielibyście </a:t>
            </a:r>
            <a:r>
              <a:rPr lang="pl-PL" sz="3600" b="1" i="0" dirty="0">
                <a:solidFill>
                  <a:srgbClr val="003766"/>
                </a:solidFill>
                <a:effectLst/>
                <a:latin typeface="-apple-system"/>
              </a:rPr>
              <a:t>wiedzieć</a:t>
            </a:r>
            <a:r>
              <a:rPr lang="pl-PL" sz="3200" b="1" i="0" dirty="0">
                <a:solidFill>
                  <a:srgbClr val="003766"/>
                </a:solidFill>
                <a:effectLst/>
                <a:latin typeface="-apple-system"/>
              </a:rPr>
              <a:t>?</a:t>
            </a:r>
          </a:p>
        </p:txBody>
      </p:sp>
      <p:pic>
        <p:nvPicPr>
          <p:cNvPr id="1028" name="Picture 4" descr="Ikona pytanie | Wektor Premium">
            <a:extLst>
              <a:ext uri="{FF2B5EF4-FFF2-40B4-BE49-F238E27FC236}">
                <a16:creationId xmlns:a16="http://schemas.microsoft.com/office/drawing/2014/main" id="{BDD0D25E-FE98-C76F-5511-A943D568D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9584" y="1767901"/>
            <a:ext cx="2309718" cy="2309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77959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0D84D-2F8C-065B-2FAF-8110DB200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B20D055-3DCD-4C4A-2DF1-C9C386D5A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9917" y="420782"/>
            <a:ext cx="7178566" cy="1199821"/>
          </a:xfrm>
        </p:spPr>
        <p:txBody>
          <a:bodyPr>
            <a:normAutofit/>
          </a:bodyPr>
          <a:lstStyle/>
          <a:p>
            <a:r>
              <a:rPr lang="pl-PL" sz="2800" b="1" i="0" dirty="0">
                <a:solidFill>
                  <a:schemeClr val="accent1">
                    <a:lumMod val="50000"/>
                  </a:schemeClr>
                </a:solidFill>
                <a:effectLst/>
              </a:rPr>
              <a:t>Pytania? Dyskusja</a:t>
            </a:r>
            <a:endParaRPr lang="pl-PL" sz="28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1" name="Symbol zastępczy zawartości 10" descr="Obraz zawierający zrzut ekranu, Czcionka, Grafika, tekst&#10;&#10;Opis wygenerowany automatycznie">
            <a:extLst>
              <a:ext uri="{FF2B5EF4-FFF2-40B4-BE49-F238E27FC236}">
                <a16:creationId xmlns:a16="http://schemas.microsoft.com/office/drawing/2014/main" id="{9640DE05-B232-9176-14C7-7325307F0E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479626" y="-1154976"/>
            <a:ext cx="6150378" cy="4351338"/>
          </a:xfrm>
        </p:spPr>
      </p:pic>
      <p:cxnSp>
        <p:nvCxnSpPr>
          <p:cNvPr id="14" name="Łącznik prosty 13">
            <a:extLst>
              <a:ext uri="{FF2B5EF4-FFF2-40B4-BE49-F238E27FC236}">
                <a16:creationId xmlns:a16="http://schemas.microsoft.com/office/drawing/2014/main" id="{EA6A3163-72B5-6D97-54B0-C74ACF0477B5}"/>
              </a:ext>
            </a:extLst>
          </p:cNvPr>
          <p:cNvCxnSpPr/>
          <p:nvPr/>
        </p:nvCxnSpPr>
        <p:spPr>
          <a:xfrm>
            <a:off x="5249917" y="630621"/>
            <a:ext cx="0" cy="709448"/>
          </a:xfrm>
          <a:prstGeom prst="line">
            <a:avLst/>
          </a:prstGeom>
          <a:ln>
            <a:solidFill>
              <a:srgbClr val="00376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pole tekstowe 3">
            <a:extLst>
              <a:ext uri="{FF2B5EF4-FFF2-40B4-BE49-F238E27FC236}">
                <a16:creationId xmlns:a16="http://schemas.microsoft.com/office/drawing/2014/main" id="{75DE01DF-2490-4367-878A-FE59486DCEAD}"/>
              </a:ext>
            </a:extLst>
          </p:cNvPr>
          <p:cNvSpPr txBox="1"/>
          <p:nvPr/>
        </p:nvSpPr>
        <p:spPr>
          <a:xfrm>
            <a:off x="976574" y="2833128"/>
            <a:ext cx="1041082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2400" b="1" dirty="0">
                <a:solidFill>
                  <a:srgbClr val="003766"/>
                </a:solidFill>
              </a:rPr>
              <a:t>Q1: "Czy to może być leczono anty-miRNA już teraz?</a:t>
            </a:r>
          </a:p>
          <a:p>
            <a:endParaRPr lang="pl-PL" sz="2400" b="1" dirty="0">
              <a:solidFill>
                <a:srgbClr val="003766"/>
              </a:solidFill>
            </a:endParaRPr>
          </a:p>
          <a:p>
            <a:endParaRPr lang="pl-PL" sz="2400" b="1" dirty="0">
              <a:solidFill>
                <a:srgbClr val="003766"/>
              </a:solidFill>
            </a:endParaRPr>
          </a:p>
          <a:p>
            <a:r>
              <a:rPr lang="pl-PL" sz="2400" dirty="0">
                <a:solidFill>
                  <a:srgbClr val="003766"/>
                </a:solidFill>
              </a:rPr>
              <a:t>Nie. Potrzebujemy </a:t>
            </a:r>
            <a:r>
              <a:rPr lang="pl-PL" sz="2400" dirty="0" err="1">
                <a:solidFill>
                  <a:srgbClr val="003766"/>
                </a:solidFill>
              </a:rPr>
              <a:t>validacji</a:t>
            </a:r>
            <a:r>
              <a:rPr lang="pl-PL" sz="2400" dirty="0">
                <a:solidFill>
                  <a:srgbClr val="003766"/>
                </a:solidFill>
              </a:rPr>
              <a:t> eksperymentalnej i </a:t>
            </a:r>
            <a:r>
              <a:rPr lang="pl-PL" sz="2400" dirty="0" err="1">
                <a:solidFill>
                  <a:srgbClr val="003766"/>
                </a:solidFill>
              </a:rPr>
              <a:t>validacji</a:t>
            </a:r>
            <a:r>
              <a:rPr lang="pl-PL" sz="2400" dirty="0">
                <a:solidFill>
                  <a:srgbClr val="003766"/>
                </a:solidFill>
              </a:rPr>
              <a:t> w niezależnym </a:t>
            </a:r>
            <a:r>
              <a:rPr lang="pl-PL" sz="2400" dirty="0" err="1">
                <a:solidFill>
                  <a:srgbClr val="003766"/>
                </a:solidFill>
              </a:rPr>
              <a:t>cohort</a:t>
            </a:r>
            <a:r>
              <a:rPr lang="pl-PL" sz="2400" dirty="0">
                <a:solidFill>
                  <a:srgbClr val="003766"/>
                </a:solidFill>
              </a:rPr>
              <a:t> klinicznym. Ale droga jest jasna i mamy precedens (</a:t>
            </a:r>
            <a:r>
              <a:rPr lang="pl-PL" sz="2400" dirty="0" err="1">
                <a:solidFill>
                  <a:srgbClr val="003766"/>
                </a:solidFill>
              </a:rPr>
              <a:t>miravirsen</a:t>
            </a:r>
            <a:r>
              <a:rPr lang="pl-PL" sz="2400" dirty="0">
                <a:solidFill>
                  <a:srgbClr val="003766"/>
                </a:solidFill>
              </a:rPr>
              <a:t> w </a:t>
            </a:r>
            <a:r>
              <a:rPr lang="pl-PL" sz="2400" dirty="0" err="1">
                <a:solidFill>
                  <a:srgbClr val="003766"/>
                </a:solidFill>
              </a:rPr>
              <a:t>hep</a:t>
            </a:r>
            <a:r>
              <a:rPr lang="pl-PL" sz="2400" dirty="0">
                <a:solidFill>
                  <a:srgbClr val="003766"/>
                </a:solidFill>
              </a:rPr>
              <a:t> C)</a:t>
            </a:r>
          </a:p>
        </p:txBody>
      </p:sp>
    </p:spTree>
    <p:extLst>
      <p:ext uri="{BB962C8B-B14F-4D97-AF65-F5344CB8AC3E}">
        <p14:creationId xmlns:p14="http://schemas.microsoft.com/office/powerpoint/2010/main" val="19130201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9D9EA-62CF-CCDF-D32F-5575EFD86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3259B89-8924-5B22-FEF5-2FF033DD2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9917" y="420782"/>
            <a:ext cx="7178566" cy="1199821"/>
          </a:xfrm>
        </p:spPr>
        <p:txBody>
          <a:bodyPr>
            <a:normAutofit/>
          </a:bodyPr>
          <a:lstStyle/>
          <a:p>
            <a:r>
              <a:rPr lang="pl-PL" sz="2800" b="1" i="0" dirty="0">
                <a:solidFill>
                  <a:schemeClr val="accent1">
                    <a:lumMod val="50000"/>
                  </a:schemeClr>
                </a:solidFill>
                <a:effectLst/>
              </a:rPr>
              <a:t>Pytania? Dyskusja</a:t>
            </a:r>
            <a:endParaRPr lang="pl-PL" sz="28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1" name="Symbol zastępczy zawartości 10" descr="Obraz zawierający zrzut ekranu, Czcionka, Grafika, tekst&#10;&#10;Opis wygenerowany automatycznie">
            <a:extLst>
              <a:ext uri="{FF2B5EF4-FFF2-40B4-BE49-F238E27FC236}">
                <a16:creationId xmlns:a16="http://schemas.microsoft.com/office/drawing/2014/main" id="{53165524-16CC-CBDF-664D-9D9F990CC7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479626" y="-1154976"/>
            <a:ext cx="6150378" cy="4351338"/>
          </a:xfrm>
        </p:spPr>
      </p:pic>
      <p:cxnSp>
        <p:nvCxnSpPr>
          <p:cNvPr id="14" name="Łącznik prosty 13">
            <a:extLst>
              <a:ext uri="{FF2B5EF4-FFF2-40B4-BE49-F238E27FC236}">
                <a16:creationId xmlns:a16="http://schemas.microsoft.com/office/drawing/2014/main" id="{43D1CD72-1B93-6D27-3D85-045D09BC9D69}"/>
              </a:ext>
            </a:extLst>
          </p:cNvPr>
          <p:cNvCxnSpPr/>
          <p:nvPr/>
        </p:nvCxnSpPr>
        <p:spPr>
          <a:xfrm>
            <a:off x="5249917" y="630621"/>
            <a:ext cx="0" cy="709448"/>
          </a:xfrm>
          <a:prstGeom prst="line">
            <a:avLst/>
          </a:prstGeom>
          <a:ln>
            <a:solidFill>
              <a:srgbClr val="00376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pole tekstowe 3">
            <a:extLst>
              <a:ext uri="{FF2B5EF4-FFF2-40B4-BE49-F238E27FC236}">
                <a16:creationId xmlns:a16="http://schemas.microsoft.com/office/drawing/2014/main" id="{65350CB4-3471-5B97-3CBA-E20E4480117C}"/>
              </a:ext>
            </a:extLst>
          </p:cNvPr>
          <p:cNvSpPr txBox="1"/>
          <p:nvPr/>
        </p:nvSpPr>
        <p:spPr>
          <a:xfrm>
            <a:off x="890587" y="2749817"/>
            <a:ext cx="1041082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2400" b="1" dirty="0">
                <a:solidFill>
                  <a:srgbClr val="003766"/>
                </a:solidFill>
              </a:rPr>
              <a:t>Q2: "Ile czasu wymagałoby takie leczenie na rynku?"</a:t>
            </a:r>
            <a:r>
              <a:rPr lang="pl-PL" sz="2400" dirty="0">
                <a:solidFill>
                  <a:srgbClr val="003766"/>
                </a:solidFill>
              </a:rPr>
              <a:t> </a:t>
            </a:r>
          </a:p>
          <a:p>
            <a:endParaRPr lang="pl-PL" sz="2400" dirty="0">
              <a:solidFill>
                <a:srgbClr val="003766"/>
              </a:solidFill>
            </a:endParaRPr>
          </a:p>
          <a:p>
            <a:r>
              <a:rPr lang="pl-PL" sz="2400" dirty="0">
                <a:solidFill>
                  <a:srgbClr val="003766"/>
                </a:solidFill>
              </a:rPr>
              <a:t>5-10 lat. FDA wymaga: </a:t>
            </a:r>
            <a:r>
              <a:rPr lang="pl-PL" sz="2400" dirty="0" err="1">
                <a:solidFill>
                  <a:srgbClr val="003766"/>
                </a:solidFill>
              </a:rPr>
              <a:t>phase</a:t>
            </a:r>
            <a:r>
              <a:rPr lang="pl-PL" sz="2400" dirty="0">
                <a:solidFill>
                  <a:srgbClr val="003766"/>
                </a:solidFill>
              </a:rPr>
              <a:t> I (</a:t>
            </a:r>
            <a:r>
              <a:rPr lang="pl-PL" sz="2400" dirty="0" err="1">
                <a:solidFill>
                  <a:srgbClr val="003766"/>
                </a:solidFill>
              </a:rPr>
              <a:t>safety</a:t>
            </a:r>
            <a:r>
              <a:rPr lang="pl-PL" sz="2400" dirty="0">
                <a:solidFill>
                  <a:srgbClr val="003766"/>
                </a:solidFill>
              </a:rPr>
              <a:t>), </a:t>
            </a:r>
            <a:r>
              <a:rPr lang="pl-PL" sz="2400" dirty="0" err="1">
                <a:solidFill>
                  <a:srgbClr val="003766"/>
                </a:solidFill>
              </a:rPr>
              <a:t>phase</a:t>
            </a:r>
            <a:r>
              <a:rPr lang="pl-PL" sz="2400" dirty="0">
                <a:solidFill>
                  <a:srgbClr val="003766"/>
                </a:solidFill>
              </a:rPr>
              <a:t> II (</a:t>
            </a:r>
            <a:r>
              <a:rPr lang="pl-PL" sz="2400" dirty="0" err="1">
                <a:solidFill>
                  <a:srgbClr val="003766"/>
                </a:solidFill>
              </a:rPr>
              <a:t>efficacy</a:t>
            </a:r>
            <a:r>
              <a:rPr lang="pl-PL" sz="2400" dirty="0">
                <a:solidFill>
                  <a:srgbClr val="003766"/>
                </a:solidFill>
              </a:rPr>
              <a:t>), </a:t>
            </a:r>
            <a:r>
              <a:rPr lang="pl-PL" sz="2400" dirty="0" err="1">
                <a:solidFill>
                  <a:srgbClr val="003766"/>
                </a:solidFill>
              </a:rPr>
              <a:t>phase</a:t>
            </a:r>
            <a:r>
              <a:rPr lang="pl-PL" sz="2400" dirty="0">
                <a:solidFill>
                  <a:srgbClr val="003766"/>
                </a:solidFill>
              </a:rPr>
              <a:t> III (</a:t>
            </a:r>
            <a:r>
              <a:rPr lang="pl-PL" sz="2400" dirty="0" err="1">
                <a:solidFill>
                  <a:srgbClr val="003766"/>
                </a:solidFill>
              </a:rPr>
              <a:t>comparative</a:t>
            </a:r>
            <a:r>
              <a:rPr lang="pl-PL" sz="2400" dirty="0">
                <a:solidFill>
                  <a:srgbClr val="003766"/>
                </a:solidFill>
              </a:rPr>
              <a:t>). Każda faza to 1-3 lata + </a:t>
            </a:r>
            <a:r>
              <a:rPr lang="pl-PL" sz="2400" dirty="0" err="1">
                <a:solidFill>
                  <a:srgbClr val="003766"/>
                </a:solidFill>
              </a:rPr>
              <a:t>time</a:t>
            </a:r>
            <a:r>
              <a:rPr lang="pl-PL" sz="2400" dirty="0">
                <a:solidFill>
                  <a:srgbClr val="003766"/>
                </a:solidFill>
              </a:rPr>
              <a:t> to regulatory </a:t>
            </a:r>
            <a:r>
              <a:rPr lang="pl-PL" sz="2400" dirty="0" err="1">
                <a:solidFill>
                  <a:srgbClr val="003766"/>
                </a:solidFill>
              </a:rPr>
              <a:t>approval</a:t>
            </a:r>
            <a:r>
              <a:rPr lang="pl-PL" sz="2400" dirty="0">
                <a:solidFill>
                  <a:srgbClr val="003766"/>
                </a:solidFill>
              </a:rPr>
              <a:t>.</a:t>
            </a:r>
            <a:endParaRPr lang="pl-PL" sz="3200" dirty="0">
              <a:solidFill>
                <a:srgbClr val="0037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64330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FDFE6-F5FA-0EA3-D437-915976D02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D9F9494-3959-16CD-83C2-421627773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9917" y="420782"/>
            <a:ext cx="7178566" cy="1199821"/>
          </a:xfrm>
        </p:spPr>
        <p:txBody>
          <a:bodyPr>
            <a:normAutofit/>
          </a:bodyPr>
          <a:lstStyle/>
          <a:p>
            <a:r>
              <a:rPr lang="pl-PL" sz="2800" b="1" i="0" dirty="0">
                <a:solidFill>
                  <a:schemeClr val="accent1">
                    <a:lumMod val="50000"/>
                  </a:schemeClr>
                </a:solidFill>
                <a:effectLst/>
              </a:rPr>
              <a:t>Pytania? Dyskusja</a:t>
            </a:r>
            <a:endParaRPr lang="pl-PL" sz="28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1" name="Symbol zastępczy zawartości 10" descr="Obraz zawierający zrzut ekranu, Czcionka, Grafika, tekst&#10;&#10;Opis wygenerowany automatycznie">
            <a:extLst>
              <a:ext uri="{FF2B5EF4-FFF2-40B4-BE49-F238E27FC236}">
                <a16:creationId xmlns:a16="http://schemas.microsoft.com/office/drawing/2014/main" id="{162E4D07-E4B0-91A0-CEC4-ED378F53BC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479626" y="-1154976"/>
            <a:ext cx="6150378" cy="4351338"/>
          </a:xfrm>
        </p:spPr>
      </p:pic>
      <p:cxnSp>
        <p:nvCxnSpPr>
          <p:cNvPr id="14" name="Łącznik prosty 13">
            <a:extLst>
              <a:ext uri="{FF2B5EF4-FFF2-40B4-BE49-F238E27FC236}">
                <a16:creationId xmlns:a16="http://schemas.microsoft.com/office/drawing/2014/main" id="{F3F1A951-EA46-AE64-6255-61A373755C5C}"/>
              </a:ext>
            </a:extLst>
          </p:cNvPr>
          <p:cNvCxnSpPr/>
          <p:nvPr/>
        </p:nvCxnSpPr>
        <p:spPr>
          <a:xfrm>
            <a:off x="5249917" y="630621"/>
            <a:ext cx="0" cy="709448"/>
          </a:xfrm>
          <a:prstGeom prst="line">
            <a:avLst/>
          </a:prstGeom>
          <a:ln>
            <a:solidFill>
              <a:srgbClr val="00376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pole tekstowe 3">
            <a:extLst>
              <a:ext uri="{FF2B5EF4-FFF2-40B4-BE49-F238E27FC236}">
                <a16:creationId xmlns:a16="http://schemas.microsoft.com/office/drawing/2014/main" id="{F23D8E0E-1184-C670-E4AF-5161D06702E3}"/>
              </a:ext>
            </a:extLst>
          </p:cNvPr>
          <p:cNvSpPr txBox="1"/>
          <p:nvPr/>
        </p:nvSpPr>
        <p:spPr>
          <a:xfrm>
            <a:off x="991123" y="2876809"/>
            <a:ext cx="1041082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2400" b="1" dirty="0">
                <a:solidFill>
                  <a:srgbClr val="003766"/>
                </a:solidFill>
              </a:rPr>
              <a:t>Q3: "Czy te wyniki dotyczą tylko TCGA czy też całej populacji?"</a:t>
            </a:r>
            <a:r>
              <a:rPr lang="pl-PL" sz="2400" dirty="0">
                <a:solidFill>
                  <a:srgbClr val="003766"/>
                </a:solidFill>
              </a:rPr>
              <a:t> </a:t>
            </a:r>
          </a:p>
          <a:p>
            <a:endParaRPr lang="pl-PL" sz="2400" dirty="0">
              <a:solidFill>
                <a:srgbClr val="003766"/>
              </a:solidFill>
            </a:endParaRPr>
          </a:p>
          <a:p>
            <a:r>
              <a:rPr lang="pl-PL" sz="2400" dirty="0">
                <a:solidFill>
                  <a:srgbClr val="003766"/>
                </a:solidFill>
              </a:rPr>
              <a:t>TCGA jest </a:t>
            </a:r>
            <a:r>
              <a:rPr lang="pl-PL" sz="2400" dirty="0" err="1">
                <a:solidFill>
                  <a:srgbClr val="003766"/>
                </a:solidFill>
              </a:rPr>
              <a:t>proxy</a:t>
            </a:r>
            <a:r>
              <a:rPr lang="pl-PL" sz="2400" dirty="0">
                <a:solidFill>
                  <a:srgbClr val="003766"/>
                </a:solidFill>
              </a:rPr>
              <a:t> dla </a:t>
            </a:r>
            <a:r>
              <a:rPr lang="pl-PL" sz="2400" dirty="0" err="1">
                <a:solidFill>
                  <a:srgbClr val="003766"/>
                </a:solidFill>
              </a:rPr>
              <a:t>tertiarnych</a:t>
            </a:r>
            <a:r>
              <a:rPr lang="pl-PL" sz="2400" dirty="0">
                <a:solidFill>
                  <a:srgbClr val="003766"/>
                </a:solidFill>
              </a:rPr>
              <a:t> centrów zachodu. Chcemy </a:t>
            </a:r>
            <a:r>
              <a:rPr lang="pl-PL" sz="2400" dirty="0" err="1">
                <a:solidFill>
                  <a:srgbClr val="003766"/>
                </a:solidFill>
              </a:rPr>
              <a:t>validować</a:t>
            </a:r>
            <a:r>
              <a:rPr lang="pl-PL" sz="2400" dirty="0">
                <a:solidFill>
                  <a:srgbClr val="003766"/>
                </a:solidFill>
              </a:rPr>
              <a:t> w METABRIC (Europa) i ICGC-BRCA (globalne), aby sprawdzić czy efekt się replikuje.</a:t>
            </a:r>
          </a:p>
        </p:txBody>
      </p:sp>
    </p:spTree>
    <p:extLst>
      <p:ext uri="{BB962C8B-B14F-4D97-AF65-F5344CB8AC3E}">
        <p14:creationId xmlns:p14="http://schemas.microsoft.com/office/powerpoint/2010/main" val="21021866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1DC709-724E-80AD-5163-7C0F7C9C2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E64979D-9F3D-7AA8-425B-657767333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9917" y="420782"/>
            <a:ext cx="7178566" cy="1199821"/>
          </a:xfrm>
        </p:spPr>
        <p:txBody>
          <a:bodyPr>
            <a:normAutofit/>
          </a:bodyPr>
          <a:lstStyle/>
          <a:p>
            <a:r>
              <a:rPr lang="pl-PL" sz="2800" b="1" i="0" dirty="0">
                <a:solidFill>
                  <a:schemeClr val="accent1">
                    <a:lumMod val="50000"/>
                  </a:schemeClr>
                </a:solidFill>
                <a:effectLst/>
              </a:rPr>
              <a:t>Pytania? Dyskusja</a:t>
            </a:r>
            <a:endParaRPr lang="pl-PL" sz="28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1" name="Symbol zastępczy zawartości 10" descr="Obraz zawierający zrzut ekranu, Czcionka, Grafika, tekst&#10;&#10;Opis wygenerowany automatycznie">
            <a:extLst>
              <a:ext uri="{FF2B5EF4-FFF2-40B4-BE49-F238E27FC236}">
                <a16:creationId xmlns:a16="http://schemas.microsoft.com/office/drawing/2014/main" id="{9561D63C-4502-48C2-E9B9-811371DA03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479626" y="-1154976"/>
            <a:ext cx="6150378" cy="4351338"/>
          </a:xfrm>
        </p:spPr>
      </p:pic>
      <p:cxnSp>
        <p:nvCxnSpPr>
          <p:cNvPr id="14" name="Łącznik prosty 13">
            <a:extLst>
              <a:ext uri="{FF2B5EF4-FFF2-40B4-BE49-F238E27FC236}">
                <a16:creationId xmlns:a16="http://schemas.microsoft.com/office/drawing/2014/main" id="{07454C12-53C7-DA7B-8867-FE20441A20D0}"/>
              </a:ext>
            </a:extLst>
          </p:cNvPr>
          <p:cNvCxnSpPr/>
          <p:nvPr/>
        </p:nvCxnSpPr>
        <p:spPr>
          <a:xfrm>
            <a:off x="5249917" y="630621"/>
            <a:ext cx="0" cy="709448"/>
          </a:xfrm>
          <a:prstGeom prst="line">
            <a:avLst/>
          </a:prstGeom>
          <a:ln>
            <a:solidFill>
              <a:srgbClr val="00376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pole tekstowe 3">
            <a:extLst>
              <a:ext uri="{FF2B5EF4-FFF2-40B4-BE49-F238E27FC236}">
                <a16:creationId xmlns:a16="http://schemas.microsoft.com/office/drawing/2014/main" id="{259E14F0-E816-105A-36E4-6F7073655351}"/>
              </a:ext>
            </a:extLst>
          </p:cNvPr>
          <p:cNvSpPr txBox="1"/>
          <p:nvPr/>
        </p:nvSpPr>
        <p:spPr>
          <a:xfrm>
            <a:off x="1011168" y="2688347"/>
            <a:ext cx="1041082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2400" b="1" dirty="0">
                <a:solidFill>
                  <a:srgbClr val="003766"/>
                </a:solidFill>
              </a:rPr>
              <a:t>Q4: "Jak to porównuje się z innymi pracami nad miRNA w raku piersi?"</a:t>
            </a:r>
            <a:r>
              <a:rPr lang="pl-PL" sz="2400" dirty="0">
                <a:solidFill>
                  <a:srgbClr val="003766"/>
                </a:solidFill>
              </a:rPr>
              <a:t> </a:t>
            </a:r>
          </a:p>
          <a:p>
            <a:endParaRPr lang="pl-PL" sz="2400" dirty="0">
              <a:solidFill>
                <a:srgbClr val="003766"/>
              </a:solidFill>
            </a:endParaRPr>
          </a:p>
          <a:p>
            <a:endParaRPr lang="pl-PL" sz="2400" dirty="0">
              <a:solidFill>
                <a:srgbClr val="003766"/>
              </a:solidFill>
            </a:endParaRPr>
          </a:p>
          <a:p>
            <a:r>
              <a:rPr lang="pl-PL" sz="2400" dirty="0">
                <a:solidFill>
                  <a:srgbClr val="003766"/>
                </a:solidFill>
              </a:rPr>
              <a:t>Nasza praca skupia się na POST-TRANSCRIPTIONAL </a:t>
            </a:r>
            <a:r>
              <a:rPr lang="pl-PL" sz="2400" dirty="0" err="1">
                <a:solidFill>
                  <a:srgbClr val="003766"/>
                </a:solidFill>
              </a:rPr>
              <a:t>regulation</a:t>
            </a:r>
            <a:r>
              <a:rPr lang="pl-PL" sz="2400" dirty="0">
                <a:solidFill>
                  <a:srgbClr val="003766"/>
                </a:solidFill>
              </a:rPr>
              <a:t> – to jest nowa perspektywa. Większość prac patrzy tylko na mRNA. My pokazujemy że białka               są inne.</a:t>
            </a:r>
            <a:endParaRPr lang="pl-PL" sz="3200" dirty="0">
              <a:solidFill>
                <a:srgbClr val="0037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8309018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</TotalTime>
  <Words>1513</Words>
  <Application>Microsoft Office PowerPoint</Application>
  <PresentationFormat>Panoramiczny</PresentationFormat>
  <Paragraphs>296</Paragraphs>
  <Slides>14</Slides>
  <Notes>1</Notes>
  <HiddenSlides>0</HiddenSlides>
  <MMClips>0</MMClips>
  <ScaleCrop>false</ScaleCrop>
  <HeadingPairs>
    <vt:vector size="6" baseType="variant">
      <vt:variant>
        <vt:lpstr>Używane czcionki</vt:lpstr>
      </vt:variant>
      <vt:variant>
        <vt:i4>5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14</vt:i4>
      </vt:variant>
    </vt:vector>
  </HeadingPairs>
  <TitlesOfParts>
    <vt:vector size="20" baseType="lpstr">
      <vt:lpstr>-apple-system</vt:lpstr>
      <vt:lpstr>Aptos</vt:lpstr>
      <vt:lpstr>Arial</vt:lpstr>
      <vt:lpstr>Calibri</vt:lpstr>
      <vt:lpstr>Calibri Light</vt:lpstr>
      <vt:lpstr>Motyw pakietu Office</vt:lpstr>
      <vt:lpstr>Zintegrowana analiza multiomiczna podtypów raka piersi: rola sieci regulacyjnych sterowanych przez miRNA w przeżyciu pacjentów</vt:lpstr>
      <vt:lpstr>Cztery twarze raka piersi – Dlaczego leki działają dla jednych, a nie dla innych?</vt:lpstr>
      <vt:lpstr>Dlaczego musimy patrzeć poniżej transkryptomu?  (DNA → RNA ≠ RNA → Białko)</vt:lpstr>
      <vt:lpstr>Dlaczego musimy patrzeć poniżej transkryptomu?  (DNA → RNA ≠ RNA → Białko)</vt:lpstr>
      <vt:lpstr>miRNA-zależna supresja osi FOXA1/ESR1 w TNBC</vt:lpstr>
      <vt:lpstr>Luminal B – podtyp o agresywniejszym przebiegu klinicznym</vt:lpstr>
      <vt:lpstr>Stadium Wygrywa – Ale miRNA Dają Wskazówkę</vt:lpstr>
      <vt:lpstr>Podsumowanie: Odkrycie, Limity, Przyszłość</vt:lpstr>
      <vt:lpstr>Podsumowanie: Odkrycie, Limity, Przyszłość</vt:lpstr>
      <vt:lpstr>Pytania? Dyskusja</vt:lpstr>
      <vt:lpstr>Pytania? Dyskusja</vt:lpstr>
      <vt:lpstr>Pytania? Dyskusja</vt:lpstr>
      <vt:lpstr>Pytania? Dyskusja</vt:lpstr>
      <vt:lpstr>Pytania? Dyskusja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programu PowerPoint</dc:title>
  <dc:creator>Izabela Reszka, s206742</dc:creator>
  <cp:lastModifiedBy>Klaudia Woźniak</cp:lastModifiedBy>
  <cp:revision>17</cp:revision>
  <dcterms:created xsi:type="dcterms:W3CDTF">2025-12-14T19:02:56Z</dcterms:created>
  <dcterms:modified xsi:type="dcterms:W3CDTF">2025-12-17T13:39:01Z</dcterms:modified>
</cp:coreProperties>
</file>