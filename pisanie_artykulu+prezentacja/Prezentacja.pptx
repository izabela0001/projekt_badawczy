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  <p:sldId id="269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E592C16-3045-64E8-467A-15353A589283}" name="Klaudia Woźniak" initials="KW" userId="8aeb85f5462ee2a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6"/>
    <a:srgbClr val="F39C12"/>
    <a:srgbClr val="2ECC71"/>
    <a:srgbClr val="E74C3C"/>
    <a:srgbClr val="349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3"/>
    <p:restoredTop sz="77578" autoAdjust="0"/>
  </p:normalViewPr>
  <p:slideViewPr>
    <p:cSldViewPr snapToGrid="0">
      <p:cViewPr varScale="1">
        <p:scale>
          <a:sx n="86" d="100"/>
          <a:sy n="86" d="100"/>
        </p:scale>
        <p:origin x="1686" y="396"/>
      </p:cViewPr>
      <p:guideLst/>
    </p:cSldViewPr>
  </p:slideViewPr>
  <p:notesTextViewPr>
    <p:cViewPr>
      <p:scale>
        <a:sx n="1" d="1"/>
        <a:sy n="1" d="1"/>
      </p:scale>
      <p:origin x="0" y="-73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DA2362-0B84-486E-AE4F-62C391FBA256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A97DA8-01C1-4F17-9024-F98A077322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19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(20 sekund):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Rak piersi zabija ponad 700 000 kobiet rocznie na świecie.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 pewne rodzaje raka mogą być wyleczalne, a inne pozostają oporne na wszystkie terapie.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Dzisiaj pokażemy, dlaczego. Szukaliśmy odpowiedzi na pytanie: co biologicznie różni dobry rak od złego?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odkryliśmy coś zadziwiającego – to nie obojętny brak receptorów, ale aktywny plan, napisany małymi cząsteczkami RNA.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6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(70 sekund):</a:t>
            </a:r>
            <a:b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Każdego roku 700 000 kobiet na świecie umiera z powodu raka piersi. Ale nie wszystkie umierają z tej samej przyczyny.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Rak piersi to cztery różne choroby. Luminal A – to najłagodniejsza. 92% pacjentek żyje 5 lat. Mamy dla niej terapię – receptory hormonalne, więc możemy dać leki hormonalne.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HER2-positive – był problem, ale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Trastuzumab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rozwiązał. Teraz też 65-75% przeżycia.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 jest czwarta grupa: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Basal-like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zwana też TNBC –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Triple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Negative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Bez receptorów ŻADNYCH. Przeżycie: zaledwie 28%. To znaczy – nie wiemy jak je leczyć.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Czyli pytanie brzmi: 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Dlaczego te guzy nie mają receptorów? Czy to przypadek? Czy może... aktywna liczba zabijająca te receptory?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jest pytanie, na które chcieliśmy odpowiedzieć.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650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CZĘŚĆ</a:t>
            </a:r>
            <a:b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(45 sekund):</a:t>
            </a:r>
            <a:b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Wiecie dlaczego klasyczne badania DNA/RNA tracą 70% informacji?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Większość projektów sekwencjonuje gen, mierzy mRNA i mówi: 'gotowe'. Ale białko – to, co naprawdę pracuje w komórce – może być całkowicie inne!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jak mierzyć ile fabryka produkuje części, ignorując robotników, którzy je niszczą.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robotnicy.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83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b="1" dirty="0"/>
              <a:t>CZĘŚĆ II</a:t>
            </a:r>
          </a:p>
          <a:p>
            <a:endParaRPr lang="pl-PL" b="0" dirty="0"/>
          </a:p>
          <a:p>
            <a:r>
              <a:rPr lang="pl-PL" b="0" dirty="0"/>
              <a:t>W tym projekcie poszliśmy o krok dalej.</a:t>
            </a:r>
          </a:p>
          <a:p>
            <a:br>
              <a:rPr lang="pl-PL" b="0" dirty="0"/>
            </a:br>
            <a:r>
              <a:rPr lang="pl-PL" b="0" dirty="0"/>
              <a:t>Przeanalizowaliśmy ponad 1 200 próbek, równocześnie mierząc:</a:t>
            </a:r>
          </a:p>
          <a:p>
            <a:endParaRPr lang="pl-PL" b="0" dirty="0"/>
          </a:p>
          <a:p>
            <a:r>
              <a:rPr lang="pl-PL" b="0" dirty="0"/>
              <a:t>poziom mRNA (co jest transkrybowane),</a:t>
            </a:r>
          </a:p>
          <a:p>
            <a:endParaRPr lang="pl-PL" b="0" dirty="0"/>
          </a:p>
          <a:p>
            <a:r>
              <a:rPr lang="pl-PL" b="0" dirty="0"/>
              <a:t>poziom białek (co faktycznie powstaje),</a:t>
            </a:r>
          </a:p>
          <a:p>
            <a:endParaRPr lang="pl-PL" b="0" dirty="0"/>
          </a:p>
          <a:p>
            <a:r>
              <a:rPr lang="pl-PL" b="0" dirty="0"/>
              <a:t>poziom </a:t>
            </a:r>
            <a:r>
              <a:rPr lang="pl-PL" b="0" dirty="0" err="1"/>
              <a:t>miRNA</a:t>
            </a:r>
            <a:r>
              <a:rPr lang="pl-PL" b="0" dirty="0"/>
              <a:t> – kluczowych regulatorów odpowiedzialnych za utracone białka.</a:t>
            </a:r>
          </a:p>
          <a:p>
            <a:endParaRPr lang="pl-PL" b="0" dirty="0"/>
          </a:p>
          <a:p>
            <a:r>
              <a:rPr lang="pl-PL" b="0" dirty="0"/>
              <a:t>Integracja tych trzech warstw molekularnych pozwoliła nam odpowiedzieć na pytanie:</a:t>
            </a:r>
          </a:p>
          <a:p>
            <a:endParaRPr lang="pl-PL" b="0" dirty="0"/>
          </a:p>
          <a:p>
            <a:r>
              <a:rPr lang="pl-PL" b="0" dirty="0"/>
              <a:t>Dlaczego białko ESR1 zanika w nowotworach typu </a:t>
            </a:r>
            <a:r>
              <a:rPr lang="pl-PL" b="0" dirty="0" err="1"/>
              <a:t>basal-like</a:t>
            </a:r>
            <a:r>
              <a:rPr lang="pl-PL" b="0" dirty="0"/>
              <a:t>, mimo obecności jego mRNA?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pl-PL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b="0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89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(75 sekund):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 jest moment 'eureka'. Na tym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volcano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plote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widzicie: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 lewej stronie (górnie): nasze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Zaczęły się rozmnażać. miR-17: +2.4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fold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miR-20a: +2.1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fold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miR-210: +3.8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fold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To znaczy – ekspresja tych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EKSPLODOWAŁA w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Basal-like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 prawej stronie (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dolnie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receptory. Zaczęły znikać. ESR1: −1.8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fold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(zmniejszona o połowę) FOXA1: −2.1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fold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(zmniejszona niemal trzykrotnie!)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 czekajcie. Może to zbieg okoliczności? Może ESR1 mRNA jest tam, a białko jakoś naturalnie się rozkłada?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 B pokazuje: NIE. To nie zbieg.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NAPRAWDĘ tłumią białka. Widzicie: gdzie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wysoki (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Basal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wiersze na górze), tam protein niski (kolory niebieskie). To jest AKTYWNA SUPRESJA. To jest jak 'hamulec' naciskany przez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 C to mechanizm. W normalnym raku (Luminal A) FOXA1 i ESR1 pracują. Receptory sterują transkrypcją. Guz jest kontrolowany.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 w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Basal-like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17/20a zabija ESR1. Brak FOXA1 = brak dostępu do DNA. Brak ER = brak terapii. Brak kontroli = guz rośnie agresywnie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379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(60 sekund):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"Ale czekajcie – odkryliśmy coś dziwnego.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Luminal B ma receptory. Dokładnie jak Luminal A. Więc czemu pacjentki gorzej przeżywają?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Odpowiedź: to nie jest czystość receptorów. To TEMPO wzrostu.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Spójrzcie na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Boxplot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Luminal A ma niski Ki-67 (marker proliferacji). Guzy rosną powoli. Są 'leniwą'. Receptory je hamują.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Luminal B? Ki-67 jest bardzo wysoki! To znaczy – guzy rosną szybko. Tak szybko, że zanim hormonalna terapia zadziała, guz już się rozprzestrzeniła.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Dlaczego Ki-67 jest na takim poziomie w Luminal B? Nasza analiza mówi: miR-210.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miR-210 to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miRNA-responsive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 niedotlenienie. To marker 'głodnych' guzów, które rosną szybko bez tlenu.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 miR-210 zabija receptor progesteronu (PGR). Bez PGR? Brak hamowania proliferacji. Guz robi co chce.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jest 'dobry rak z złą osobowością'. Luminal B: 'Mam receptory, ale brakuje mi hamulców!'"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693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(60 sekund):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"No dobrze, teoria. Ale czy to faktycznie przewiduje przeżycie?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to udało nam się sprawdzić.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Forest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Plot – to Model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Coxa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Zamieściliśmy tutaj: stadium, wiek, PAM50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subtype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nasz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Rezultat? Stadium wygrywa. HR = 2.31. To znaczy: pacjentka ze stopniem zaawansowania III ma dwa razy wyższe ryzyko zgonu niż stan I.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HR = 1.18. To jest mniejszy efekt. Ale nie zero. To jest MARGINALNIE istotne (p = 0.068). Na granicy.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Teraz Kaplan-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Meier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Górna krzywa – stratyfikacja po Stadium. DRAMATYCZNA różnica. To jest co wiemy od 20 lat. Stadium działa.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Dolna krzywa – ale to ciekawe. Jeśli patrzmy TYLKO na pacjentki z TNBC i stratyfikujemy po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Jest różnica. p = 0.042.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 to oznacza? Że w raku już wykrytym,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mogą dać dodatkową wskazówkę. Dwie pacjentki o tym samym stadium – ale różny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mogą mieć różne wyniki.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nie rewolucja. Ale to wskazówka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3489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Narracja (75 sekund):</a:t>
            </a:r>
            <a:br>
              <a:rPr lang="pl-P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Podsumowanie w trzech ramkach.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RAMA 1 – Odkrycie. Udało nam się pokazać, że agresywny rak piersi to nie 'szansa' genetyczna, ale aktywnie utrzymywany fenotyp. Guzy wyłączają swoje hamulce (receptory) poprzez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To jest mechanizm – nie tylko opis.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RAMA 2 – Ale uczciwości. Zrobiliśmy modelowanie. Nie zrobiliśmy eksperymentu. Nie wiemy na 100%, że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faktycznie tłumią ESR1. To jest korelacja, nie przyczynowość. I nasze badania na TCGA – to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tertiarne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centra, 10 lat temu. Mogą nie reprezentować populacji. Więc musimy powiedzieć: to potrzebuje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validacji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RAMA 3 – Droga naprzód. Jeśli mamy rację – a myślimy że mamy – to otwiera drogę do nowych leków. 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Anti-miRNA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są już używane w innych chorobach (</a:t>
            </a:r>
            <a:r>
              <a:rPr lang="pl-P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hep</a:t>
            </a: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C). Mogą działać tutaj. Mogą 'przywrócić' receptory i sprawić, że TNBC będzie podatny na hormonalną terapię. To jest nadzieja na leczenie, które jest mniej toksyczne niż chemoterapia.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 – musimy myśleć przyszłościowo. To wymaga lat pracy. Eksperymentów. Badań na pacjentach.</a:t>
            </a: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pl-P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820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2491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88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92007E7-A1B4-3B23-F8F1-9D9611008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7B61129-0883-5886-A563-1E77C4861D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DA1C89D-7A77-A5BF-4C2C-9D0F9A14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5F6B518-0ACD-5D01-7870-0165069E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9F4328B-38DB-0799-1FDD-D11A17327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3230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D59B2-F885-1FD9-9513-EC77CF2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6708C9E-E495-6287-1A11-087066267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0C2247E-6513-FDDD-FEEE-1ED6A9837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D0868F1-65AB-D1C4-5981-589A7AF77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9B3140F-2072-075F-E2F8-872C6C8E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4742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8B49CD5-7199-1D02-3ABC-F2927E921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2AEBD8-C0DA-E994-A490-68805B7F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83A8558-7016-5ABF-DBF0-FA22811A4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7E4DA6-BEAA-81EF-A7E1-AFC230C1A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2ED542-B552-E845-1F8F-C312032D4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93321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385C40-BB38-F5A3-B87B-EB21FC92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1FFF40-1EE3-638E-5A57-A36F37AEF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F38DD40-052E-85F1-1AD2-230C520ED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A1C90AC-D2B3-8694-B83A-2F48F9FC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E4F1A0B-D6C0-0E76-4187-AFC8F9F1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D0E8B234-A68B-54AE-A9B9-B0AE8F0D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396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A67C573-A71D-F9A2-F872-66D9D6EF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83ACC70-A20D-9F70-BB5A-6C91267A2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EA5BE30-66F3-FA4F-12C8-3310532F8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2AE4EF19-B890-4F11-B93E-9A65C6E58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65C2E39-B4A5-37C5-E469-864658343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1F169457-55C4-A590-1F4D-26069E64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14B4C83-C89E-964C-1743-277FA3D5A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2ADE713B-A541-9D4C-944E-867E66C7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659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6FB7058-BE9F-5421-0F51-797A1D09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1B894EA-79C6-B9CC-D267-19BDC14E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6C51885B-9916-3457-DFBD-06298E9C6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9D532F1E-3F4D-627C-1024-A143ED1A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2675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8E4FE211-ED9A-1A1D-F5A7-658F611E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A238233-1749-C2C2-9E46-A8A474C27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7C05793-9A9F-D703-F156-F98A37AE7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6392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7358D25-3598-0B7A-78F4-1A989F54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751FAB4-9AB9-2D8C-B3BC-4C12419DE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A740D6E0-B964-A95A-7237-406C1F87E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18BF2FB-E259-A3FC-0EF5-E07BD27C2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C8B5416-9105-7653-E001-8AD32EC45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51FD8C7-0C4F-8952-8184-CA155118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37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7EDD8F-4DE8-2E36-B79A-F2DB3B7A2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D7821CC-CA5B-9886-3C68-6252700FA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BAFB1EE-DFFC-E5A1-4017-1995D86A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4B94509-DE09-847D-38FF-81FE41A9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A876378-0ABF-5508-977B-CDEF95962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77A890B-1A67-9132-4E4B-4242FAA38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9234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9907516-7A7B-E2D1-D79B-A0CDA552C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04BFF5C-C716-9487-14A5-5D967C1EE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3335187-D36F-474A-E2A7-8FBDEB4B9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895F48C-F077-A218-97A6-6729D629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F8BA35C-CF32-B4CC-3AE1-499EC66A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7116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B5B74A0-EE03-7544-5DC7-4BDD20DF90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729256A-A14F-EFA3-EE21-080E9F13C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5251D1A-9145-F8D2-01AA-9B5D4C45D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3657809-DC03-15CB-7303-556FDADF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48A6EE4-B574-71C2-247A-8550B0CE4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740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83D6C9-0565-80AF-A657-3CD415F21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CA643FB-54A3-F542-6F0E-477206DE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164B8AE-38BD-D3A8-8314-2E12962D2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39C4DB0-1BFF-18DB-721B-F69CC2DF9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B3BC3F4-E1AF-7035-CE9E-C8F37858D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163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7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EBCB63-99FE-2993-3C7A-86D079CEB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37194"/>
            <a:ext cx="9144000" cy="2387600"/>
          </a:xfrm>
        </p:spPr>
        <p:txBody>
          <a:bodyPr>
            <a:normAutofit/>
          </a:bodyPr>
          <a:lstStyle/>
          <a:p>
            <a:r>
              <a:rPr lang="pl-PL" sz="3200" b="1" dirty="0">
                <a:solidFill>
                  <a:schemeClr val="bg1"/>
                </a:solidFill>
              </a:rPr>
              <a:t>Zintegrowana analiza multiomiczna podtypów raka piersi: rola sieci regulacyjnych sterowanych przez miRNA w przeżyciu pacjentów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1D97C36-7FAB-4A67-575C-51C78D4BF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07756"/>
            <a:ext cx="9144000" cy="1655762"/>
          </a:xfrm>
        </p:spPr>
        <p:txBody>
          <a:bodyPr>
            <a:normAutofit/>
          </a:bodyPr>
          <a:lstStyle/>
          <a:p>
            <a:r>
              <a:rPr lang="pl-PL" sz="1800" dirty="0">
                <a:solidFill>
                  <a:schemeClr val="bg1"/>
                </a:solidFill>
              </a:rPr>
              <a:t>Izabela Reszka, Piotr Wiśniewski, Klaudia Woźniak</a:t>
            </a:r>
          </a:p>
          <a:p>
            <a:r>
              <a:rPr lang="pl-PL" sz="1800" dirty="0">
                <a:solidFill>
                  <a:schemeClr val="bg1"/>
                </a:solidFill>
              </a:rPr>
              <a:t>Kierownik projektu: Izabela Reszka</a:t>
            </a:r>
          </a:p>
          <a:p>
            <a:r>
              <a:rPr lang="pl-PL" sz="1800" dirty="0">
                <a:solidFill>
                  <a:schemeClr val="bg1"/>
                </a:solidFill>
              </a:rPr>
              <a:t>Opiekun naukowy: Karol Flisikowski</a:t>
            </a:r>
          </a:p>
          <a:p>
            <a:r>
              <a:rPr lang="pl-PL" sz="1800" dirty="0">
                <a:solidFill>
                  <a:schemeClr val="bg1"/>
                </a:solidFill>
              </a:rPr>
              <a:t>Wydział Zarządzania i Ekonomii</a:t>
            </a:r>
          </a:p>
        </p:txBody>
      </p:sp>
      <p:pic>
        <p:nvPicPr>
          <p:cNvPr id="5" name="Obraz 4" descr="Obraz zawierający Czcionka, Grafika, zrzut ekranu, design&#10;&#10;Opis wygenerowany automatycznie">
            <a:extLst>
              <a:ext uri="{FF2B5EF4-FFF2-40B4-BE49-F238E27FC236}">
                <a16:creationId xmlns:a16="http://schemas.microsoft.com/office/drawing/2014/main" id="{18BFF0E7-60A7-0857-6E59-92D1E4B67A0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932553" y="294482"/>
            <a:ext cx="4326893" cy="2449212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252909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Cztery twarze raka piersi – Dlaczego leki działają dla jednych, a nie dla innych?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 7">
            <a:extLst>
              <a:ext uri="{FF2B5EF4-FFF2-40B4-BE49-F238E27FC236}">
                <a16:creationId xmlns:a16="http://schemas.microsoft.com/office/drawing/2014/main" id="{039B6260-89ED-DDD8-E026-AD5E13B584DB}"/>
              </a:ext>
            </a:extLst>
          </p:cNvPr>
          <p:cNvSpPr/>
          <p:nvPr/>
        </p:nvSpPr>
        <p:spPr>
          <a:xfrm>
            <a:off x="295276" y="2171700"/>
            <a:ext cx="2867024" cy="1400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2ECC71"/>
                </a:solidFill>
              </a:rPr>
              <a:t>LUMINAL A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2ECC71"/>
                </a:solidFill>
              </a:rPr>
              <a:t>92% </a:t>
            </a:r>
            <a:r>
              <a:rPr lang="pl-PL" dirty="0">
                <a:solidFill>
                  <a:srgbClr val="003766"/>
                </a:solidFill>
              </a:rPr>
              <a:t>Receptory: ER+ PR+ HER2-</a:t>
            </a:r>
          </a:p>
          <a:p>
            <a:r>
              <a:rPr lang="pl-PL" b="1" dirty="0">
                <a:solidFill>
                  <a:srgbClr val="003766"/>
                </a:solidFill>
              </a:rPr>
              <a:t>Leki hormonalne DZIAŁAJĄ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6B048810-0329-9476-D6BE-F210324DD25F}"/>
              </a:ext>
            </a:extLst>
          </p:cNvPr>
          <p:cNvSpPr/>
          <p:nvPr/>
        </p:nvSpPr>
        <p:spPr>
          <a:xfrm>
            <a:off x="3336923" y="2171700"/>
            <a:ext cx="3057526" cy="1400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F39C12"/>
                </a:solidFill>
              </a:rPr>
              <a:t>LUMINAL B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F39C12"/>
                </a:solidFill>
              </a:rPr>
              <a:t>82%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ER+ PR± HER2-/+</a:t>
            </a:r>
          </a:p>
          <a:p>
            <a:r>
              <a:rPr lang="pl-PL" b="1" dirty="0">
                <a:solidFill>
                  <a:srgbClr val="003766"/>
                </a:solidFill>
              </a:rPr>
              <a:t>Wysoka proliferacja (Ki-67)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4FAF9BA0-8A82-C750-30EB-3116406C171A}"/>
              </a:ext>
            </a:extLst>
          </p:cNvPr>
          <p:cNvSpPr/>
          <p:nvPr/>
        </p:nvSpPr>
        <p:spPr>
          <a:xfrm>
            <a:off x="295276" y="3724273"/>
            <a:ext cx="2867024" cy="14763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3498DB"/>
                </a:solidFill>
              </a:rPr>
              <a:t>HER2-ENRICHED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</a:t>
            </a:r>
            <a:r>
              <a:rPr lang="pl-PL" b="1" dirty="0">
                <a:solidFill>
                  <a:srgbClr val="003766"/>
                </a:solidFill>
              </a:rPr>
              <a:t> </a:t>
            </a:r>
            <a:r>
              <a:rPr lang="pl-PL" b="1" dirty="0">
                <a:solidFill>
                  <a:srgbClr val="3498DB"/>
                </a:solidFill>
              </a:rPr>
              <a:t>65%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HER2+</a:t>
            </a:r>
          </a:p>
          <a:p>
            <a:r>
              <a:rPr lang="pl-PL" b="1" dirty="0">
                <a:solidFill>
                  <a:srgbClr val="003766"/>
                </a:solidFill>
              </a:rPr>
              <a:t>Trastuzumab to rozwiązał</a:t>
            </a:r>
            <a:endParaRPr lang="en-US" b="1" dirty="0">
              <a:solidFill>
                <a:srgbClr val="003766"/>
              </a:solidFill>
            </a:endParaRP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715DF3BB-116B-91E4-D2A6-8B444F8DE181}"/>
              </a:ext>
            </a:extLst>
          </p:cNvPr>
          <p:cNvSpPr/>
          <p:nvPr/>
        </p:nvSpPr>
        <p:spPr>
          <a:xfrm>
            <a:off x="3336924" y="3724274"/>
            <a:ext cx="3057525" cy="14763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E74C3C"/>
                </a:solidFill>
              </a:rPr>
              <a:t>BASAL-LIKE (TNBC)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E74C3C"/>
                </a:solidFill>
              </a:rPr>
              <a:t>28%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ER- PR- HER2-</a:t>
            </a:r>
          </a:p>
          <a:p>
            <a:r>
              <a:rPr lang="en-US" b="1" dirty="0">
                <a:solidFill>
                  <a:srgbClr val="003766"/>
                </a:solidFill>
              </a:rPr>
              <a:t>Brak celu terapeutycznego</a:t>
            </a:r>
            <a:r>
              <a:rPr lang="pl-PL" b="1" dirty="0">
                <a:solidFill>
                  <a:srgbClr val="003766"/>
                </a:solidFill>
              </a:rPr>
              <a:t> </a:t>
            </a:r>
            <a:r>
              <a:rPr lang="en-US" b="1" dirty="0">
                <a:solidFill>
                  <a:srgbClr val="003766"/>
                </a:solidFill>
              </a:rPr>
              <a:t>(tylko chemioterapia)</a:t>
            </a:r>
            <a:endParaRPr lang="pl-PL" b="1" dirty="0">
              <a:solidFill>
                <a:srgbClr val="003766"/>
              </a:solidFill>
            </a:endParaRP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1153AD-5DF7-454A-ADD6-C23CA40F1D72}"/>
              </a:ext>
            </a:extLst>
          </p:cNvPr>
          <p:cNvSpPr/>
          <p:nvPr/>
        </p:nvSpPr>
        <p:spPr>
          <a:xfrm>
            <a:off x="6769585" y="2171700"/>
            <a:ext cx="4917590" cy="302894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rgbClr val="003766"/>
                </a:solidFill>
              </a:rPr>
              <a:t>Dlaczego Basal-like jest taki zły?</a:t>
            </a:r>
          </a:p>
          <a:p>
            <a:pPr algn="ctr"/>
            <a:endParaRPr lang="pl-PL" dirty="0">
              <a:solidFill>
                <a:srgbClr val="003766"/>
              </a:solidFill>
            </a:endParaRPr>
          </a:p>
          <a:p>
            <a:pPr algn="ctr"/>
            <a:r>
              <a:rPr lang="pl-PL" dirty="0">
                <a:solidFill>
                  <a:srgbClr val="003766"/>
                </a:solidFill>
              </a:rPr>
              <a:t>Hipoteza #1 (stara):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"Brak receptorów = guz pasywny</a:t>
            </a:r>
            <a:r>
              <a:rPr lang="pl-PL" i="1" dirty="0">
                <a:solidFill>
                  <a:srgbClr val="003766"/>
                </a:solidFill>
              </a:rPr>
              <a:t>"</a:t>
            </a:r>
          </a:p>
          <a:p>
            <a:pPr algn="ctr"/>
            <a:endParaRPr lang="pl-PL" i="1" dirty="0">
              <a:solidFill>
                <a:srgbClr val="003766"/>
              </a:solidFill>
            </a:endParaRPr>
          </a:p>
          <a:p>
            <a:pPr algn="ctr"/>
            <a:r>
              <a:rPr lang="pl-PL" dirty="0">
                <a:solidFill>
                  <a:srgbClr val="003766"/>
                </a:solidFill>
              </a:rPr>
              <a:t>Hipoteza #2 (nasza):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"Aktywna supresja receptorów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 przez </a:t>
            </a:r>
            <a:r>
              <a:rPr lang="pl-PL" b="1" i="1" dirty="0" err="1">
                <a:solidFill>
                  <a:srgbClr val="003766"/>
                </a:solidFill>
              </a:rPr>
              <a:t>miRNA</a:t>
            </a:r>
            <a:r>
              <a:rPr lang="pl-PL" b="1" i="1" dirty="0">
                <a:solidFill>
                  <a:srgbClr val="003766"/>
                </a:solidFill>
              </a:rPr>
              <a:t>"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F70CC01B-D250-913C-2A76-46749A2590ED}"/>
              </a:ext>
            </a:extLst>
          </p:cNvPr>
          <p:cNvSpPr/>
          <p:nvPr/>
        </p:nvSpPr>
        <p:spPr>
          <a:xfrm>
            <a:off x="295276" y="5638799"/>
            <a:ext cx="11035333" cy="80175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rgbClr val="E74C3C"/>
                </a:solidFill>
              </a:rPr>
              <a:t>28%</a:t>
            </a:r>
            <a:r>
              <a:rPr lang="pl-PL" b="1" dirty="0">
                <a:solidFill>
                  <a:srgbClr val="003766"/>
                </a:solidFill>
              </a:rPr>
              <a:t> kobiet z TNBC żyje 5 lat</a:t>
            </a:r>
          </a:p>
          <a:p>
            <a:pPr algn="ctr"/>
            <a:r>
              <a:rPr lang="pl-PL" b="1" dirty="0">
                <a:solidFill>
                  <a:srgbClr val="2ECC71"/>
                </a:solidFill>
              </a:rPr>
              <a:t>92% </a:t>
            </a:r>
            <a:r>
              <a:rPr lang="pl-PL" b="1" dirty="0">
                <a:solidFill>
                  <a:srgbClr val="003766"/>
                </a:solidFill>
              </a:rPr>
              <a:t>kobiet z Luminal A żyje 5 lat</a:t>
            </a:r>
          </a:p>
        </p:txBody>
      </p:sp>
    </p:spTree>
    <p:extLst>
      <p:ext uri="{BB962C8B-B14F-4D97-AF65-F5344CB8AC3E}">
        <p14:creationId xmlns:p14="http://schemas.microsoft.com/office/powerpoint/2010/main" val="2409848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transkryptomu?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D9E38B5D-EB66-17B4-4235-4D1BC58FD4F9}"/>
              </a:ext>
            </a:extLst>
          </p:cNvPr>
          <p:cNvSpPr/>
          <p:nvPr/>
        </p:nvSpPr>
        <p:spPr>
          <a:xfrm>
            <a:off x="1143330" y="1968779"/>
            <a:ext cx="4295775" cy="4351338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Klasyczne podejście (</a:t>
            </a:r>
            <a:r>
              <a:rPr lang="pl-PL" sz="1400" dirty="0">
                <a:solidFill>
                  <a:srgbClr val="003766"/>
                </a:solidFill>
              </a:rPr>
              <a:t>tylko </a:t>
            </a:r>
            <a:r>
              <a:rPr lang="en-US" sz="1400" dirty="0">
                <a:solidFill>
                  <a:srgbClr val="003766"/>
                </a:solidFill>
              </a:rPr>
              <a:t>mRNA):</a:t>
            </a:r>
          </a:p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 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transkrypcja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Białko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Założenie (błędne): </a:t>
            </a:r>
            <a:r>
              <a:rPr lang="pl-PL" sz="1400" dirty="0">
                <a:solidFill>
                  <a:srgbClr val="003766"/>
                </a:solidFill>
              </a:rPr>
              <a:t>poziom mRNA odzwierciedla poziom białka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Rzeczywistość biologiczna: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korelacja mRNA–białko: </a:t>
            </a:r>
            <a:r>
              <a:rPr lang="pl-PL" sz="1400" b="1" i="1" dirty="0">
                <a:solidFill>
                  <a:srgbClr val="003766"/>
                </a:solidFill>
              </a:rPr>
              <a:t>Spearman ρ ≈ 0,3–0,4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~ 70% zmienności poziomu białka nie jest wyjaśniane przez mRNA</a:t>
            </a:r>
            <a:endParaRPr lang="en-US" sz="1400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9A11D0FC-C4FD-A30C-76B1-64C4FB4F4F57}"/>
              </a:ext>
            </a:extLst>
          </p:cNvPr>
          <p:cNvSpPr/>
          <p:nvPr/>
        </p:nvSpPr>
        <p:spPr>
          <a:xfrm>
            <a:off x="6342280" y="1968780"/>
            <a:ext cx="4295775" cy="4351338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Nasz model (</a:t>
            </a:r>
            <a:r>
              <a:rPr lang="pl-PL" sz="1400" dirty="0">
                <a:solidFill>
                  <a:srgbClr val="003766"/>
                </a:solidFill>
              </a:rPr>
              <a:t>warstwa regulacyjna</a:t>
            </a:r>
            <a:r>
              <a:rPr lang="en-US" sz="1400" dirty="0">
                <a:solidFill>
                  <a:srgbClr val="003766"/>
                </a:solidFill>
              </a:rPr>
              <a:t>):</a:t>
            </a:r>
          </a:p>
          <a:p>
            <a:pPr algn="ctr"/>
            <a:endParaRPr lang="en-US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↓</a:t>
            </a: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 transkrypcja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miRNA (</a:t>
            </a:r>
            <a:r>
              <a:rPr lang="pl-PL" sz="1600" b="1" dirty="0">
                <a:solidFill>
                  <a:srgbClr val="003766"/>
                </a:solidFill>
              </a:rPr>
              <a:t>warstwa regulacyjna</a:t>
            </a:r>
            <a:r>
              <a:rPr lang="en-US" sz="1600" b="1" dirty="0">
                <a:solidFill>
                  <a:srgbClr val="003766"/>
                </a:solidFill>
              </a:rPr>
              <a:t>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   (miR-17, miR-20a, miR-210)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Białko</a:t>
            </a:r>
            <a:endParaRPr lang="en-US" sz="1600" b="1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Kluczowa obserwacja: </a:t>
            </a:r>
            <a:r>
              <a:rPr lang="pl-PL" sz="1400" dirty="0">
                <a:solidFill>
                  <a:srgbClr val="003766"/>
                </a:solidFill>
              </a:rPr>
              <a:t>Białko ESR1 nie jest wykrywalne, mimo obecności ESR1 mRNA. 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Wniosek: </a:t>
            </a:r>
            <a:r>
              <a:rPr lang="pl-PL" sz="1400" dirty="0">
                <a:solidFill>
                  <a:srgbClr val="003766"/>
                </a:solidFill>
              </a:rPr>
              <a:t>Regulacja przez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dirty="0">
                <a:solidFill>
                  <a:srgbClr val="003766"/>
                </a:solidFill>
              </a:rPr>
              <a:t> hamuje translację ESR1, co prowadzi do fenotypu </a:t>
            </a:r>
            <a:r>
              <a:rPr lang="pl-PL" sz="1400" b="1" dirty="0">
                <a:solidFill>
                  <a:srgbClr val="003766"/>
                </a:solidFill>
              </a:rPr>
              <a:t>„receptor-ujemny (receptor-</a:t>
            </a:r>
            <a:r>
              <a:rPr lang="pl-PL" sz="1400" b="1" dirty="0" err="1">
                <a:solidFill>
                  <a:srgbClr val="003766"/>
                </a:solidFill>
              </a:rPr>
              <a:t>null</a:t>
            </a:r>
            <a:r>
              <a:rPr lang="pl-PL" sz="1400" b="1" dirty="0">
                <a:solidFill>
                  <a:srgbClr val="003766"/>
                </a:solidFill>
              </a:rPr>
              <a:t>)”</a:t>
            </a:r>
            <a:r>
              <a:rPr lang="pl-PL" sz="1400" dirty="0">
                <a:solidFill>
                  <a:srgbClr val="003766"/>
                </a:solidFill>
              </a:rPr>
              <a:t>.</a:t>
            </a:r>
            <a:r>
              <a:rPr lang="pl-PL" sz="1400" b="1" dirty="0">
                <a:solidFill>
                  <a:srgbClr val="003766"/>
                </a:solidFill>
              </a:rPr>
              <a:t> </a:t>
            </a:r>
            <a:endParaRPr lang="en-US" sz="1400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093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509B3-8FDF-4C3A-5F9E-4F362D3BA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6E19C6-4AA3-FC4F-650D-90C48136B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transkryptomu?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BB526FFA-C830-9FE2-50DE-46C665589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5C648531-60CF-AB4F-8C68-3CDA70969D8F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rostokąt 4">
            <a:extLst>
              <a:ext uri="{FF2B5EF4-FFF2-40B4-BE49-F238E27FC236}">
                <a16:creationId xmlns:a16="http://schemas.microsoft.com/office/drawing/2014/main" id="{781F4622-8B27-30F6-F3A3-96B47281F517}"/>
              </a:ext>
            </a:extLst>
          </p:cNvPr>
          <p:cNvSpPr/>
          <p:nvPr/>
        </p:nvSpPr>
        <p:spPr>
          <a:xfrm>
            <a:off x="5870444" y="1837027"/>
            <a:ext cx="6027907" cy="4574964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003766"/>
                </a:solidFill>
              </a:rPr>
              <a:t>DANE I METODY:</a:t>
            </a:r>
          </a:p>
          <a:p>
            <a:r>
              <a:rPr lang="en-US" sz="1600" b="1" dirty="0">
                <a:solidFill>
                  <a:srgbClr val="003766"/>
                </a:solidFill>
              </a:rPr>
              <a:t>Źródło</a:t>
            </a:r>
            <a:r>
              <a:rPr lang="pl-PL" sz="1600" b="1" dirty="0">
                <a:solidFill>
                  <a:srgbClr val="003766"/>
                </a:solidFill>
              </a:rPr>
              <a:t> danych</a:t>
            </a:r>
            <a:r>
              <a:rPr lang="en-US" sz="1600" b="1" dirty="0">
                <a:solidFill>
                  <a:srgbClr val="003766"/>
                </a:solidFill>
              </a:rPr>
              <a:t>: </a:t>
            </a:r>
            <a:r>
              <a:rPr lang="en-US" sz="1600" dirty="0">
                <a:solidFill>
                  <a:srgbClr val="003766"/>
                </a:solidFill>
              </a:rPr>
              <a:t>The Cancer Genome Atlas </a:t>
            </a:r>
            <a:r>
              <a:rPr lang="en-US" sz="1600" b="1" dirty="0">
                <a:solidFill>
                  <a:srgbClr val="003766"/>
                </a:solidFill>
              </a:rPr>
              <a:t>(TCGA)</a:t>
            </a:r>
          </a:p>
          <a:p>
            <a:r>
              <a:rPr lang="en-US" sz="1600" b="1" dirty="0">
                <a:solidFill>
                  <a:srgbClr val="003766"/>
                </a:solidFill>
              </a:rPr>
              <a:t>N</a:t>
            </a:r>
            <a:r>
              <a:rPr lang="en-US" sz="1600" dirty="0">
                <a:solidFill>
                  <a:srgbClr val="003766"/>
                </a:solidFill>
              </a:rPr>
              <a:t> = 1,217 próbek</a:t>
            </a:r>
          </a:p>
          <a:p>
            <a:endParaRPr lang="en-US" sz="1600" b="1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3 </a:t>
            </a:r>
            <a:r>
              <a:rPr lang="pl-PL" sz="1600" b="1" dirty="0">
                <a:solidFill>
                  <a:srgbClr val="003766"/>
                </a:solidFill>
              </a:rPr>
              <a:t>WARSTWY DANYCH</a:t>
            </a:r>
            <a:r>
              <a:rPr lang="en-US" sz="1600" b="1" dirty="0">
                <a:solidFill>
                  <a:srgbClr val="003766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3766"/>
                </a:solidFill>
              </a:rPr>
              <a:t>RNA-seq (mRNA) – </a:t>
            </a:r>
            <a:r>
              <a:rPr lang="en-US" sz="1600" dirty="0" err="1">
                <a:solidFill>
                  <a:srgbClr val="003766"/>
                </a:solidFill>
              </a:rPr>
              <a:t>poziom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ekspresji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genów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3766"/>
                </a:solidFill>
              </a:rPr>
              <a:t>RPPA (</a:t>
            </a:r>
            <a:r>
              <a:rPr lang="en-US" sz="1600" dirty="0" err="1">
                <a:solidFill>
                  <a:srgbClr val="003766"/>
                </a:solidFill>
              </a:rPr>
              <a:t>białka</a:t>
            </a:r>
            <a:r>
              <a:rPr lang="en-US" sz="1600" dirty="0">
                <a:solidFill>
                  <a:srgbClr val="003766"/>
                </a:solidFill>
              </a:rPr>
              <a:t>) – </a:t>
            </a:r>
            <a:r>
              <a:rPr lang="en-US" sz="1600" dirty="0" err="1">
                <a:solidFill>
                  <a:srgbClr val="003766"/>
                </a:solidFill>
              </a:rPr>
              <a:t>poziom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ekspresji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białek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3766"/>
                </a:solidFill>
              </a:rPr>
              <a:t>miRNA-seq (miRNA) – regulatory RNA </a:t>
            </a:r>
          </a:p>
          <a:p>
            <a:endParaRPr lang="en-US" sz="1600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ANALIZA: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analiza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różnicowej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ekspresji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genów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dirty="0">
                <a:solidFill>
                  <a:srgbClr val="003766"/>
                </a:solidFill>
              </a:rPr>
              <a:t>(</a:t>
            </a:r>
            <a:r>
              <a:rPr lang="en-US" sz="1600" dirty="0" err="1">
                <a:solidFill>
                  <a:srgbClr val="003766"/>
                </a:solidFill>
              </a:rPr>
              <a:t>pakiet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limma</a:t>
            </a:r>
            <a:r>
              <a:rPr lang="en-US" sz="1600" dirty="0">
                <a:solidFill>
                  <a:srgbClr val="003766"/>
                </a:solidFill>
              </a:rPr>
              <a:t>)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analiza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korelacji</a:t>
            </a:r>
            <a:r>
              <a:rPr lang="en-US" sz="1600" b="1" dirty="0">
                <a:solidFill>
                  <a:srgbClr val="003766"/>
                </a:solidFill>
              </a:rPr>
              <a:t> rang </a:t>
            </a:r>
            <a:r>
              <a:rPr lang="en-US" sz="1600" b="1" dirty="0" err="1">
                <a:solidFill>
                  <a:srgbClr val="003766"/>
                </a:solidFill>
              </a:rPr>
              <a:t>Spearmana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pomiędzy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poziomem</a:t>
            </a:r>
            <a:r>
              <a:rPr lang="en-US" sz="1600" dirty="0">
                <a:solidFill>
                  <a:srgbClr val="003766"/>
                </a:solidFill>
              </a:rPr>
              <a:t> mRNA </a:t>
            </a:r>
            <a:r>
              <a:rPr lang="en-US" sz="1600" dirty="0" err="1">
                <a:solidFill>
                  <a:srgbClr val="003766"/>
                </a:solidFill>
              </a:rPr>
              <a:t>i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białek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konsensusowa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identyfikacja</a:t>
            </a:r>
            <a:r>
              <a:rPr lang="en-US" sz="1600" b="1" dirty="0">
                <a:solidFill>
                  <a:srgbClr val="003766"/>
                </a:solidFill>
              </a:rPr>
              <a:t> miRNA </a:t>
            </a:r>
            <a:r>
              <a:rPr lang="en-US" sz="1600" b="1" dirty="0" err="1">
                <a:solidFill>
                  <a:srgbClr val="003766"/>
                </a:solidFill>
              </a:rPr>
              <a:t>regulujących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geny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docelowe</a:t>
            </a:r>
            <a:endParaRPr lang="pl-PL" sz="16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600" b="1" dirty="0">
                <a:solidFill>
                  <a:srgbClr val="003766"/>
                </a:solidFill>
              </a:rPr>
              <a:t>analiza przeżycia z wykorzystaniem modelu proporcjonalnych hazardów </a:t>
            </a:r>
            <a:r>
              <a:rPr lang="pl-PL" sz="1600" b="1" dirty="0" err="1">
                <a:solidFill>
                  <a:srgbClr val="003766"/>
                </a:solidFill>
              </a:rPr>
              <a:t>Coxa</a:t>
            </a:r>
            <a:r>
              <a:rPr lang="pl-PL" sz="1600" b="1" dirty="0">
                <a:solidFill>
                  <a:srgbClr val="003766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walidacja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wewnętrzna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modelu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dirty="0">
                <a:solidFill>
                  <a:srgbClr val="003766"/>
                </a:solidFill>
              </a:rPr>
              <a:t>(</a:t>
            </a:r>
            <a:r>
              <a:rPr lang="en-US" sz="1600" dirty="0" err="1">
                <a:solidFill>
                  <a:srgbClr val="003766"/>
                </a:solidFill>
              </a:rPr>
              <a:t>podział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danych</a:t>
            </a:r>
            <a:r>
              <a:rPr lang="en-US" sz="1600" dirty="0">
                <a:solidFill>
                  <a:srgbClr val="003766"/>
                </a:solidFill>
              </a:rPr>
              <a:t> 70/30)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715E172F-5D8C-631E-3A34-155AD5BAB52A}"/>
              </a:ext>
            </a:extLst>
          </p:cNvPr>
          <p:cNvSpPr/>
          <p:nvPr/>
        </p:nvSpPr>
        <p:spPr>
          <a:xfrm>
            <a:off x="1143330" y="1948840"/>
            <a:ext cx="4295775" cy="435133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Nasz model (</a:t>
            </a:r>
            <a:r>
              <a:rPr lang="pl-PL" sz="1400" dirty="0">
                <a:solidFill>
                  <a:srgbClr val="003766"/>
                </a:solidFill>
              </a:rPr>
              <a:t>warstwa regulacyjna</a:t>
            </a:r>
            <a:r>
              <a:rPr lang="en-US" sz="1400" dirty="0">
                <a:solidFill>
                  <a:srgbClr val="003766"/>
                </a:solidFill>
              </a:rPr>
              <a:t>):</a:t>
            </a:r>
          </a:p>
          <a:p>
            <a:pPr algn="ctr"/>
            <a:endParaRPr lang="en-US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↓</a:t>
            </a: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 transkrypcja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miRNA (</a:t>
            </a:r>
            <a:r>
              <a:rPr lang="pl-PL" sz="1600" b="1" dirty="0">
                <a:solidFill>
                  <a:srgbClr val="003766"/>
                </a:solidFill>
              </a:rPr>
              <a:t>warstwa regulacyjna</a:t>
            </a:r>
            <a:r>
              <a:rPr lang="en-US" sz="1600" b="1" dirty="0">
                <a:solidFill>
                  <a:srgbClr val="003766"/>
                </a:solidFill>
              </a:rPr>
              <a:t>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   (miR-17, miR-20a, miR-210)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Białko</a:t>
            </a:r>
            <a:endParaRPr lang="en-US" sz="1600" b="1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Kluczowa obserwacja: </a:t>
            </a:r>
            <a:r>
              <a:rPr lang="pl-PL" sz="1400" dirty="0">
                <a:solidFill>
                  <a:srgbClr val="003766"/>
                </a:solidFill>
              </a:rPr>
              <a:t>Białko ESR1 nie jest wykrywalne, mimo obecności ESR1 mRNA. 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Wniosek: </a:t>
            </a:r>
            <a:r>
              <a:rPr lang="pl-PL" sz="1400" dirty="0">
                <a:solidFill>
                  <a:srgbClr val="003766"/>
                </a:solidFill>
              </a:rPr>
              <a:t>Regulacja przez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dirty="0">
                <a:solidFill>
                  <a:srgbClr val="003766"/>
                </a:solidFill>
              </a:rPr>
              <a:t> hamuje translację ESR1, co prowadzi do fenotypu „receptor-ujemny (receptor-</a:t>
            </a:r>
            <a:r>
              <a:rPr lang="pl-PL" sz="1400" dirty="0" err="1">
                <a:solidFill>
                  <a:srgbClr val="003766"/>
                </a:solidFill>
              </a:rPr>
              <a:t>null</a:t>
            </a:r>
            <a:r>
              <a:rPr lang="pl-PL" sz="1400" dirty="0">
                <a:solidFill>
                  <a:srgbClr val="003766"/>
                </a:solidFill>
              </a:rPr>
              <a:t>)”. </a:t>
            </a:r>
            <a:endParaRPr lang="en-US" sz="1400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181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8524" y="433551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 err="1">
                <a:solidFill>
                  <a:schemeClr val="accent1">
                    <a:lumMod val="50000"/>
                  </a:schemeClr>
                </a:solidFill>
              </a:rPr>
              <a:t>miRNA</a:t>
            </a:r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 - zależna supresja osi FOXA1/ESR1 w TNBC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038524" y="665968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Obraz 7">
            <a:extLst>
              <a:ext uri="{FF2B5EF4-FFF2-40B4-BE49-F238E27FC236}">
                <a16:creationId xmlns:a16="http://schemas.microsoft.com/office/drawing/2014/main" id="{26F8F021-0F03-37A9-6FB9-6DFDDA352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7371"/>
            <a:ext cx="4358048" cy="3268536"/>
          </a:xfrm>
          <a:prstGeom prst="rect">
            <a:avLst/>
          </a:prstGeom>
        </p:spPr>
      </p:pic>
      <p:sp>
        <p:nvSpPr>
          <p:cNvPr id="10" name="Prostokąt 9">
            <a:extLst>
              <a:ext uri="{FF2B5EF4-FFF2-40B4-BE49-F238E27FC236}">
                <a16:creationId xmlns:a16="http://schemas.microsoft.com/office/drawing/2014/main" id="{7F7E1DE7-3389-3646-F7AD-7FD70E6B214C}"/>
              </a:ext>
            </a:extLst>
          </p:cNvPr>
          <p:cNvSpPr/>
          <p:nvPr/>
        </p:nvSpPr>
        <p:spPr>
          <a:xfrm>
            <a:off x="9054791" y="1494263"/>
            <a:ext cx="2966224" cy="435133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300" b="1" dirty="0">
                <a:solidFill>
                  <a:srgbClr val="2ECC71"/>
                </a:solidFill>
              </a:rPr>
              <a:t>LUMINAL A</a:t>
            </a:r>
          </a:p>
          <a:p>
            <a:r>
              <a:rPr lang="en-US" sz="1300" b="1" dirty="0" err="1">
                <a:solidFill>
                  <a:srgbClr val="003766"/>
                </a:solidFill>
              </a:rPr>
              <a:t>Jądro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komórkowe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>
                <a:solidFill>
                  <a:srgbClr val="003766"/>
                </a:solidFill>
              </a:rPr>
              <a:t>FOXA1 , ESR1 </a:t>
            </a:r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003766"/>
                </a:solidFill>
              </a:rPr>
              <a:t>miRNA: </a:t>
            </a:r>
            <a:r>
              <a:rPr lang="en-US" sz="1300" dirty="0">
                <a:solidFill>
                  <a:srgbClr val="003766"/>
                </a:solidFill>
              </a:rPr>
              <a:t>miR-17 / miR-20a / miR-210 — </a:t>
            </a:r>
            <a:r>
              <a:rPr lang="pl-PL" sz="1300" b="1" dirty="0">
                <a:solidFill>
                  <a:srgbClr val="003766"/>
                </a:solidFill>
              </a:rPr>
              <a:t>NISKI POZIOM</a:t>
            </a:r>
          </a:p>
          <a:p>
            <a:r>
              <a:rPr lang="en-US" sz="1300" b="1" dirty="0" err="1">
                <a:solidFill>
                  <a:srgbClr val="003766"/>
                </a:solidFill>
              </a:rPr>
              <a:t>Efekt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molekularny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transkrypcja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zależna</a:t>
            </a:r>
            <a:r>
              <a:rPr lang="en-US" sz="1300" dirty="0">
                <a:solidFill>
                  <a:srgbClr val="003766"/>
                </a:solidFill>
              </a:rPr>
              <a:t> od </a:t>
            </a:r>
            <a:r>
              <a:rPr lang="en-US" sz="1300" dirty="0" err="1">
                <a:solidFill>
                  <a:srgbClr val="003766"/>
                </a:solidFill>
              </a:rPr>
              <a:t>receptora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estrogenowego</a:t>
            </a:r>
            <a:r>
              <a:rPr lang="en-US" sz="1300" dirty="0">
                <a:solidFill>
                  <a:srgbClr val="003766"/>
                </a:solidFill>
              </a:rPr>
              <a:t> (ER)</a:t>
            </a:r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 err="1">
                <a:solidFill>
                  <a:srgbClr val="003766"/>
                </a:solidFill>
              </a:rPr>
              <a:t>Fenotyp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hormonowrażliwy</a:t>
            </a:r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 err="1">
                <a:solidFill>
                  <a:srgbClr val="003766"/>
                </a:solidFill>
              </a:rPr>
              <a:t>Przeżycie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b="1" dirty="0">
                <a:solidFill>
                  <a:srgbClr val="2ECC71"/>
                </a:solidFill>
              </a:rPr>
              <a:t>92%</a:t>
            </a:r>
            <a:endParaRPr lang="pl-PL" sz="1300" b="1" dirty="0">
              <a:solidFill>
                <a:srgbClr val="2ECC71"/>
              </a:solidFill>
            </a:endParaRPr>
          </a:p>
          <a:p>
            <a:pPr algn="just"/>
            <a:endParaRPr lang="pl-PL" sz="1300" b="1" dirty="0">
              <a:solidFill>
                <a:srgbClr val="E74C3C"/>
              </a:solidFill>
            </a:endParaRPr>
          </a:p>
          <a:p>
            <a:pPr algn="just"/>
            <a:r>
              <a:rPr lang="en-US" sz="1300" b="1" dirty="0">
                <a:solidFill>
                  <a:srgbClr val="E74C3C"/>
                </a:solidFill>
              </a:rPr>
              <a:t>BASAL-LIKE </a:t>
            </a: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Jądro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komórkowe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>
                <a:solidFill>
                  <a:srgbClr val="003766"/>
                </a:solidFill>
              </a:rPr>
              <a:t>FOXA1, ESR1 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>
                <a:solidFill>
                  <a:srgbClr val="003766"/>
                </a:solidFill>
              </a:rPr>
              <a:t>miRNA: </a:t>
            </a:r>
            <a:r>
              <a:rPr lang="en-US" sz="1300" dirty="0">
                <a:solidFill>
                  <a:srgbClr val="003766"/>
                </a:solidFill>
              </a:rPr>
              <a:t>miR-17 / miR-20a / miR-210 — </a:t>
            </a:r>
            <a:r>
              <a:rPr lang="pl-PL" sz="1300" b="1" dirty="0">
                <a:solidFill>
                  <a:srgbClr val="003766"/>
                </a:solidFill>
              </a:rPr>
              <a:t>WYSOKI POZIOM</a:t>
            </a: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Mechanizm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molekularny</a:t>
            </a:r>
            <a:r>
              <a:rPr lang="en-US" sz="1300" b="1" dirty="0">
                <a:solidFill>
                  <a:srgbClr val="003766"/>
                </a:solidFill>
              </a:rPr>
              <a:t>:</a:t>
            </a:r>
            <a:r>
              <a:rPr lang="pl-PL" sz="1300" b="1" dirty="0">
                <a:solidFill>
                  <a:srgbClr val="003766"/>
                </a:solidFill>
              </a:rPr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003766"/>
                </a:solidFill>
              </a:rPr>
              <a:t>miR-17 </a:t>
            </a:r>
            <a:r>
              <a:rPr lang="en-US" sz="1300" dirty="0" err="1">
                <a:solidFill>
                  <a:srgbClr val="003766"/>
                </a:solidFill>
              </a:rPr>
              <a:t>wiąże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się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pl-PL" sz="1300" dirty="0">
                <a:solidFill>
                  <a:srgbClr val="003766"/>
                </a:solidFill>
              </a:rPr>
              <a:t> </a:t>
            </a:r>
            <a:r>
              <a:rPr lang="en-US" sz="1300" dirty="0">
                <a:solidFill>
                  <a:srgbClr val="003766"/>
                </a:solidFill>
              </a:rPr>
              <a:t>z </a:t>
            </a:r>
            <a:r>
              <a:rPr lang="en-US" sz="1300" dirty="0" err="1">
                <a:solidFill>
                  <a:srgbClr val="003766"/>
                </a:solidFill>
              </a:rPr>
              <a:t>regionem</a:t>
            </a:r>
            <a:r>
              <a:rPr lang="en-US" sz="1300" dirty="0">
                <a:solidFill>
                  <a:srgbClr val="003766"/>
                </a:solidFill>
              </a:rPr>
              <a:t> 3′UTR mRNA ESR1</a:t>
            </a:r>
            <a:endParaRPr lang="pl-PL" sz="1300" dirty="0">
              <a:solidFill>
                <a:srgbClr val="003766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003766"/>
                </a:solidFill>
              </a:rPr>
              <a:t>degradacja</a:t>
            </a:r>
            <a:r>
              <a:rPr lang="en-US" sz="1300" dirty="0">
                <a:solidFill>
                  <a:srgbClr val="003766"/>
                </a:solidFill>
              </a:rPr>
              <a:t> mRNA</a:t>
            </a:r>
            <a:endParaRPr lang="pl-PL" sz="1300" dirty="0">
              <a:solidFill>
                <a:srgbClr val="003766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003766"/>
                </a:solidFill>
              </a:rPr>
              <a:t>brak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syntezy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białka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Efekt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molekularny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wyciszenie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sygnalizacji</a:t>
            </a:r>
            <a:r>
              <a:rPr lang="en-US" sz="1300" dirty="0">
                <a:solidFill>
                  <a:srgbClr val="003766"/>
                </a:solidFill>
              </a:rPr>
              <a:t> ER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Fenotyp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agresywny</a:t>
            </a:r>
            <a:r>
              <a:rPr lang="en-US" sz="1300" dirty="0">
                <a:solidFill>
                  <a:srgbClr val="003766"/>
                </a:solidFill>
              </a:rPr>
              <a:t>, </a:t>
            </a:r>
            <a:r>
              <a:rPr lang="en-US" sz="1300" dirty="0" err="1">
                <a:solidFill>
                  <a:srgbClr val="003766"/>
                </a:solidFill>
              </a:rPr>
              <a:t>oporny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na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terapię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Przeżycie</a:t>
            </a:r>
            <a:r>
              <a:rPr lang="en-US" sz="1300" b="1" dirty="0">
                <a:solidFill>
                  <a:srgbClr val="E74C3C"/>
                </a:solidFill>
              </a:rPr>
              <a:t>: 28%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4F459B49-778C-CABC-820D-51174B6E19D6}"/>
              </a:ext>
            </a:extLst>
          </p:cNvPr>
          <p:cNvSpPr/>
          <p:nvPr/>
        </p:nvSpPr>
        <p:spPr>
          <a:xfrm>
            <a:off x="311570" y="5845600"/>
            <a:ext cx="11763374" cy="80175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rgbClr val="003766"/>
                </a:solidFill>
              </a:rPr>
              <a:t>Nowotwory typu </a:t>
            </a:r>
            <a:r>
              <a:rPr lang="pl-PL" sz="1600" b="1" dirty="0" err="1">
                <a:solidFill>
                  <a:srgbClr val="003766"/>
                </a:solidFill>
              </a:rPr>
              <a:t>basal-like</a:t>
            </a:r>
            <a:r>
              <a:rPr lang="pl-PL" sz="1600" dirty="0">
                <a:solidFill>
                  <a:srgbClr val="003766"/>
                </a:solidFill>
              </a:rPr>
              <a:t> charakteryzują się podwyższonym poziomem </a:t>
            </a:r>
            <a:r>
              <a:rPr lang="pl-PL" sz="1600" b="1" dirty="0" err="1">
                <a:solidFill>
                  <a:srgbClr val="003766"/>
                </a:solidFill>
              </a:rPr>
              <a:t>miRNA</a:t>
            </a:r>
            <a:r>
              <a:rPr lang="pl-PL" sz="1600" b="1" dirty="0">
                <a:solidFill>
                  <a:srgbClr val="003766"/>
                </a:solidFill>
              </a:rPr>
              <a:t>,</a:t>
            </a:r>
            <a:r>
              <a:rPr lang="pl-PL" sz="1600" dirty="0">
                <a:solidFill>
                  <a:srgbClr val="003766"/>
                </a:solidFill>
              </a:rPr>
              <a:t> które aktywnie wyciszają oś</a:t>
            </a:r>
            <a:r>
              <a:rPr lang="pl-PL" sz="1600" b="1" dirty="0">
                <a:solidFill>
                  <a:srgbClr val="003766"/>
                </a:solidFill>
              </a:rPr>
              <a:t> FOXA1/ESR1 </a:t>
            </a:r>
            <a:r>
              <a:rPr lang="pl-PL" sz="1600" dirty="0">
                <a:solidFill>
                  <a:srgbClr val="003766"/>
                </a:solidFill>
              </a:rPr>
              <a:t>na poziomie </a:t>
            </a:r>
            <a:r>
              <a:rPr lang="pl-PL" sz="1600" b="1" dirty="0" err="1">
                <a:solidFill>
                  <a:srgbClr val="003766"/>
                </a:solidFill>
              </a:rPr>
              <a:t>posttranskrypcyjnym</a:t>
            </a:r>
            <a:r>
              <a:rPr lang="pl-PL" sz="1600" dirty="0">
                <a:solidFill>
                  <a:srgbClr val="003766"/>
                </a:solidFill>
              </a:rPr>
              <a:t>, prowadząc do fenotypu receptor-ujemnego </a:t>
            </a:r>
            <a:r>
              <a:rPr lang="pl-PL" sz="1600" b="1" dirty="0">
                <a:solidFill>
                  <a:srgbClr val="003766"/>
                </a:solidFill>
              </a:rPr>
              <a:t>(ER-</a:t>
            </a:r>
            <a:r>
              <a:rPr lang="pl-PL" sz="1600" b="1" dirty="0" err="1">
                <a:solidFill>
                  <a:srgbClr val="003766"/>
                </a:solidFill>
              </a:rPr>
              <a:t>negative</a:t>
            </a:r>
            <a:r>
              <a:rPr lang="pl-PL" sz="1600" b="1" dirty="0">
                <a:solidFill>
                  <a:srgbClr val="003766"/>
                </a:solidFill>
              </a:rPr>
              <a:t>).</a:t>
            </a:r>
          </a:p>
        </p:txBody>
      </p:sp>
      <p:pic>
        <p:nvPicPr>
          <p:cNvPr id="15" name="Obraz 14">
            <a:extLst>
              <a:ext uri="{FF2B5EF4-FFF2-40B4-BE49-F238E27FC236}">
                <a16:creationId xmlns:a16="http://schemas.microsoft.com/office/drawing/2014/main" id="{3B3856EC-14DD-373C-7E19-414024AC8C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7674" y="1633372"/>
            <a:ext cx="4095432" cy="410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388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92" y="420781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Luminal B – podtyp o agresywniejszym przebiegu klinicznym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049892" y="665968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28CE95B2-E44C-9667-4788-4C50441904D6}"/>
              </a:ext>
            </a:extLst>
          </p:cNvPr>
          <p:cNvSpPr/>
          <p:nvPr/>
        </p:nvSpPr>
        <p:spPr>
          <a:xfrm>
            <a:off x="8842916" y="1742463"/>
            <a:ext cx="3242395" cy="3890016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b="1" dirty="0">
                <a:solidFill>
                  <a:srgbClr val="003766"/>
                </a:solidFill>
              </a:rPr>
              <a:t>Schemat mechanizmu: </a:t>
            </a:r>
          </a:p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miR-210 </a:t>
            </a:r>
            <a:r>
              <a:rPr lang="pl-PL" sz="1400" b="1" dirty="0">
                <a:solidFill>
                  <a:srgbClr val="003766"/>
                </a:solidFill>
              </a:rPr>
              <a:t>(hipoksja)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                                        (↑ w Luminal B) 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PGR mRNA – 3′UTR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degradacja mRNA PGR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brak receptora </a:t>
            </a:r>
            <a:r>
              <a:rPr lang="pl-PL" sz="1400" dirty="0" err="1">
                <a:solidFill>
                  <a:srgbClr val="003766"/>
                </a:solidFill>
              </a:rPr>
              <a:t>progesteronowego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pl-PL" sz="1400" b="1" dirty="0">
                <a:solidFill>
                  <a:srgbClr val="003766"/>
                </a:solidFill>
              </a:rPr>
              <a:t>(PR</a:t>
            </a:r>
            <a:r>
              <a:rPr lang="pl-PL" sz="1400" dirty="0">
                <a:solidFill>
                  <a:srgbClr val="003766"/>
                </a:solidFill>
              </a:rPr>
              <a:t>)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utrata sygnału </a:t>
            </a:r>
            <a:r>
              <a:rPr lang="pl-PL" sz="1400" dirty="0" err="1">
                <a:solidFill>
                  <a:srgbClr val="003766"/>
                </a:solidFill>
              </a:rPr>
              <a:t>antyproliferacyjnego</a:t>
            </a:r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cykl komórkowy: </a:t>
            </a:r>
            <a:r>
              <a:rPr lang="pl-PL" sz="1400" b="1" dirty="0">
                <a:solidFill>
                  <a:srgbClr val="003766"/>
                </a:solidFill>
              </a:rPr>
              <a:t>Ki-67 ↑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proliferacja agresywna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b="1" i="1" dirty="0">
                <a:solidFill>
                  <a:srgbClr val="003766"/>
                </a:solidFill>
              </a:rPr>
              <a:t>szybsza wznowa - gorsze przeżycie</a:t>
            </a:r>
            <a:endParaRPr lang="en-US" sz="1400" b="1" i="1" dirty="0">
              <a:solidFill>
                <a:srgbClr val="003766"/>
              </a:solidFill>
            </a:endParaRP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633DABD0-7CCA-66C5-6402-8E7DF5F82AC4}"/>
              </a:ext>
            </a:extLst>
          </p:cNvPr>
          <p:cNvSpPr/>
          <p:nvPr/>
        </p:nvSpPr>
        <p:spPr>
          <a:xfrm>
            <a:off x="106689" y="1263709"/>
            <a:ext cx="2867535" cy="5070130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300" b="1" dirty="0">
                <a:solidFill>
                  <a:srgbClr val="003766"/>
                </a:solidFill>
              </a:rPr>
              <a:t>Luminal A vs Luminal B:</a:t>
            </a:r>
            <a:endParaRPr lang="pl-PL" sz="1300" b="1" dirty="0">
              <a:solidFill>
                <a:srgbClr val="003766"/>
              </a:solidFill>
            </a:endParaRPr>
          </a:p>
          <a:p>
            <a:endParaRPr lang="en-US" sz="1300" b="1" dirty="0">
              <a:solidFill>
                <a:srgbClr val="003766"/>
              </a:solidFill>
            </a:endParaRPr>
          </a:p>
          <a:p>
            <a:r>
              <a:rPr lang="pl-PL" sz="1300" dirty="0">
                <a:solidFill>
                  <a:srgbClr val="003766"/>
                </a:solidFill>
              </a:rPr>
              <a:t>Oba podtypy wykazują ekspresję                ER i PR (nowotwory receptorowo dodatnie)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2ECC71"/>
                </a:solidFill>
              </a:rPr>
              <a:t>Luminal A:</a:t>
            </a:r>
          </a:p>
          <a:p>
            <a:r>
              <a:rPr lang="pl-PL" sz="1300" b="1" dirty="0">
                <a:solidFill>
                  <a:srgbClr val="003766"/>
                </a:solidFill>
              </a:rPr>
              <a:t>ER+ · PR+ · HER2−</a:t>
            </a:r>
          </a:p>
          <a:p>
            <a:r>
              <a:rPr lang="pl-PL" sz="1300" dirty="0">
                <a:solidFill>
                  <a:srgbClr val="003766"/>
                </a:solidFill>
              </a:rPr>
              <a:t>Ki-67</a:t>
            </a:r>
            <a:r>
              <a:rPr lang="pl-PL" sz="1300" b="1" dirty="0">
                <a:solidFill>
                  <a:srgbClr val="003766"/>
                </a:solidFill>
              </a:rPr>
              <a:t>: niski poziom (30–40%)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Przeżycie: </a:t>
            </a:r>
            <a:r>
              <a:rPr lang="pl-PL" sz="1300" b="1" dirty="0">
                <a:solidFill>
                  <a:srgbClr val="2ECC71"/>
                </a:solidFill>
              </a:rPr>
              <a:t>92%</a:t>
            </a:r>
          </a:p>
          <a:p>
            <a:r>
              <a:rPr lang="pl-PL" sz="1300" dirty="0">
                <a:solidFill>
                  <a:srgbClr val="003766"/>
                </a:solidFill>
              </a:rPr>
              <a:t>Leczenie: </a:t>
            </a:r>
            <a:r>
              <a:rPr lang="pl-PL" sz="1300" b="1" dirty="0">
                <a:solidFill>
                  <a:srgbClr val="003766"/>
                </a:solidFill>
              </a:rPr>
              <a:t>terapia hormonalna</a:t>
            </a:r>
          </a:p>
          <a:p>
            <a:r>
              <a:rPr lang="pl-PL" sz="1300" dirty="0">
                <a:solidFill>
                  <a:srgbClr val="003766"/>
                </a:solidFill>
              </a:rPr>
              <a:t>Rokowanie: </a:t>
            </a:r>
            <a:r>
              <a:rPr lang="pl-PL" sz="1300" b="1" dirty="0">
                <a:solidFill>
                  <a:srgbClr val="003766"/>
                </a:solidFill>
              </a:rPr>
              <a:t>korzystne</a:t>
            </a:r>
            <a:endParaRPr lang="en-US" sz="1300" dirty="0">
              <a:solidFill>
                <a:srgbClr val="003766"/>
              </a:solidFill>
            </a:endParaRPr>
          </a:p>
          <a:p>
            <a:pPr algn="ctr"/>
            <a:r>
              <a:rPr lang="en-US" sz="1300" b="1" dirty="0">
                <a:solidFill>
                  <a:srgbClr val="003766"/>
                </a:solidFill>
              </a:rPr>
              <a:t>vs.</a:t>
            </a:r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F39C12"/>
                </a:solidFill>
              </a:rPr>
              <a:t>Luminal B:</a:t>
            </a:r>
          </a:p>
          <a:p>
            <a:r>
              <a:rPr lang="pl-PL" sz="1300" dirty="0">
                <a:solidFill>
                  <a:srgbClr val="003766"/>
                </a:solidFill>
              </a:rPr>
              <a:t>ER+ · PR± · HER2±</a:t>
            </a:r>
          </a:p>
          <a:p>
            <a:r>
              <a:rPr lang="pl-PL" sz="1300" dirty="0">
                <a:solidFill>
                  <a:srgbClr val="003766"/>
                </a:solidFill>
              </a:rPr>
              <a:t>Ki-67: </a:t>
            </a:r>
            <a:r>
              <a:rPr lang="pl-PL" sz="1300" b="1" dirty="0">
                <a:solidFill>
                  <a:srgbClr val="003766"/>
                </a:solidFill>
              </a:rPr>
              <a:t>wysoki poziom (&gt;60%) 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Przeżycie: </a:t>
            </a:r>
            <a:r>
              <a:rPr lang="pl-PL" sz="1300" b="1" dirty="0">
                <a:solidFill>
                  <a:srgbClr val="F39C12"/>
                </a:solidFill>
              </a:rPr>
              <a:t>82%</a:t>
            </a:r>
            <a:r>
              <a:rPr lang="pl-PL" sz="1300" dirty="0">
                <a:solidFill>
                  <a:srgbClr val="F39C12"/>
                </a:solidFill>
              </a:rPr>
              <a:t> </a:t>
            </a:r>
          </a:p>
          <a:p>
            <a:r>
              <a:rPr lang="pl-PL" sz="1300" dirty="0">
                <a:solidFill>
                  <a:srgbClr val="003766"/>
                </a:solidFill>
              </a:rPr>
              <a:t>Leczenie: </a:t>
            </a:r>
            <a:r>
              <a:rPr lang="pl-PL" sz="1300" b="1" dirty="0">
                <a:solidFill>
                  <a:srgbClr val="003766"/>
                </a:solidFill>
              </a:rPr>
              <a:t>terapia hormonalna ± leczenie skojarzone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Problem kliniczny: </a:t>
            </a:r>
            <a:r>
              <a:rPr lang="pl-PL" sz="1300" b="1" dirty="0">
                <a:solidFill>
                  <a:srgbClr val="003766"/>
                </a:solidFill>
              </a:rPr>
              <a:t>zmniejszona odpowiedź na leczenie</a:t>
            </a:r>
            <a:endParaRPr lang="en-US" sz="1300" b="1" dirty="0">
              <a:solidFill>
                <a:srgbClr val="003766"/>
              </a:solidFill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A720026-B750-1562-7725-A86E59ED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405" y="1865789"/>
            <a:ext cx="5968511" cy="3838352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E5DE634D-00B4-0243-CA76-231CA20D1224}"/>
              </a:ext>
            </a:extLst>
          </p:cNvPr>
          <p:cNvSpPr/>
          <p:nvPr/>
        </p:nvSpPr>
        <p:spPr>
          <a:xfrm>
            <a:off x="1540456" y="5683918"/>
            <a:ext cx="9589509" cy="1506601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>
                <a:solidFill>
                  <a:srgbClr val="003766"/>
                </a:solidFill>
              </a:rPr>
              <a:t>W porównaniu z typem </a:t>
            </a:r>
            <a:r>
              <a:rPr lang="pl-PL" sz="1400" dirty="0" err="1">
                <a:solidFill>
                  <a:srgbClr val="003766"/>
                </a:solidFill>
              </a:rPr>
              <a:t>luminalnym</a:t>
            </a:r>
            <a:r>
              <a:rPr lang="pl-PL" sz="1400" dirty="0">
                <a:solidFill>
                  <a:srgbClr val="003766"/>
                </a:solidFill>
              </a:rPr>
              <a:t> A, typ </a:t>
            </a:r>
            <a:r>
              <a:rPr lang="pl-PL" sz="1400" dirty="0" err="1">
                <a:solidFill>
                  <a:srgbClr val="003766"/>
                </a:solidFill>
              </a:rPr>
              <a:t>luminalny</a:t>
            </a:r>
            <a:r>
              <a:rPr lang="pl-PL" sz="1400" dirty="0">
                <a:solidFill>
                  <a:srgbClr val="003766"/>
                </a:solidFill>
              </a:rPr>
              <a:t> B wykazuje zwiększoną proliferację komórkową oraz dominującą regulację </a:t>
            </a:r>
            <a:r>
              <a:rPr lang="pl-PL" sz="1400" dirty="0" err="1">
                <a:solidFill>
                  <a:srgbClr val="003766"/>
                </a:solidFill>
              </a:rPr>
              <a:t>posttranskrypcyjną</a:t>
            </a:r>
            <a:r>
              <a:rPr lang="pl-PL" sz="1400" dirty="0">
                <a:solidFill>
                  <a:srgbClr val="003766"/>
                </a:solidFill>
              </a:rPr>
              <a:t> zależną od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dirty="0">
                <a:solidFill>
                  <a:srgbClr val="003766"/>
                </a:solidFill>
              </a:rPr>
              <a:t>.</a:t>
            </a:r>
            <a:endParaRPr lang="en-US" sz="1400" i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466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Stadium Wygrywa – Ale miRNA Dają Wskazówkę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rostokąt 3">
            <a:extLst>
              <a:ext uri="{FF2B5EF4-FFF2-40B4-BE49-F238E27FC236}">
                <a16:creationId xmlns:a16="http://schemas.microsoft.com/office/drawing/2014/main" id="{5F255CFE-9414-92C1-BBFD-F4F00EA37FE7}"/>
              </a:ext>
            </a:extLst>
          </p:cNvPr>
          <p:cNvSpPr/>
          <p:nvPr/>
        </p:nvSpPr>
        <p:spPr>
          <a:xfrm>
            <a:off x="223026" y="2088484"/>
            <a:ext cx="3890614" cy="3915850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WIELOCZYNNIKOWY MODEL COXA</a:t>
            </a:r>
          </a:p>
          <a:p>
            <a:r>
              <a:rPr lang="pl-PL" sz="1200" b="1" dirty="0">
                <a:solidFill>
                  <a:srgbClr val="003766"/>
                </a:solidFill>
              </a:rPr>
              <a:t>Punkt końcowy: </a:t>
            </a:r>
            <a:r>
              <a:rPr lang="pl-PL" sz="1200" dirty="0">
                <a:solidFill>
                  <a:srgbClr val="003766"/>
                </a:solidFill>
              </a:rPr>
              <a:t>przeżycie całkowite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Zmienna</a:t>
            </a:r>
            <a:r>
              <a:rPr lang="en-US" sz="1200" dirty="0">
                <a:solidFill>
                  <a:srgbClr val="003766"/>
                </a:solidFill>
              </a:rPr>
              <a:t>              HR      95% CI        p</a:t>
            </a:r>
          </a:p>
          <a:p>
            <a:r>
              <a:rPr lang="en-US" sz="1200" dirty="0">
                <a:solidFill>
                  <a:srgbClr val="003766"/>
                </a:solidFill>
              </a:rPr>
              <a:t>────────────────────────────────────────────</a:t>
            </a:r>
          </a:p>
          <a:p>
            <a:r>
              <a:rPr lang="pl-PL" sz="1200" dirty="0">
                <a:solidFill>
                  <a:srgbClr val="003766"/>
                </a:solidFill>
              </a:rPr>
              <a:t>Stopień</a:t>
            </a:r>
            <a:r>
              <a:rPr lang="en-US" sz="1200" dirty="0">
                <a:solidFill>
                  <a:srgbClr val="003766"/>
                </a:solidFill>
              </a:rPr>
              <a:t> (III vs I)     ●━━━━━━━&gt;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2.31   [1.78-3.01]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&lt; 0.001 </a:t>
            </a:r>
            <a:r>
              <a:rPr lang="pl-PL" sz="1200" dirty="0">
                <a:solidFill>
                  <a:srgbClr val="003766"/>
                </a:solidFill>
              </a:rPr>
              <a:t>***</a:t>
            </a:r>
            <a:endParaRPr lang="en-US" sz="1200" dirty="0">
              <a:solidFill>
                <a:srgbClr val="003766"/>
              </a:solidFill>
            </a:endParaRP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Wiek</a:t>
            </a:r>
            <a:r>
              <a:rPr lang="en-US" sz="1200" dirty="0">
                <a:solidFill>
                  <a:srgbClr val="003766"/>
                </a:solidFill>
              </a:rPr>
              <a:t> (</a:t>
            </a:r>
            <a:r>
              <a:rPr lang="pl-PL" sz="1200" dirty="0">
                <a:solidFill>
                  <a:srgbClr val="003766"/>
                </a:solidFill>
              </a:rPr>
              <a:t>na każde</a:t>
            </a:r>
            <a:r>
              <a:rPr lang="en-US" sz="1200" dirty="0">
                <a:solidFill>
                  <a:srgbClr val="003766"/>
                </a:solidFill>
              </a:rPr>
              <a:t> +10</a:t>
            </a:r>
            <a:r>
              <a:rPr lang="pl-PL" sz="1200" dirty="0">
                <a:solidFill>
                  <a:srgbClr val="003766"/>
                </a:solidFill>
              </a:rPr>
              <a:t> lat</a:t>
            </a:r>
            <a:r>
              <a:rPr lang="en-US" sz="1200" dirty="0">
                <a:solidFill>
                  <a:srgbClr val="003766"/>
                </a:solidFill>
              </a:rPr>
              <a:t>)      ●━━━━&gt;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1.23   [0.98-1.51]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= 0.082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Wynik </a:t>
            </a:r>
            <a:r>
              <a:rPr lang="pl-PL" sz="1200" dirty="0" err="1">
                <a:solidFill>
                  <a:srgbClr val="003766"/>
                </a:solidFill>
              </a:rPr>
              <a:t>miRNA</a:t>
            </a:r>
            <a:r>
              <a:rPr lang="en-US" sz="1200" dirty="0">
                <a:solidFill>
                  <a:srgbClr val="003766"/>
                </a:solidFill>
              </a:rPr>
              <a:t>         ●━&gt;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(</a:t>
            </a:r>
            <a:r>
              <a:rPr lang="pl-PL" sz="1200" dirty="0">
                <a:solidFill>
                  <a:srgbClr val="003766"/>
                </a:solidFill>
              </a:rPr>
              <a:t>zmienna ciągła</a:t>
            </a:r>
            <a:r>
              <a:rPr lang="en-US" sz="1200" dirty="0">
                <a:solidFill>
                  <a:srgbClr val="003766"/>
                </a:solidFill>
              </a:rPr>
              <a:t>)         1.18   [0.99-1.40]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= 0.068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Interpretacja: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***</a:t>
            </a:r>
            <a:r>
              <a:rPr lang="en-US" sz="1200" dirty="0">
                <a:solidFill>
                  <a:srgbClr val="003766"/>
                </a:solidFill>
              </a:rPr>
              <a:t> = </a:t>
            </a:r>
            <a:r>
              <a:rPr lang="pl-PL" sz="1200" dirty="0">
                <a:solidFill>
                  <a:srgbClr val="003766"/>
                </a:solidFill>
              </a:rPr>
              <a:t>efekt dominujący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Stopień</a:t>
            </a:r>
            <a:r>
              <a:rPr lang="en-US" sz="1200" dirty="0">
                <a:solidFill>
                  <a:srgbClr val="003766"/>
                </a:solidFill>
              </a:rPr>
              <a:t>: NAJWIĘKSZY efekt (HR=2.31)</a:t>
            </a:r>
          </a:p>
          <a:p>
            <a:r>
              <a:rPr lang="en-US" sz="1200" dirty="0">
                <a:solidFill>
                  <a:srgbClr val="003766"/>
                </a:solidFill>
              </a:rPr>
              <a:t>miRNA: </a:t>
            </a:r>
            <a:r>
              <a:rPr lang="pl-PL" sz="1200" dirty="0">
                <a:solidFill>
                  <a:srgbClr val="003766"/>
                </a:solidFill>
              </a:rPr>
              <a:t>mały, lecz istotny biologicznie efekt</a:t>
            </a:r>
            <a:endParaRPr lang="en-US" sz="1200" dirty="0">
              <a:solidFill>
                <a:srgbClr val="003766"/>
              </a:solidFill>
            </a:endParaRP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F076FF31-339E-077D-5427-E0411BD618EC}"/>
              </a:ext>
            </a:extLst>
          </p:cNvPr>
          <p:cNvSpPr/>
          <p:nvPr/>
        </p:nvSpPr>
        <p:spPr>
          <a:xfrm>
            <a:off x="8972550" y="1794643"/>
            <a:ext cx="3146971" cy="4227665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Co to oznacza w praktyce klinicznej?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Stopień zaawansowania choroby nadal decyduje</a:t>
            </a:r>
          </a:p>
          <a:p>
            <a:r>
              <a:rPr lang="pl-PL" sz="1200" b="1" dirty="0">
                <a:solidFill>
                  <a:srgbClr val="003766"/>
                </a:solidFill>
              </a:rPr>
              <a:t>(leczenie w stadium III ≠ leczenie w stadium I)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Przykład: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Dwie pacjentki, obie </a:t>
            </a:r>
            <a:r>
              <a:rPr lang="pl-PL" sz="1200" b="1" dirty="0">
                <a:solidFill>
                  <a:srgbClr val="003766"/>
                </a:solidFill>
              </a:rPr>
              <a:t>w stadium III</a:t>
            </a:r>
            <a:r>
              <a:rPr lang="pl-PL" sz="1200" dirty="0">
                <a:solidFill>
                  <a:srgbClr val="003766"/>
                </a:solidFill>
              </a:rPr>
              <a:t>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pacjentka 1: </a:t>
            </a:r>
            <a:r>
              <a:rPr lang="pl-PL" sz="1200" b="1" dirty="0">
                <a:solidFill>
                  <a:srgbClr val="003766"/>
                </a:solidFill>
              </a:rPr>
              <a:t>wysoki wynik </a:t>
            </a:r>
            <a:r>
              <a:rPr lang="pl-PL" sz="1200" b="1" dirty="0" err="1">
                <a:solidFill>
                  <a:srgbClr val="003766"/>
                </a:solidFill>
              </a:rPr>
              <a:t>miRNA</a:t>
            </a:r>
            <a:r>
              <a:rPr lang="pl-PL" sz="1200" b="1" dirty="0">
                <a:solidFill>
                  <a:srgbClr val="003766"/>
                </a:solidFill>
              </a:rPr>
              <a:t> </a:t>
            </a:r>
            <a:r>
              <a:rPr lang="pl-PL" sz="1200" dirty="0">
                <a:solidFill>
                  <a:srgbClr val="003766"/>
                </a:solidFill>
              </a:rPr>
              <a:t>→ </a:t>
            </a:r>
            <a:r>
              <a:rPr lang="pl-PL" sz="1200" b="1" dirty="0">
                <a:solidFill>
                  <a:srgbClr val="003766"/>
                </a:solidFill>
              </a:rPr>
              <a:t>25% przeżycia</a:t>
            </a:r>
          </a:p>
          <a:p>
            <a:r>
              <a:rPr lang="pl-PL" sz="1200" dirty="0">
                <a:solidFill>
                  <a:srgbClr val="003766"/>
                </a:solidFill>
              </a:rPr>
              <a:t>pacjentka 2: </a:t>
            </a:r>
            <a:r>
              <a:rPr lang="pl-PL" sz="1200" b="1" dirty="0">
                <a:solidFill>
                  <a:srgbClr val="003766"/>
                </a:solidFill>
              </a:rPr>
              <a:t>niski wynik </a:t>
            </a:r>
            <a:r>
              <a:rPr lang="pl-PL" sz="1200" b="1" dirty="0" err="1">
                <a:solidFill>
                  <a:srgbClr val="003766"/>
                </a:solidFill>
              </a:rPr>
              <a:t>miRNA</a:t>
            </a:r>
            <a:r>
              <a:rPr lang="pl-PL" sz="1200" b="1" dirty="0">
                <a:solidFill>
                  <a:srgbClr val="003766"/>
                </a:solidFill>
              </a:rPr>
              <a:t> </a:t>
            </a:r>
            <a:r>
              <a:rPr lang="pl-PL" sz="1200" dirty="0">
                <a:solidFill>
                  <a:srgbClr val="003766"/>
                </a:solidFill>
              </a:rPr>
              <a:t>→ </a:t>
            </a:r>
            <a:r>
              <a:rPr lang="pl-PL" sz="1200" b="1" dirty="0">
                <a:solidFill>
                  <a:srgbClr val="003766"/>
                </a:solidFill>
              </a:rPr>
              <a:t>35% przeżycia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To ~40% różnica w ryzyku!(potencjalnie wpływająca na decyzje terapeutyczne)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Ograniczenia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dirty="0">
                <a:solidFill>
                  <a:srgbClr val="003766"/>
                </a:solidFill>
              </a:rPr>
              <a:t>niewielka kohorta testowa </a:t>
            </a:r>
            <a:r>
              <a:rPr lang="pl-PL" sz="1200" b="1" i="1" dirty="0">
                <a:solidFill>
                  <a:srgbClr val="003766"/>
                </a:solidFill>
              </a:rPr>
              <a:t>(n = 365)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dirty="0">
                <a:solidFill>
                  <a:srgbClr val="003766"/>
                </a:solidFill>
              </a:rPr>
              <a:t>wartość </a:t>
            </a:r>
            <a:r>
              <a:rPr lang="pl-PL" sz="1200" b="1" i="1" dirty="0">
                <a:solidFill>
                  <a:srgbClr val="003766"/>
                </a:solidFill>
              </a:rPr>
              <a:t>p = 0,042 </a:t>
            </a:r>
            <a:r>
              <a:rPr lang="pl-PL" sz="1200" dirty="0">
                <a:solidFill>
                  <a:srgbClr val="003766"/>
                </a:solidFill>
              </a:rPr>
              <a:t>na granicy istotności statystycznej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dirty="0">
                <a:solidFill>
                  <a:srgbClr val="003766"/>
                </a:solidFill>
              </a:rPr>
              <a:t>konieczność walidacji w niezależnej kohorcie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A9BAFB3D-709E-D006-A034-4C804A279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9997" y="1941563"/>
            <a:ext cx="5602553" cy="422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396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3459" y="144557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431202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13459" y="389744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0197BD8F-85D0-6EB2-BADE-E3D3FEBEC09E}"/>
              </a:ext>
            </a:extLst>
          </p:cNvPr>
          <p:cNvSpPr/>
          <p:nvPr/>
        </p:nvSpPr>
        <p:spPr>
          <a:xfrm>
            <a:off x="201103" y="1197483"/>
            <a:ext cx="3646433" cy="5415190"/>
          </a:xfrm>
          <a:prstGeom prst="rect">
            <a:avLst/>
          </a:prstGeom>
          <a:solidFill>
            <a:schemeClr val="accent6">
              <a:lumMod val="75000"/>
              <a:alpha val="6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NASZE ODKRYCIE:</a:t>
            </a:r>
            <a:endParaRPr lang="en-US" b="1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1.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Typ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basalny</a:t>
            </a:r>
            <a:r>
              <a:rPr lang="en-US" sz="1400" b="1" dirty="0">
                <a:solidFill>
                  <a:srgbClr val="003766"/>
                </a:solidFill>
              </a:rPr>
              <a:t> ≠ „</a:t>
            </a:r>
            <a:r>
              <a:rPr lang="en-US" sz="1400" b="1" dirty="0" err="1">
                <a:solidFill>
                  <a:srgbClr val="003766"/>
                </a:solidFill>
              </a:rPr>
              <a:t>pasywna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utrata</a:t>
            </a:r>
            <a:r>
              <a:rPr lang="en-US" sz="1400" b="1" dirty="0">
                <a:solidFill>
                  <a:srgbClr val="003766"/>
                </a:solidFill>
              </a:rPr>
              <a:t>”</a:t>
            </a:r>
            <a:endParaRPr lang="pl-PL" sz="1400" b="1" dirty="0">
              <a:solidFill>
                <a:srgbClr val="003766"/>
              </a:solidFill>
            </a:endParaRPr>
          </a:p>
          <a:p>
            <a:r>
              <a:rPr lang="en-US" sz="1400" dirty="0" err="1">
                <a:solidFill>
                  <a:srgbClr val="003766"/>
                </a:solidFill>
              </a:rPr>
              <a:t>aktywna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supresja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zależna</a:t>
            </a:r>
            <a:r>
              <a:rPr lang="en-US" sz="1400" dirty="0">
                <a:solidFill>
                  <a:srgbClr val="003766"/>
                </a:solidFill>
              </a:rPr>
              <a:t> od </a:t>
            </a:r>
            <a:r>
              <a:rPr lang="en-US" sz="1400" dirty="0" err="1">
                <a:solidFill>
                  <a:srgbClr val="003766"/>
                </a:solidFill>
              </a:rPr>
              <a:t>osi</a:t>
            </a:r>
            <a:r>
              <a:rPr lang="en-US" sz="1400" dirty="0">
                <a:solidFill>
                  <a:srgbClr val="003766"/>
                </a:solidFill>
              </a:rPr>
              <a:t> miR-17 / miR-20a / miR-210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</a:t>
            </a:r>
            <a:r>
              <a:rPr lang="en-US" sz="1400" b="1" dirty="0">
                <a:solidFill>
                  <a:srgbClr val="003766"/>
                </a:solidFill>
              </a:rPr>
              <a:t>FOXA1 </a:t>
            </a:r>
            <a:r>
              <a:rPr lang="en-US" sz="1400" b="1" dirty="0" err="1">
                <a:solidFill>
                  <a:srgbClr val="003766"/>
                </a:solidFill>
              </a:rPr>
              <a:t>i</a:t>
            </a:r>
            <a:r>
              <a:rPr lang="en-US" sz="1400" b="1" dirty="0">
                <a:solidFill>
                  <a:srgbClr val="003766"/>
                </a:solidFill>
              </a:rPr>
              <a:t> ESR1 </a:t>
            </a:r>
            <a:r>
              <a:rPr lang="en-US" sz="1400" b="1" dirty="0" err="1">
                <a:solidFill>
                  <a:srgbClr val="003766"/>
                </a:solidFill>
              </a:rPr>
              <a:t>są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genami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docelowymi</a:t>
            </a:r>
            <a:r>
              <a:rPr lang="en-US" sz="1400" b="1" dirty="0">
                <a:solidFill>
                  <a:srgbClr val="003766"/>
                </a:solidFill>
              </a:rPr>
              <a:t> miRNA</a:t>
            </a:r>
            <a:endParaRPr lang="pl-PL" sz="1400" b="1" dirty="0">
              <a:solidFill>
                <a:srgbClr val="003766"/>
              </a:solidFill>
            </a:endParaRPr>
          </a:p>
          <a:p>
            <a:r>
              <a:rPr lang="en-US" sz="1400" dirty="0" err="1">
                <a:solidFill>
                  <a:srgbClr val="003766"/>
                </a:solidFill>
              </a:rPr>
              <a:t>potwierdzone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wiązanie</a:t>
            </a:r>
            <a:r>
              <a:rPr lang="en-US" sz="1400" dirty="0">
                <a:solidFill>
                  <a:srgbClr val="003766"/>
                </a:solidFill>
              </a:rPr>
              <a:t> z </a:t>
            </a:r>
            <a:r>
              <a:rPr lang="en-US" sz="1400" dirty="0" err="1">
                <a:solidFill>
                  <a:srgbClr val="003766"/>
                </a:solidFill>
              </a:rPr>
              <a:t>regionem</a:t>
            </a:r>
            <a:r>
              <a:rPr lang="en-US" sz="1400" dirty="0">
                <a:solidFill>
                  <a:srgbClr val="003766"/>
                </a:solidFill>
              </a:rPr>
              <a:t> 3′UTR</a:t>
            </a:r>
            <a:endParaRPr lang="pl-PL" sz="1400" dirty="0">
              <a:solidFill>
                <a:srgbClr val="003766"/>
              </a:solidFill>
            </a:endParaRPr>
          </a:p>
          <a:p>
            <a:r>
              <a:rPr lang="en-US" sz="1400" i="1" dirty="0">
                <a:solidFill>
                  <a:srgbClr val="003766"/>
                </a:solidFill>
              </a:rPr>
              <a:t>(</a:t>
            </a:r>
            <a:r>
              <a:rPr lang="en-US" sz="1400" i="1" dirty="0" err="1">
                <a:solidFill>
                  <a:srgbClr val="003766"/>
                </a:solidFill>
              </a:rPr>
              <a:t>konsensus</a:t>
            </a:r>
            <a:r>
              <a:rPr lang="en-US" sz="1400" i="1" dirty="0">
                <a:solidFill>
                  <a:srgbClr val="003766"/>
                </a:solidFill>
              </a:rPr>
              <a:t> </a:t>
            </a:r>
            <a:r>
              <a:rPr lang="en-US" sz="1400" i="1" dirty="0" err="1">
                <a:solidFill>
                  <a:srgbClr val="003766"/>
                </a:solidFill>
              </a:rPr>
              <a:t>TargetScan</a:t>
            </a:r>
            <a:r>
              <a:rPr lang="en-US" sz="1400" i="1" dirty="0">
                <a:solidFill>
                  <a:srgbClr val="003766"/>
                </a:solidFill>
              </a:rPr>
              <a:t> + </a:t>
            </a:r>
            <a:r>
              <a:rPr lang="en-US" sz="1400" i="1" dirty="0" err="1">
                <a:solidFill>
                  <a:srgbClr val="003766"/>
                </a:solidFill>
              </a:rPr>
              <a:t>miRDB</a:t>
            </a:r>
            <a:r>
              <a:rPr lang="en-US" sz="1400" i="1" dirty="0">
                <a:solidFill>
                  <a:srgbClr val="003766"/>
                </a:solidFill>
              </a:rPr>
              <a:t>)</a:t>
            </a:r>
            <a:endParaRPr lang="pl-PL" sz="1400" i="1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en-US" sz="1400" b="1" dirty="0">
                <a:solidFill>
                  <a:srgbClr val="003766"/>
                </a:solidFill>
              </a:rPr>
              <a:t>mRNA ≠ </a:t>
            </a:r>
            <a:r>
              <a:rPr lang="pl-PL" sz="1400" b="1" dirty="0">
                <a:solidFill>
                  <a:srgbClr val="003766"/>
                </a:solidFill>
              </a:rPr>
              <a:t>B</a:t>
            </a:r>
            <a:r>
              <a:rPr lang="en-US" sz="1400" b="1" dirty="0" err="1">
                <a:solidFill>
                  <a:srgbClr val="003766"/>
                </a:solidFill>
              </a:rPr>
              <a:t>iałko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~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en-US" sz="1400" dirty="0">
                <a:solidFill>
                  <a:srgbClr val="003766"/>
                </a:solidFill>
              </a:rPr>
              <a:t>70% </a:t>
            </a:r>
            <a:r>
              <a:rPr lang="en-US" sz="1400" dirty="0" err="1">
                <a:solidFill>
                  <a:srgbClr val="003766"/>
                </a:solidFill>
              </a:rPr>
              <a:t>zmienności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poziomu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białka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nie</a:t>
            </a:r>
            <a:r>
              <a:rPr lang="en-US" sz="1400" dirty="0">
                <a:solidFill>
                  <a:srgbClr val="003766"/>
                </a:solidFill>
              </a:rPr>
              <a:t> jest </a:t>
            </a:r>
            <a:r>
              <a:rPr lang="en-US" sz="1400" dirty="0" err="1">
                <a:solidFill>
                  <a:srgbClr val="003766"/>
                </a:solidFill>
              </a:rPr>
              <a:t>wyjaśniane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przez</a:t>
            </a:r>
            <a:r>
              <a:rPr lang="en-US" sz="1400" dirty="0">
                <a:solidFill>
                  <a:srgbClr val="003766"/>
                </a:solidFill>
              </a:rPr>
              <a:t> mRNA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analiza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wieloomiczna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ujawnia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mechanizm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regulacyjny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</a:t>
            </a:r>
            <a:r>
              <a:rPr lang="en-US" sz="1400" b="1" dirty="0" err="1">
                <a:solidFill>
                  <a:srgbClr val="003766"/>
                </a:solidFill>
              </a:rPr>
              <a:t>Typ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luminalny</a:t>
            </a:r>
            <a:r>
              <a:rPr lang="en-US" sz="1400" b="1" dirty="0">
                <a:solidFill>
                  <a:srgbClr val="003766"/>
                </a:solidFill>
              </a:rPr>
              <a:t> B: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fenotyp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wysokiej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proliferacji</a:t>
            </a:r>
            <a:r>
              <a:rPr lang="en-US" sz="1400" dirty="0">
                <a:solidFill>
                  <a:srgbClr val="003766"/>
                </a:solidFill>
              </a:rPr>
              <a:t> (Ki-67)</a:t>
            </a:r>
            <a:r>
              <a:rPr lang="pl-PL" sz="1400" dirty="0">
                <a:solidFill>
                  <a:srgbClr val="003766"/>
                </a:solidFill>
              </a:rPr>
              <a:t>, </a:t>
            </a:r>
            <a:r>
              <a:rPr lang="en-US" sz="1400" dirty="0" err="1">
                <a:solidFill>
                  <a:srgbClr val="003766"/>
                </a:solidFill>
              </a:rPr>
              <a:t>napędzany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przez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b="1" dirty="0">
                <a:solidFill>
                  <a:srgbClr val="003766"/>
                </a:solidFill>
              </a:rPr>
              <a:t>miR-210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oraz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utratę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b="1" dirty="0">
                <a:solidFill>
                  <a:srgbClr val="003766"/>
                </a:solidFill>
              </a:rPr>
              <a:t>PGR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60A85E7-5875-0213-108F-642526516838}"/>
              </a:ext>
            </a:extLst>
          </p:cNvPr>
          <p:cNvSpPr/>
          <p:nvPr/>
        </p:nvSpPr>
        <p:spPr>
          <a:xfrm>
            <a:off x="3966880" y="1197483"/>
            <a:ext cx="4013961" cy="5415190"/>
          </a:xfrm>
          <a:prstGeom prst="rect">
            <a:avLst/>
          </a:prstGeom>
          <a:solidFill>
            <a:schemeClr val="accent4">
              <a:lumMod val="75000"/>
              <a:alpha val="6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NASZE LIMITY:</a:t>
            </a:r>
            <a:endParaRPr lang="pl-PL" sz="1400" b="1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1. Brak walidacji eksperymentalnej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testy </a:t>
            </a:r>
            <a:r>
              <a:rPr lang="pl-PL" sz="1400" dirty="0" err="1">
                <a:solidFill>
                  <a:srgbClr val="003766"/>
                </a:solidFill>
              </a:rPr>
              <a:t>lucyferazowe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CLIP-</a:t>
            </a:r>
            <a:r>
              <a:rPr lang="pl-PL" sz="1400" dirty="0" err="1">
                <a:solidFill>
                  <a:srgbClr val="003766"/>
                </a:solidFill>
              </a:rPr>
              <a:t>seq</a:t>
            </a:r>
            <a:r>
              <a:rPr lang="pl-PL" sz="1400" dirty="0">
                <a:solidFill>
                  <a:srgbClr val="003766"/>
                </a:solidFill>
              </a:rPr>
              <a:t> (linie komórkowe)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terapeutyczny knockdown - potwierdzenie przyczynowości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Ograniczenia danych TCGA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ośrodki referencyjne </a:t>
            </a:r>
            <a:r>
              <a:rPr lang="pl-PL" sz="1400" i="1" dirty="0">
                <a:solidFill>
                  <a:srgbClr val="003766"/>
                </a:solidFill>
              </a:rPr>
              <a:t>(2009–2013)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ograniczona reprezentatywność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potrzeba walidacji zewnętrznej</a:t>
            </a:r>
          </a:p>
          <a:p>
            <a:r>
              <a:rPr lang="pl-PL" sz="1400" i="1" dirty="0">
                <a:solidFill>
                  <a:srgbClr val="003766"/>
                </a:solidFill>
              </a:rPr>
              <a:t>         (METABRIC, ICGC-BRCA)</a:t>
            </a:r>
          </a:p>
          <a:p>
            <a:endParaRPr lang="pl-PL" sz="1400" i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Graniczne wartości 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wynik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b="1" dirty="0">
                <a:solidFill>
                  <a:srgbClr val="003766"/>
                </a:solidFill>
              </a:rPr>
              <a:t>: </a:t>
            </a:r>
            <a:r>
              <a:rPr lang="pl-PL" sz="1400" b="1" i="1" dirty="0">
                <a:solidFill>
                  <a:srgbClr val="003766"/>
                </a:solidFill>
              </a:rPr>
              <a:t>p = 0,068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problem wielokrotnego testowania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Mała kohorta testowa </a:t>
            </a:r>
            <a:r>
              <a:rPr lang="pl-PL" sz="1400" b="1" i="1" dirty="0">
                <a:solidFill>
                  <a:srgbClr val="003766"/>
                </a:solidFill>
              </a:rPr>
              <a:t>(n = 365)</a:t>
            </a:r>
          </a:p>
          <a:p>
            <a:r>
              <a:rPr lang="pl-PL" sz="1400" dirty="0">
                <a:solidFill>
                  <a:srgbClr val="003766"/>
                </a:solidFill>
              </a:rPr>
              <a:t>ograniczona moc statystyczna dla analiz podtypów</a:t>
            </a:r>
            <a:endParaRPr lang="en-US" sz="1400" dirty="0">
              <a:solidFill>
                <a:srgbClr val="003766"/>
              </a:solidFill>
            </a:endParaRP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B28BEA59-5953-6A8D-AF68-67231F2F8B43}"/>
              </a:ext>
            </a:extLst>
          </p:cNvPr>
          <p:cNvSpPr/>
          <p:nvPr/>
        </p:nvSpPr>
        <p:spPr>
          <a:xfrm>
            <a:off x="8100185" y="1197483"/>
            <a:ext cx="4013961" cy="5415190"/>
          </a:xfrm>
          <a:prstGeom prst="rect">
            <a:avLst/>
          </a:prstGeom>
          <a:solidFill>
            <a:srgbClr val="7030A0">
              <a:alpha val="6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l-PL" b="1" dirty="0">
              <a:solidFill>
                <a:srgbClr val="003766"/>
              </a:solidFill>
            </a:endParaRPr>
          </a:p>
          <a:p>
            <a:r>
              <a:rPr lang="pl-PL" b="1" dirty="0">
                <a:solidFill>
                  <a:srgbClr val="003766"/>
                </a:solidFill>
              </a:rPr>
              <a:t>PRZYSZŁOŚĆ</a:t>
            </a: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1.  </a:t>
            </a:r>
            <a:r>
              <a:rPr lang="en-US" sz="1400" b="1" dirty="0" err="1">
                <a:solidFill>
                  <a:srgbClr val="003766"/>
                </a:solidFill>
              </a:rPr>
              <a:t>Krótki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termin</a:t>
            </a:r>
            <a:r>
              <a:rPr lang="en-US" sz="1400" b="1" dirty="0">
                <a:solidFill>
                  <a:srgbClr val="003766"/>
                </a:solidFill>
              </a:rPr>
              <a:t> (1–2 </a:t>
            </a:r>
            <a:r>
              <a:rPr lang="en-US" sz="1400" b="1" dirty="0" err="1">
                <a:solidFill>
                  <a:srgbClr val="003766"/>
                </a:solidFill>
              </a:rPr>
              <a:t>lata</a:t>
            </a:r>
            <a:r>
              <a:rPr lang="en-US" sz="1400" b="1" dirty="0">
                <a:solidFill>
                  <a:srgbClr val="003766"/>
                </a:solidFill>
              </a:rPr>
              <a:t>):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walidacja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eksperymentalna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FOXA1 / ESR1 / PGR (SUM149, MDA-MB-231)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CLIP-seq – </a:t>
            </a:r>
            <a:r>
              <a:rPr lang="en-US" sz="1400" dirty="0" err="1">
                <a:solidFill>
                  <a:srgbClr val="003766"/>
                </a:solidFill>
              </a:rPr>
              <a:t>mapowanie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rzeczywistych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wiązań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</a:t>
            </a:r>
            <a:r>
              <a:rPr lang="en-US" sz="1400" b="1" dirty="0" err="1">
                <a:solidFill>
                  <a:srgbClr val="003766"/>
                </a:solidFill>
              </a:rPr>
              <a:t>Średni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termin</a:t>
            </a:r>
            <a:r>
              <a:rPr lang="en-US" sz="1400" b="1" dirty="0">
                <a:solidFill>
                  <a:srgbClr val="003766"/>
                </a:solidFill>
              </a:rPr>
              <a:t> (3–5 </a:t>
            </a:r>
            <a:r>
              <a:rPr lang="en-US" sz="1400" b="1" dirty="0" err="1">
                <a:solidFill>
                  <a:srgbClr val="003766"/>
                </a:solidFill>
              </a:rPr>
              <a:t>lat</a:t>
            </a:r>
            <a:r>
              <a:rPr lang="en-US" sz="1400" b="1" dirty="0">
                <a:solidFill>
                  <a:srgbClr val="003766"/>
                </a:solidFill>
              </a:rPr>
              <a:t>):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testowanie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terapii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anty</a:t>
            </a:r>
            <a:r>
              <a:rPr lang="en-US" sz="1400" dirty="0">
                <a:solidFill>
                  <a:srgbClr val="003766"/>
                </a:solidFill>
              </a:rPr>
              <a:t>-miRNA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antagomiry</a:t>
            </a:r>
            <a:r>
              <a:rPr lang="en-US" sz="1400" dirty="0">
                <a:solidFill>
                  <a:srgbClr val="003766"/>
                </a:solidFill>
              </a:rPr>
              <a:t> (LNA)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„</a:t>
            </a:r>
            <a:r>
              <a:rPr lang="en-US" sz="1400" dirty="0" err="1">
                <a:solidFill>
                  <a:srgbClr val="003766"/>
                </a:solidFill>
              </a:rPr>
              <a:t>gąbki</a:t>
            </a:r>
            <a:r>
              <a:rPr lang="en-US" sz="1400" dirty="0">
                <a:solidFill>
                  <a:srgbClr val="003766"/>
                </a:solidFill>
              </a:rPr>
              <a:t>” miRNA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podejścia</a:t>
            </a:r>
            <a:r>
              <a:rPr lang="en-US" sz="1400" dirty="0">
                <a:solidFill>
                  <a:srgbClr val="003766"/>
                </a:solidFill>
              </a:rPr>
              <a:t> CRISPR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</a:t>
            </a:r>
            <a:r>
              <a:rPr lang="en-US" sz="1400" b="1" dirty="0" err="1">
                <a:solidFill>
                  <a:srgbClr val="003766"/>
                </a:solidFill>
              </a:rPr>
              <a:t>Długi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termin</a:t>
            </a:r>
            <a:r>
              <a:rPr lang="en-US" sz="1400" b="1" dirty="0">
                <a:solidFill>
                  <a:srgbClr val="003766"/>
                </a:solidFill>
              </a:rPr>
              <a:t> (5–10 </a:t>
            </a:r>
            <a:r>
              <a:rPr lang="en-US" sz="1400" b="1" dirty="0" err="1">
                <a:solidFill>
                  <a:srgbClr val="003766"/>
                </a:solidFill>
              </a:rPr>
              <a:t>lat</a:t>
            </a:r>
            <a:r>
              <a:rPr lang="en-US" sz="1400" b="1" dirty="0">
                <a:solidFill>
                  <a:srgbClr val="003766"/>
                </a:solidFill>
              </a:rPr>
              <a:t>):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badania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kliniczne</a:t>
            </a:r>
            <a:r>
              <a:rPr lang="en-US" sz="1400" dirty="0">
                <a:solidFill>
                  <a:srgbClr val="003766"/>
                </a:solidFill>
              </a:rPr>
              <a:t> I/II </a:t>
            </a:r>
            <a:r>
              <a:rPr lang="en-US" sz="1400" dirty="0" err="1">
                <a:solidFill>
                  <a:srgbClr val="003766"/>
                </a:solidFill>
              </a:rPr>
              <a:t>fazy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anty</a:t>
            </a:r>
            <a:r>
              <a:rPr lang="en-US" sz="1400" dirty="0">
                <a:solidFill>
                  <a:srgbClr val="003766"/>
                </a:solidFill>
              </a:rPr>
              <a:t>-miRNA + </a:t>
            </a:r>
            <a:r>
              <a:rPr lang="en-US" sz="1400" dirty="0" err="1">
                <a:solidFill>
                  <a:srgbClr val="003766"/>
                </a:solidFill>
              </a:rPr>
              <a:t>chemioterapia</a:t>
            </a:r>
            <a:r>
              <a:rPr lang="en-US" sz="1400" dirty="0">
                <a:solidFill>
                  <a:srgbClr val="003766"/>
                </a:solidFill>
              </a:rPr>
              <a:t> w TNBC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przywrócenie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terapii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hormonalnej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en-US" sz="1400" b="1" dirty="0" err="1">
                <a:solidFill>
                  <a:srgbClr val="003766"/>
                </a:solidFill>
              </a:rPr>
              <a:t>Dlaczego</a:t>
            </a:r>
            <a:r>
              <a:rPr lang="en-US" sz="1400" b="1" dirty="0">
                <a:solidFill>
                  <a:srgbClr val="003766"/>
                </a:solidFill>
              </a:rPr>
              <a:t> to </a:t>
            </a:r>
            <a:r>
              <a:rPr lang="en-US" sz="1400" b="1" dirty="0" err="1">
                <a:solidFill>
                  <a:srgbClr val="003766"/>
                </a:solidFill>
              </a:rPr>
              <a:t>ważne</a:t>
            </a:r>
            <a:r>
              <a:rPr lang="en-US" sz="1400" b="1" dirty="0">
                <a:solidFill>
                  <a:srgbClr val="003766"/>
                </a:solidFill>
              </a:rPr>
              <a:t>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TNBC: </a:t>
            </a:r>
            <a:r>
              <a:rPr lang="en-US" sz="1400" dirty="0" err="1">
                <a:solidFill>
                  <a:srgbClr val="003766"/>
                </a:solidFill>
              </a:rPr>
              <a:t>obecnie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tylko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chemioterapia</a:t>
            </a:r>
            <a:r>
              <a:rPr lang="en-US" sz="1400" dirty="0">
                <a:solidFill>
                  <a:srgbClr val="003766"/>
                </a:solidFill>
              </a:rPr>
              <a:t> ± </a:t>
            </a:r>
            <a:r>
              <a:rPr lang="en-US" sz="1400" dirty="0" err="1">
                <a:solidFill>
                  <a:srgbClr val="003766"/>
                </a:solidFill>
              </a:rPr>
              <a:t>immunoterapia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przywrócenie</a:t>
            </a:r>
            <a:r>
              <a:rPr lang="en-US" sz="1400" dirty="0">
                <a:solidFill>
                  <a:srgbClr val="003766"/>
                </a:solidFill>
              </a:rPr>
              <a:t> ER = </a:t>
            </a:r>
            <a:r>
              <a:rPr lang="en-US" sz="1400" dirty="0" err="1">
                <a:solidFill>
                  <a:srgbClr val="003766"/>
                </a:solidFill>
              </a:rPr>
              <a:t>nowa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opcja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leczenia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l</a:t>
            </a:r>
            <a:r>
              <a:rPr lang="en-US" sz="1400" dirty="0" err="1">
                <a:solidFill>
                  <a:srgbClr val="003766"/>
                </a:solidFill>
              </a:rPr>
              <a:t>epsze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wyniki</a:t>
            </a:r>
            <a:r>
              <a:rPr lang="en-US" sz="1400" dirty="0">
                <a:solidFill>
                  <a:srgbClr val="003766"/>
                </a:solidFill>
              </a:rPr>
              <a:t>, </a:t>
            </a:r>
            <a:r>
              <a:rPr lang="en-US" sz="1400" dirty="0" err="1">
                <a:solidFill>
                  <a:srgbClr val="003766"/>
                </a:solidFill>
              </a:rPr>
              <a:t>mniejsza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toksyczność</a:t>
            </a:r>
            <a:endParaRPr lang="en-US" sz="2000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281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9378-6AAD-C54E-EBE6-170037B1A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F5DA56C-A4CC-6788-DAE6-CDF08252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3459" y="144557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1107A44A-5FB7-E98E-417A-18DDBE7F1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431202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D09DCD3D-E150-B53A-2679-B42B8EE61EB6}"/>
              </a:ext>
            </a:extLst>
          </p:cNvPr>
          <p:cNvCxnSpPr/>
          <p:nvPr/>
        </p:nvCxnSpPr>
        <p:spPr>
          <a:xfrm>
            <a:off x="5213459" y="389744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 7">
            <a:extLst>
              <a:ext uri="{FF2B5EF4-FFF2-40B4-BE49-F238E27FC236}">
                <a16:creationId xmlns:a16="http://schemas.microsoft.com/office/drawing/2014/main" id="{77422177-A9B9-4864-BF99-3BC1CA0D6FEA}"/>
              </a:ext>
            </a:extLst>
          </p:cNvPr>
          <p:cNvSpPr/>
          <p:nvPr/>
        </p:nvSpPr>
        <p:spPr>
          <a:xfrm>
            <a:off x="1226635" y="1589565"/>
            <a:ext cx="9668106" cy="4577059"/>
          </a:xfrm>
          <a:prstGeom prst="rect">
            <a:avLst/>
          </a:prstGeom>
          <a:solidFill>
            <a:schemeClr val="tx1">
              <a:lumMod val="95000"/>
              <a:lumOff val="5000"/>
              <a:alpha val="6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pl-PL" sz="1400" b="1" dirty="0">
                <a:solidFill>
                  <a:srgbClr val="003766"/>
                </a:solidFill>
              </a:rPr>
              <a:t>Rak piersi nie jest jedną chorobą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Cztery podtypy molekularne = cztery odmienne strategie leczenia</a:t>
            </a:r>
            <a:endParaRPr lang="pl-PL" sz="1400" b="1" dirty="0">
              <a:solidFill>
                <a:srgbClr val="003766"/>
              </a:solidFill>
            </a:endParaRPr>
          </a:p>
          <a:p>
            <a:pPr marL="342900" indent="-342900">
              <a:buAutoNum type="arabicPeriod" startAt="2"/>
            </a:pPr>
            <a:r>
              <a:rPr lang="pl-PL" sz="1400" b="1" dirty="0">
                <a:solidFill>
                  <a:srgbClr val="003766"/>
                </a:solidFill>
              </a:rPr>
              <a:t>Agresywny podtyp Basal-like to nie „zły los genetyczny”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Jest to </a:t>
            </a:r>
            <a:r>
              <a:rPr lang="pl-PL" sz="1400" b="1" dirty="0">
                <a:solidFill>
                  <a:srgbClr val="003766"/>
                </a:solidFill>
              </a:rPr>
              <a:t>aktywnie regulowany fenotyp</a:t>
            </a:r>
            <a:r>
              <a:rPr lang="pl-PL" sz="1400" dirty="0">
                <a:solidFill>
                  <a:srgbClr val="003766"/>
                </a:solidFill>
              </a:rPr>
              <a:t>, napędzany przez supresję receptorów zależną od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     Analiza multiomiczna wyjaśnia mechanizm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mRNA wyjaśnia jedynie ~30% zmienności poziomu białek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Poziom białek odzwierciedla rzeczywistą funkcję biologiczną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miRNA stanowi kluczową, ukrytą warstwę regulacyjną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     Potencjał terapeutyczny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Modulacja sieci miRNA może przywracać sygnalizację hormonalną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Terapie anty-miRNA mogą zwiększyć wrażliwość agresywnych nowotworów na leczenie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5.      Kolejne kroki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Walidacja eksperymentalna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Niezależne kohorty pacjentów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Dalsze badania przedkliniczne i kliniczne</a:t>
            </a:r>
          </a:p>
          <a:p>
            <a:endParaRPr lang="pl-PL" sz="1400" b="1" dirty="0">
              <a:solidFill>
                <a:srgbClr val="003766"/>
              </a:solidFill>
            </a:endParaRPr>
          </a:p>
          <a:p>
            <a:pPr algn="ctr"/>
            <a:r>
              <a:rPr lang="pl-PL" b="1" dirty="0">
                <a:solidFill>
                  <a:srgbClr val="003766"/>
                </a:solidFill>
              </a:rPr>
              <a:t>Zidentyfikowaliśmy „zamek” — supresję FOXA1/ESR1 sterowaną przez </a:t>
            </a:r>
            <a:r>
              <a:rPr lang="pl-PL" b="1" dirty="0" err="1">
                <a:solidFill>
                  <a:srgbClr val="003766"/>
                </a:solidFill>
              </a:rPr>
              <a:t>miRNA</a:t>
            </a:r>
            <a:r>
              <a:rPr lang="pl-PL" b="1" dirty="0">
                <a:solidFill>
                  <a:srgbClr val="003766"/>
                </a:solidFill>
              </a:rPr>
              <a:t>.</a:t>
            </a:r>
            <a:br>
              <a:rPr lang="pl-PL" b="1" dirty="0">
                <a:solidFill>
                  <a:srgbClr val="003766"/>
                </a:solidFill>
              </a:rPr>
            </a:br>
            <a:r>
              <a:rPr lang="pl-PL" b="1" dirty="0">
                <a:solidFill>
                  <a:srgbClr val="003766"/>
                </a:solidFill>
              </a:rPr>
              <a:t>Kolejnym krokiem jest znalezienie „klucza” — ukierunkowanych terapii anty-</a:t>
            </a:r>
            <a:r>
              <a:rPr lang="pl-PL" b="1" dirty="0" err="1">
                <a:solidFill>
                  <a:srgbClr val="003766"/>
                </a:solidFill>
              </a:rPr>
              <a:t>miRNA</a:t>
            </a:r>
            <a:r>
              <a:rPr lang="pl-PL" b="1" dirty="0">
                <a:solidFill>
                  <a:srgbClr val="003766"/>
                </a:solidFill>
              </a:rPr>
              <a:t>.</a:t>
            </a:r>
            <a:br>
              <a:rPr lang="pl-PL" b="1" dirty="0">
                <a:solidFill>
                  <a:srgbClr val="003766"/>
                </a:solidFill>
              </a:rPr>
            </a:br>
            <a:r>
              <a:rPr lang="pl-PL" b="1" dirty="0">
                <a:solidFill>
                  <a:srgbClr val="003766"/>
                </a:solidFill>
              </a:rPr>
              <a:t>To podejście może zmienić sposób leczenia potrójnie ujemnego raka piersi.</a:t>
            </a:r>
            <a:endParaRPr lang="en-US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497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09E7-F45E-FF30-7DCC-14E80EAAF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4860CF3-1A85-0CA6-0F6F-A51F3D19F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614EC074-6C26-6FE6-4C67-4AD656149A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BE4B0262-4C24-A92E-BB2D-CF7B186F738F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05AA3A12-06A4-44E8-5E5D-25619774062C}"/>
              </a:ext>
            </a:extLst>
          </p:cNvPr>
          <p:cNvSpPr txBox="1"/>
          <p:nvPr/>
        </p:nvSpPr>
        <p:spPr>
          <a:xfrm>
            <a:off x="3294657" y="3083035"/>
            <a:ext cx="64531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lang="pl-PL" sz="3200" b="1" i="0" dirty="0">
                <a:solidFill>
                  <a:srgbClr val="003766"/>
                </a:solidFill>
                <a:effectLst/>
                <a:latin typeface="-apple-system"/>
              </a:rPr>
              <a:t>Co chcielibyście </a:t>
            </a:r>
            <a:r>
              <a:rPr lang="pl-PL" sz="3600" b="1" i="0" dirty="0">
                <a:solidFill>
                  <a:srgbClr val="003766"/>
                </a:solidFill>
                <a:effectLst/>
                <a:latin typeface="-apple-system"/>
              </a:rPr>
              <a:t>wiedzieć</a:t>
            </a:r>
            <a:r>
              <a:rPr lang="pl-PL" sz="3200" b="1" i="0" dirty="0">
                <a:solidFill>
                  <a:srgbClr val="003766"/>
                </a:solidFill>
                <a:effectLst/>
                <a:latin typeface="-apple-system"/>
              </a:rPr>
              <a:t>?</a:t>
            </a:r>
          </a:p>
        </p:txBody>
      </p:sp>
      <p:pic>
        <p:nvPicPr>
          <p:cNvPr id="1028" name="Picture 4" descr="Ikona pytanie | Wektor Premium">
            <a:extLst>
              <a:ext uri="{FF2B5EF4-FFF2-40B4-BE49-F238E27FC236}">
                <a16:creationId xmlns:a16="http://schemas.microsoft.com/office/drawing/2014/main" id="{BDD0D25E-FE98-C76F-5511-A943D568D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584" y="1767901"/>
            <a:ext cx="2309718" cy="2309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95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0D84D-2F8C-065B-2FAF-8110DB200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20D055-3DCD-4C4A-2DF1-C9C386D5A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9640DE05-B232-9176-14C7-7325307F0E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EA6A3163-72B5-6D97-54B0-C74ACF0477B5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75DE01DF-2490-4367-878A-FE59486DCEAD}"/>
              </a:ext>
            </a:extLst>
          </p:cNvPr>
          <p:cNvSpPr txBox="1"/>
          <p:nvPr/>
        </p:nvSpPr>
        <p:spPr>
          <a:xfrm>
            <a:off x="976574" y="2833128"/>
            <a:ext cx="1041082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1:  </a:t>
            </a:r>
            <a:r>
              <a:rPr lang="pl-PL" sz="2400" i="1" dirty="0">
                <a:solidFill>
                  <a:srgbClr val="003766"/>
                </a:solidFill>
              </a:rPr>
              <a:t>Czy leczenie ukierunkowane na anty-</a:t>
            </a:r>
            <a:r>
              <a:rPr lang="pl-PL" sz="2400" i="1" dirty="0" err="1">
                <a:solidFill>
                  <a:srgbClr val="003766"/>
                </a:solidFill>
              </a:rPr>
              <a:t>miRNA</a:t>
            </a:r>
            <a:r>
              <a:rPr lang="pl-PL" sz="2400" i="1" dirty="0">
                <a:solidFill>
                  <a:srgbClr val="003766"/>
                </a:solidFill>
              </a:rPr>
              <a:t> jest możliwe już teraz?</a:t>
            </a:r>
            <a:endParaRPr lang="pl-PL" sz="2400" dirty="0">
              <a:solidFill>
                <a:srgbClr val="003766"/>
              </a:solidFill>
            </a:endParaRP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 </a:t>
            </a:r>
            <a:r>
              <a:rPr lang="pl-PL" sz="2400" dirty="0">
                <a:solidFill>
                  <a:srgbClr val="003766"/>
                </a:solidFill>
              </a:rPr>
              <a:t>Nie. Konieczna jest walidacja eksperymentalna oraz potwierdzenie wyników w niezależnej kohorcie klinicznej. Jednak kierunek dalszych badań jest jasno wyznaczony i istnieje precedens kliniczny — </a:t>
            </a:r>
            <a:r>
              <a:rPr lang="pl-PL" sz="2400" b="1" dirty="0" err="1">
                <a:solidFill>
                  <a:srgbClr val="003766"/>
                </a:solidFill>
              </a:rPr>
              <a:t>mirawirsen</a:t>
            </a:r>
            <a:r>
              <a:rPr lang="pl-PL" sz="2400" b="1" dirty="0">
                <a:solidFill>
                  <a:srgbClr val="003766"/>
                </a:solidFill>
              </a:rPr>
              <a:t> w leczeniu zakażenia HCV</a:t>
            </a:r>
            <a:r>
              <a:rPr lang="pl-PL" sz="2400" dirty="0">
                <a:solidFill>
                  <a:srgbClr val="00376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3020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D9EA-62CF-CCDF-D32F-5575EFD8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3259B89-8924-5B22-FEF5-2FF033DD2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53165524-16CC-CBDF-664D-9D9F990CC7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3D1CD72-1B93-6D27-3D85-045D09BC9D69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65350CB4-3471-5B97-3CBA-E20E4480117C}"/>
              </a:ext>
            </a:extLst>
          </p:cNvPr>
          <p:cNvSpPr txBox="1"/>
          <p:nvPr/>
        </p:nvSpPr>
        <p:spPr>
          <a:xfrm>
            <a:off x="890587" y="2749817"/>
            <a:ext cx="1041082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2 </a:t>
            </a:r>
            <a:r>
              <a:rPr lang="pl-PL" sz="2400" i="1" dirty="0">
                <a:solidFill>
                  <a:srgbClr val="003766"/>
                </a:solidFill>
              </a:rPr>
              <a:t>: Ile czasu zajęłoby wprowadzenie takiego leczenia na rynek?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</a:t>
            </a:r>
            <a:r>
              <a:rPr lang="pl-PL" sz="2400" dirty="0">
                <a:solidFill>
                  <a:srgbClr val="003766"/>
                </a:solidFill>
              </a:rPr>
              <a:t>Około </a:t>
            </a:r>
            <a:r>
              <a:rPr lang="pl-PL" sz="2400" b="1" dirty="0">
                <a:solidFill>
                  <a:srgbClr val="003766"/>
                </a:solidFill>
              </a:rPr>
              <a:t>5–10 lat</a:t>
            </a:r>
            <a:r>
              <a:rPr lang="pl-PL" sz="2400" dirty="0">
                <a:solidFill>
                  <a:srgbClr val="003766"/>
                </a:solidFill>
              </a:rPr>
              <a:t>. Proces ten obejmuje kolejne fazy badań klinicznych wymagane przez agencje regulacyjne:</a:t>
            </a:r>
          </a:p>
          <a:p>
            <a:r>
              <a:rPr lang="pl-PL" sz="2400" b="1" dirty="0">
                <a:solidFill>
                  <a:srgbClr val="003766"/>
                </a:solidFill>
              </a:rPr>
              <a:t>faza I</a:t>
            </a:r>
            <a:r>
              <a:rPr lang="pl-PL" sz="2400" dirty="0">
                <a:solidFill>
                  <a:srgbClr val="003766"/>
                </a:solidFill>
              </a:rPr>
              <a:t> – ocena bezpieczeństwa,</a:t>
            </a:r>
          </a:p>
          <a:p>
            <a:r>
              <a:rPr lang="pl-PL" sz="2400" b="1" dirty="0">
                <a:solidFill>
                  <a:srgbClr val="003766"/>
                </a:solidFill>
              </a:rPr>
              <a:t>faza II</a:t>
            </a:r>
            <a:r>
              <a:rPr lang="pl-PL" sz="2400" dirty="0">
                <a:solidFill>
                  <a:srgbClr val="003766"/>
                </a:solidFill>
              </a:rPr>
              <a:t> – ocena skuteczności,</a:t>
            </a:r>
          </a:p>
          <a:p>
            <a:r>
              <a:rPr lang="pl-PL" sz="2400" b="1" dirty="0">
                <a:solidFill>
                  <a:srgbClr val="003766"/>
                </a:solidFill>
              </a:rPr>
              <a:t>faza III</a:t>
            </a:r>
            <a:r>
              <a:rPr lang="pl-PL" sz="2400" dirty="0">
                <a:solidFill>
                  <a:srgbClr val="003766"/>
                </a:solidFill>
              </a:rPr>
              <a:t> – porównanie z obowiązującym standardem leczenia.</a:t>
            </a:r>
          </a:p>
          <a:p>
            <a:r>
              <a:rPr lang="pl-PL" sz="2400" dirty="0">
                <a:solidFill>
                  <a:srgbClr val="003766"/>
                </a:solidFill>
              </a:rPr>
              <a:t>Każda z faz trwa zwykle </a:t>
            </a:r>
            <a:r>
              <a:rPr lang="pl-PL" sz="2400" b="1" dirty="0">
                <a:solidFill>
                  <a:srgbClr val="003766"/>
                </a:solidFill>
              </a:rPr>
              <a:t>1–3 lata</a:t>
            </a:r>
            <a:r>
              <a:rPr lang="pl-PL" sz="2400" dirty="0">
                <a:solidFill>
                  <a:srgbClr val="003766"/>
                </a:solidFill>
              </a:rPr>
              <a:t>, a dodatkowo konieczny jest czas na procedury rejestracyjne i uzyskanie zgody regulacyjnej.</a:t>
            </a:r>
          </a:p>
        </p:txBody>
      </p:sp>
    </p:spTree>
    <p:extLst>
      <p:ext uri="{BB962C8B-B14F-4D97-AF65-F5344CB8AC3E}">
        <p14:creationId xmlns:p14="http://schemas.microsoft.com/office/powerpoint/2010/main" val="356643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FE6-F5FA-0EA3-D437-915976D0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9F9494-3959-16CD-83C2-421627773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162E4D07-E4B0-91A0-CEC4-ED378F53B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3F1A951-EA46-AE64-6255-61A373755C5C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23D8E0E-1184-C670-E4AF-5161D06702E3}"/>
              </a:ext>
            </a:extLst>
          </p:cNvPr>
          <p:cNvSpPr txBox="1"/>
          <p:nvPr/>
        </p:nvSpPr>
        <p:spPr>
          <a:xfrm>
            <a:off x="890587" y="2687238"/>
            <a:ext cx="1041082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3: </a:t>
            </a:r>
            <a:r>
              <a:rPr lang="pl-PL" sz="2400" i="1" dirty="0">
                <a:solidFill>
                  <a:srgbClr val="003766"/>
                </a:solidFill>
              </a:rPr>
              <a:t>Czy te wyniki odnoszą się wyłącznie do danych TCGA, czy można                    je uogólnić na całą populację?</a:t>
            </a:r>
          </a:p>
          <a:p>
            <a:endParaRPr lang="pl-PL" sz="2400" b="1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</a:t>
            </a:r>
            <a:r>
              <a:rPr lang="pl-PL" sz="2400" dirty="0">
                <a:solidFill>
                  <a:srgbClr val="003766"/>
                </a:solidFill>
              </a:rPr>
              <a:t>TCGA stanowi przybliżenie populacji pacjentek leczonych                             w wysokospecjalistycznych ośrodkach referencyjnych w krajach zachodnich.               Dlatego planujemy walidację wyników w niezależnych zbiorach danych:               METABRIC (Europa) oraz ICGC-BRCA (kohorty globalne), aby ocenić,                                   czy obserwowany efekt jest powtarzalny i możliwy do uogólnienia.</a:t>
            </a:r>
          </a:p>
        </p:txBody>
      </p:sp>
    </p:spTree>
    <p:extLst>
      <p:ext uri="{BB962C8B-B14F-4D97-AF65-F5344CB8AC3E}">
        <p14:creationId xmlns:p14="http://schemas.microsoft.com/office/powerpoint/2010/main" val="210218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DC709-724E-80AD-5163-7C0F7C9C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E64979D-9F3D-7AA8-425B-65776733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9561D63C-4502-48C2-E9B9-811371DA03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07454C12-53C7-DA7B-8867-FE20441A20D0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259E14F0-E816-105A-36E4-6F7073655351}"/>
              </a:ext>
            </a:extLst>
          </p:cNvPr>
          <p:cNvSpPr txBox="1"/>
          <p:nvPr/>
        </p:nvSpPr>
        <p:spPr>
          <a:xfrm>
            <a:off x="1011168" y="2688347"/>
            <a:ext cx="1041082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4: </a:t>
            </a:r>
            <a:r>
              <a:rPr lang="pl-PL" sz="2400" i="1" dirty="0">
                <a:solidFill>
                  <a:srgbClr val="003766"/>
                </a:solidFill>
              </a:rPr>
              <a:t>Jak nasze wyniki wypadają na tle innych badań nad </a:t>
            </a:r>
            <a:r>
              <a:rPr lang="pl-PL" sz="2400" i="1" dirty="0" err="1">
                <a:solidFill>
                  <a:srgbClr val="003766"/>
                </a:solidFill>
              </a:rPr>
              <a:t>miRNA</a:t>
            </a:r>
            <a:r>
              <a:rPr lang="pl-PL" sz="2400" i="1" dirty="0">
                <a:solidFill>
                  <a:srgbClr val="003766"/>
                </a:solidFill>
              </a:rPr>
              <a:t> w raku piersi?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</a:t>
            </a:r>
            <a:r>
              <a:rPr lang="pl-PL" sz="2400" dirty="0">
                <a:solidFill>
                  <a:srgbClr val="003766"/>
                </a:solidFill>
              </a:rPr>
              <a:t>Nasza praca koncentruje się na </a:t>
            </a:r>
            <a:r>
              <a:rPr lang="pl-PL" sz="2400" b="1" dirty="0">
                <a:solidFill>
                  <a:srgbClr val="003766"/>
                </a:solidFill>
              </a:rPr>
              <a:t>regulacji </a:t>
            </a:r>
            <a:r>
              <a:rPr lang="pl-PL" sz="2400" b="1" dirty="0" err="1">
                <a:solidFill>
                  <a:srgbClr val="003766"/>
                </a:solidFill>
              </a:rPr>
              <a:t>posttranskrypcyjnej</a:t>
            </a:r>
            <a:r>
              <a:rPr lang="pl-PL" sz="2400" dirty="0">
                <a:solidFill>
                  <a:srgbClr val="003766"/>
                </a:solidFill>
              </a:rPr>
              <a:t>,                        co stanowi </a:t>
            </a:r>
            <a:r>
              <a:rPr lang="pl-PL" sz="2400" b="1" dirty="0">
                <a:solidFill>
                  <a:srgbClr val="003766"/>
                </a:solidFill>
              </a:rPr>
              <a:t>nową perspektywę</a:t>
            </a:r>
            <a:r>
              <a:rPr lang="pl-PL" sz="2400" dirty="0">
                <a:solidFill>
                  <a:srgbClr val="003766"/>
                </a:solidFill>
              </a:rPr>
              <a:t> w badaniach nad </a:t>
            </a:r>
            <a:r>
              <a:rPr lang="pl-PL" sz="2400" dirty="0" err="1">
                <a:solidFill>
                  <a:srgbClr val="003766"/>
                </a:solidFill>
              </a:rPr>
              <a:t>miRNA</a:t>
            </a:r>
            <a:r>
              <a:rPr lang="pl-PL" sz="2400" dirty="0">
                <a:solidFill>
                  <a:srgbClr val="003766"/>
                </a:solidFill>
              </a:rPr>
              <a:t> w raku piersi.                  Większość dotychczasowych analiz opiera się wyłącznie na danych mRNA, natomiast my pokazujemy, że </a:t>
            </a:r>
            <a:r>
              <a:rPr lang="pl-PL" sz="2400" b="1" dirty="0">
                <a:solidFill>
                  <a:srgbClr val="003766"/>
                </a:solidFill>
              </a:rPr>
              <a:t>zmiany na poziomie białek mogą być odmienne                i biologicznie kluczowe</a:t>
            </a:r>
            <a:r>
              <a:rPr lang="pl-PL" sz="2400" dirty="0">
                <a:solidFill>
                  <a:srgbClr val="00376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830901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2835</Words>
  <Application>Microsoft Office PowerPoint</Application>
  <PresentationFormat>Panoramiczny</PresentationFormat>
  <Paragraphs>316</Paragraphs>
  <Slides>14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20" baseType="lpstr">
      <vt:lpstr>-apple-system</vt:lpstr>
      <vt:lpstr>Aptos</vt:lpstr>
      <vt:lpstr>Arial</vt:lpstr>
      <vt:lpstr>Calibri</vt:lpstr>
      <vt:lpstr>Calibri Light</vt:lpstr>
      <vt:lpstr>Motyw pakietu Office</vt:lpstr>
      <vt:lpstr>Zintegrowana analiza multiomiczna podtypów raka piersi: rola sieci regulacyjnych sterowanych przez miRNA w przeżyciu pacjentów</vt:lpstr>
      <vt:lpstr>Cztery twarze raka piersi – Dlaczego leki działają dla jednych, a nie dla innych?</vt:lpstr>
      <vt:lpstr>Dlaczego musimy patrzeć poniżej transkryptomu?  (DNA → RNA ≠ RNA → Białko)</vt:lpstr>
      <vt:lpstr>Dlaczego musimy patrzeć poniżej transkryptomu?  (DNA → RNA ≠ RNA → Białko)</vt:lpstr>
      <vt:lpstr>miRNA - zależna supresja osi FOXA1/ESR1 w TNBC</vt:lpstr>
      <vt:lpstr>Luminal B – podtyp o agresywniejszym przebiegu klinicznym</vt:lpstr>
      <vt:lpstr>Stadium Wygrywa – Ale miRNA Dają Wskazówkę</vt:lpstr>
      <vt:lpstr>Podsumowanie: Odkrycie, Limity, Przyszłość</vt:lpstr>
      <vt:lpstr>Podsumowanie: Odkrycie, Limity, Przyszłość</vt:lpstr>
      <vt:lpstr>Pytania? Dyskusja</vt:lpstr>
      <vt:lpstr>Pytania? Dyskusja</vt:lpstr>
      <vt:lpstr>Pytania? Dyskusja</vt:lpstr>
      <vt:lpstr>Pytania? Dyskusja</vt:lpstr>
      <vt:lpstr>Pytania? Dyskusja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Izabela Reszka, s206742</dc:creator>
  <cp:lastModifiedBy>Klaudia Woźniak</cp:lastModifiedBy>
  <cp:revision>31</cp:revision>
  <dcterms:created xsi:type="dcterms:W3CDTF">2025-12-14T19:02:56Z</dcterms:created>
  <dcterms:modified xsi:type="dcterms:W3CDTF">2025-12-18T14:32:28Z</dcterms:modified>
</cp:coreProperties>
</file>